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8" r:id="rId3"/>
    <p:sldId id="296" r:id="rId4"/>
    <p:sldId id="259" r:id="rId5"/>
    <p:sldId id="288" r:id="rId6"/>
    <p:sldId id="290" r:id="rId7"/>
    <p:sldId id="275" r:id="rId8"/>
    <p:sldId id="263" r:id="rId9"/>
    <p:sldId id="277" r:id="rId10"/>
    <p:sldId id="284" r:id="rId11"/>
    <p:sldId id="279" r:id="rId12"/>
    <p:sldId id="280" r:id="rId13"/>
    <p:sldId id="281" r:id="rId14"/>
    <p:sldId id="265" r:id="rId15"/>
    <p:sldId id="266" r:id="rId16"/>
    <p:sldId id="301" r:id="rId17"/>
    <p:sldId id="270"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3" d="100"/>
          <a:sy n="93" d="100"/>
        </p:scale>
        <p:origin x="1162" y="6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3425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the project: 'This is our Cloud Computing mini project — a full-stack web application that uses React with TypeScript on the frontend and Firebase as the cloud backend. The app helps users manage their personal finances in real-time from anywhere using cloud services.'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problem briefly. Emphasize that all six problems are solved by this cloud-based application using Firebase. The key selling point: real-time sync, secure auth, and cloud storage solve all traditional personal finance tracking issues.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Point out that objectives 2, 3, and 7 are specifically about cloud services (Firebase). This shows the project is genuinely cloud-integrated, not just a web app.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quick demo-style overview. Say: 'Fintracker has 6 main modules. Each user gets a private cloud-stored account. Firebase ensures data is safe and accessible from anywhere.'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explain each technology. Key cloud focus: Firebase is what makes this truly cloud-based. Firestore stores data, Firebase Auth handles login, and Firebase Hosting deploys the app — all Google Cloud infrastructure.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module corresponds to a page in the React app. Authentication is handled entirely by Firebase. Transactions and budgets are stored in Firestore. The news module calls an external API. Voice input uses HuggingFace AI. Settings persist in Firebase.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cloud computing viva. Explain: 1) PaaS — Firebase is Google's platform, we write zero server code. 2) IAM — Security rules ensure only logged-in users see their own data. 3) Firestore is a globally distributed NoSQL DB. 4) Real-time sync is a true cloud streaming feature. 5) Serverless — no server management needed. 6) CDN hosting means the app loads fast globally.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traditional approach: normally you would need a Node.js/Django server, a MySQL database, a hosting provider, SSL certificates, and a deployment pipeline. Firebase gives all of this out of the box. Emphasize: no server to maintain, no DB to install, auto-scaling by Google.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project. Key takeaway for examiners: This project uses 4 Firebase cloud services — Authentication, Firestore, Hosting, and Security Rules. The app is fully serverless and cloud-hosted. We implemented real-time data streaming, cloud-based user management, and CDN deployment — all core cloud computing concepts.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7C5C35-9F9D-9ABB-207E-9C9617FC8B10}"/>
              </a:ext>
            </a:extLst>
          </p:cNvPr>
          <p:cNvSpPr>
            <a:spLocks noGrp="1"/>
          </p:cNvSpPr>
          <p:nvPr>
            <p:ph type="dt" sz="half" idx="10"/>
          </p:nvPr>
        </p:nvSpPr>
        <p:spPr/>
        <p:txBody>
          <a:bodyPr/>
          <a:lstStyle/>
          <a:p>
            <a:fld id="{8EBE5659-2513-4C29-801E-3903A4AA3399}" type="datetimeFigureOut">
              <a:rPr lang="en-IN" smtClean="0"/>
              <a:t>01-04-2026</a:t>
            </a:fld>
            <a:endParaRPr lang="en-IN"/>
          </a:p>
        </p:txBody>
      </p:sp>
      <p:sp>
        <p:nvSpPr>
          <p:cNvPr id="3" name="Footer Placeholder 2">
            <a:extLst>
              <a:ext uri="{FF2B5EF4-FFF2-40B4-BE49-F238E27FC236}">
                <a16:creationId xmlns:a16="http://schemas.microsoft.com/office/drawing/2014/main" id="{3D3E1FED-DDF2-8200-F33E-A4B345D7AB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8B5789-781C-B885-D679-B824BEC18C02}"/>
              </a:ext>
            </a:extLst>
          </p:cNvPr>
          <p:cNvSpPr>
            <a:spLocks noGrp="1"/>
          </p:cNvSpPr>
          <p:nvPr>
            <p:ph type="sldNum" sz="quarter" idx="12"/>
          </p:nvPr>
        </p:nvSpPr>
        <p:spPr/>
        <p:txBody>
          <a:bodyPr/>
          <a:lstStyle/>
          <a:p>
            <a:fld id="{E49A4E61-801D-4C73-8983-26CC865EAC31}" type="slidenum">
              <a:rPr lang="en-IN" smtClean="0"/>
              <a:t>‹#›</a:t>
            </a:fld>
            <a:endParaRPr lang="en-IN"/>
          </a:p>
        </p:txBody>
      </p:sp>
    </p:spTree>
    <p:extLst>
      <p:ext uri="{BB962C8B-B14F-4D97-AF65-F5344CB8AC3E}">
        <p14:creationId xmlns:p14="http://schemas.microsoft.com/office/powerpoint/2010/main" val="34048173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4.png"/><Relationship Id="rId10"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8.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8.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1E3A5F"/>
          </a:solidFill>
          <a:ln w="12700">
            <a:solidFill>
              <a:srgbClr val="1E3A5F"/>
            </a:solidFill>
            <a:prstDash val="solid"/>
          </a:ln>
        </p:spPr>
        <p:txBody>
          <a:bodyPr/>
          <a:lstStyle/>
          <a:p>
            <a:endParaRPr lang="en-IN"/>
          </a:p>
        </p:txBody>
      </p:sp>
      <p:sp>
        <p:nvSpPr>
          <p:cNvPr id="3" name="Shape 1"/>
          <p:cNvSpPr/>
          <p:nvPr/>
        </p:nvSpPr>
        <p:spPr>
          <a:xfrm>
            <a:off x="7132320" y="-640080"/>
            <a:ext cx="3017520" cy="3017520"/>
          </a:xfrm>
          <a:prstGeom prst="ellipse">
            <a:avLst/>
          </a:prstGeom>
          <a:solidFill>
            <a:srgbClr val="0F2744"/>
          </a:solidFill>
          <a:ln w="12700">
            <a:solidFill>
              <a:srgbClr val="0F2744"/>
            </a:solidFill>
            <a:prstDash val="solid"/>
          </a:ln>
        </p:spPr>
        <p:txBody>
          <a:bodyPr/>
          <a:lstStyle/>
          <a:p>
            <a:endParaRPr lang="en-IN"/>
          </a:p>
        </p:txBody>
      </p:sp>
      <p:sp>
        <p:nvSpPr>
          <p:cNvPr id="4" name="Shape 2"/>
          <p:cNvSpPr/>
          <p:nvPr/>
        </p:nvSpPr>
        <p:spPr>
          <a:xfrm>
            <a:off x="274320" y="4114800"/>
            <a:ext cx="1097280" cy="1097280"/>
          </a:xfrm>
          <a:prstGeom prst="ellipse">
            <a:avLst/>
          </a:prstGeom>
          <a:solidFill>
            <a:srgbClr val="1E3A5F"/>
          </a:solidFill>
          <a:ln w="12700">
            <a:solidFill>
              <a:srgbClr val="1E3A5F"/>
            </a:solidFill>
            <a:prstDash val="solid"/>
          </a:ln>
        </p:spPr>
        <p:txBody>
          <a:bodyPr/>
          <a:lstStyle/>
          <a:p>
            <a:endParaRPr lang="en-IN"/>
          </a:p>
        </p:txBody>
      </p:sp>
      <p:sp>
        <p:nvSpPr>
          <p:cNvPr id="5" name="Shape 3"/>
          <p:cNvSpPr/>
          <p:nvPr/>
        </p:nvSpPr>
        <p:spPr>
          <a:xfrm>
            <a:off x="-182880" y="3840480"/>
            <a:ext cx="548640" cy="548640"/>
          </a:xfrm>
          <a:prstGeom prst="ellipse">
            <a:avLst/>
          </a:prstGeom>
          <a:solidFill>
            <a:srgbClr val="1E3A5F"/>
          </a:solidFill>
          <a:ln w="12700">
            <a:solidFill>
              <a:srgbClr val="1E3A5F"/>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457200" y="365760"/>
            <a:ext cx="731520" cy="731520"/>
          </a:xfrm>
          <a:prstGeom prst="rect">
            <a:avLst/>
          </a:prstGeom>
        </p:spPr>
      </p:pic>
      <p:sp>
        <p:nvSpPr>
          <p:cNvPr id="7" name="Text 4"/>
          <p:cNvSpPr/>
          <p:nvPr/>
        </p:nvSpPr>
        <p:spPr>
          <a:xfrm>
            <a:off x="457200" y="1005840"/>
            <a:ext cx="82296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Cloud-Based Personal</a:t>
            </a:r>
            <a:endParaRPr lang="en-US" sz="3800" dirty="0"/>
          </a:p>
        </p:txBody>
      </p:sp>
      <p:sp>
        <p:nvSpPr>
          <p:cNvPr id="8" name="Text 5"/>
          <p:cNvSpPr/>
          <p:nvPr/>
        </p:nvSpPr>
        <p:spPr>
          <a:xfrm>
            <a:off x="457200" y="1691640"/>
            <a:ext cx="8229600" cy="731520"/>
          </a:xfrm>
          <a:prstGeom prst="rect">
            <a:avLst/>
          </a:prstGeom>
          <a:noFill/>
          <a:ln/>
        </p:spPr>
        <p:txBody>
          <a:bodyPr wrap="square" lIns="0" tIns="0" rIns="0" bIns="0" rtlCol="0" anchor="ctr"/>
          <a:lstStyle/>
          <a:p>
            <a:pPr marL="0" indent="0">
              <a:buNone/>
            </a:pPr>
            <a:r>
              <a:rPr lang="en-US" sz="3800" b="1" dirty="0">
                <a:solidFill>
                  <a:srgbClr val="60A5FA"/>
                </a:solidFill>
                <a:latin typeface="Calibri" pitchFamily="34" charset="0"/>
                <a:ea typeface="Calibri" pitchFamily="34" charset="-122"/>
                <a:cs typeface="Calibri" pitchFamily="34" charset="-120"/>
              </a:rPr>
              <a:t>Finance Management System</a:t>
            </a:r>
            <a:endParaRPr lang="en-US" sz="3800" dirty="0"/>
          </a:p>
        </p:txBody>
      </p:sp>
      <p:sp>
        <p:nvSpPr>
          <p:cNvPr id="9" name="Text 6"/>
          <p:cNvSpPr/>
          <p:nvPr/>
        </p:nvSpPr>
        <p:spPr>
          <a:xfrm>
            <a:off x="457200" y="2514600"/>
            <a:ext cx="8229600" cy="365760"/>
          </a:xfrm>
          <a:prstGeom prst="rect">
            <a:avLst/>
          </a:prstGeom>
          <a:noFill/>
          <a:ln/>
        </p:spPr>
        <p:txBody>
          <a:bodyPr wrap="square" lIns="0" tIns="0" rIns="0" bIns="0" rtlCol="0" anchor="ctr"/>
          <a:lstStyle/>
          <a:p>
            <a:pPr marL="0" indent="0">
              <a:buNone/>
            </a:pPr>
            <a:r>
              <a:rPr lang="en-US" sz="1500" i="1" dirty="0">
                <a:solidFill>
                  <a:srgbClr val="94A3B8"/>
                </a:solidFill>
                <a:latin typeface="Calibri" pitchFamily="34" charset="0"/>
                <a:ea typeface="Calibri" pitchFamily="34" charset="-122"/>
                <a:cs typeface="Calibri" pitchFamily="34" charset="-120"/>
              </a:rPr>
              <a:t>Powered by React + TypeScript + Firebase Cloud</a:t>
            </a:r>
            <a:endParaRPr lang="en-US" sz="1500" dirty="0"/>
          </a:p>
        </p:txBody>
      </p:sp>
      <p:sp>
        <p:nvSpPr>
          <p:cNvPr id="10" name="Shape 7"/>
          <p:cNvSpPr/>
          <p:nvPr/>
        </p:nvSpPr>
        <p:spPr>
          <a:xfrm>
            <a:off x="457200" y="2971800"/>
            <a:ext cx="2743200" cy="36576"/>
          </a:xfrm>
          <a:prstGeom prst="rect">
            <a:avLst/>
          </a:prstGeom>
          <a:solidFill>
            <a:srgbClr val="3B82F6"/>
          </a:solidFill>
          <a:ln w="12700">
            <a:solidFill>
              <a:srgbClr val="3B82F6"/>
            </a:solidFill>
            <a:prstDash val="solid"/>
          </a:ln>
        </p:spPr>
        <p:txBody>
          <a:bodyPr/>
          <a:lstStyle/>
          <a:p>
            <a:endParaRPr lang="en-IN"/>
          </a:p>
        </p:txBody>
      </p:sp>
      <p:sp>
        <p:nvSpPr>
          <p:cNvPr id="11" name="Shape 8"/>
          <p:cNvSpPr/>
          <p:nvPr/>
        </p:nvSpPr>
        <p:spPr>
          <a:xfrm>
            <a:off x="457200" y="3200400"/>
            <a:ext cx="2560320" cy="777240"/>
          </a:xfrm>
          <a:prstGeom prst="rect">
            <a:avLst/>
          </a:prstGeom>
          <a:solidFill>
            <a:srgbClr val="1E3A5F"/>
          </a:solidFill>
          <a:ln w="12700">
            <a:solidFill>
              <a:srgbClr val="3B82F6"/>
            </a:solidFill>
            <a:prstDash val="solid"/>
          </a:ln>
        </p:spPr>
        <p:txBody>
          <a:bodyPr/>
          <a:lstStyle/>
          <a:p>
            <a:endParaRPr lang="en-IN"/>
          </a:p>
        </p:txBody>
      </p:sp>
      <p:sp>
        <p:nvSpPr>
          <p:cNvPr id="12" name="Text 9"/>
          <p:cNvSpPr/>
          <p:nvPr/>
        </p:nvSpPr>
        <p:spPr>
          <a:xfrm>
            <a:off x="548640" y="3246120"/>
            <a:ext cx="2377440" cy="228600"/>
          </a:xfrm>
          <a:prstGeom prst="rect">
            <a:avLst/>
          </a:prstGeom>
          <a:noFill/>
          <a:ln/>
        </p:spPr>
        <p:txBody>
          <a:bodyPr wrap="square" lIns="0" tIns="0" rIns="0" bIns="0" rtlCol="0" anchor="ctr"/>
          <a:lstStyle/>
          <a:p>
            <a:pPr marL="0" indent="0">
              <a:buNone/>
            </a:pPr>
            <a:r>
              <a:rPr lang="en-US" sz="900" dirty="0">
                <a:solidFill>
                  <a:srgbClr val="60A5FA"/>
                </a:solidFill>
                <a:latin typeface="Calibri" pitchFamily="34" charset="0"/>
                <a:ea typeface="Calibri" pitchFamily="34" charset="-122"/>
                <a:cs typeface="Calibri" pitchFamily="34" charset="-120"/>
              </a:rPr>
              <a:t>Project Type</a:t>
            </a:r>
            <a:endParaRPr lang="en-US" sz="900" dirty="0"/>
          </a:p>
        </p:txBody>
      </p:sp>
      <p:sp>
        <p:nvSpPr>
          <p:cNvPr id="13" name="Text 10"/>
          <p:cNvSpPr/>
          <p:nvPr/>
        </p:nvSpPr>
        <p:spPr>
          <a:xfrm>
            <a:off x="548640" y="3474720"/>
            <a:ext cx="23774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Cloud Computing &amp; AI</a:t>
            </a:r>
            <a:endParaRPr lang="en-US" sz="1300" dirty="0"/>
          </a:p>
        </p:txBody>
      </p:sp>
      <p:sp>
        <p:nvSpPr>
          <p:cNvPr id="14" name="Shape 11"/>
          <p:cNvSpPr/>
          <p:nvPr/>
        </p:nvSpPr>
        <p:spPr>
          <a:xfrm>
            <a:off x="3291840" y="3200400"/>
            <a:ext cx="2560320" cy="777240"/>
          </a:xfrm>
          <a:prstGeom prst="rect">
            <a:avLst/>
          </a:prstGeom>
          <a:solidFill>
            <a:srgbClr val="1E3A5F"/>
          </a:solidFill>
          <a:ln w="12700">
            <a:solidFill>
              <a:srgbClr val="3B82F6"/>
            </a:solidFill>
            <a:prstDash val="solid"/>
          </a:ln>
        </p:spPr>
        <p:txBody>
          <a:bodyPr/>
          <a:lstStyle/>
          <a:p>
            <a:endParaRPr lang="en-IN"/>
          </a:p>
        </p:txBody>
      </p:sp>
      <p:sp>
        <p:nvSpPr>
          <p:cNvPr id="15" name="Text 12"/>
          <p:cNvSpPr/>
          <p:nvPr/>
        </p:nvSpPr>
        <p:spPr>
          <a:xfrm>
            <a:off x="3383280" y="3246120"/>
            <a:ext cx="2377440" cy="228600"/>
          </a:xfrm>
          <a:prstGeom prst="rect">
            <a:avLst/>
          </a:prstGeom>
          <a:noFill/>
          <a:ln/>
        </p:spPr>
        <p:txBody>
          <a:bodyPr wrap="square" lIns="0" tIns="0" rIns="0" bIns="0" rtlCol="0" anchor="ctr"/>
          <a:lstStyle/>
          <a:p>
            <a:pPr marL="0" indent="0">
              <a:buNone/>
            </a:pPr>
            <a:r>
              <a:rPr lang="en-US" sz="900" dirty="0">
                <a:solidFill>
                  <a:srgbClr val="60A5FA"/>
                </a:solidFill>
                <a:latin typeface="Calibri" pitchFamily="34" charset="0"/>
                <a:ea typeface="Calibri" pitchFamily="34" charset="-122"/>
                <a:cs typeface="Calibri" pitchFamily="34" charset="-120"/>
              </a:rPr>
              <a:t>Domain</a:t>
            </a:r>
            <a:endParaRPr lang="en-US" sz="900" dirty="0"/>
          </a:p>
        </p:txBody>
      </p:sp>
      <p:sp>
        <p:nvSpPr>
          <p:cNvPr id="16" name="Text 13"/>
          <p:cNvSpPr/>
          <p:nvPr/>
        </p:nvSpPr>
        <p:spPr>
          <a:xfrm>
            <a:off x="3383280" y="3474720"/>
            <a:ext cx="23774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FinTech / Cloud</a:t>
            </a:r>
            <a:endParaRPr lang="en-US" sz="1300" dirty="0"/>
          </a:p>
        </p:txBody>
      </p:sp>
      <p:sp>
        <p:nvSpPr>
          <p:cNvPr id="17" name="Shape 14"/>
          <p:cNvSpPr/>
          <p:nvPr/>
        </p:nvSpPr>
        <p:spPr>
          <a:xfrm>
            <a:off x="6126480" y="3200400"/>
            <a:ext cx="2560320" cy="777240"/>
          </a:xfrm>
          <a:prstGeom prst="rect">
            <a:avLst/>
          </a:prstGeom>
          <a:solidFill>
            <a:srgbClr val="1E3A5F"/>
          </a:solidFill>
          <a:ln w="12700">
            <a:solidFill>
              <a:srgbClr val="3B82F6"/>
            </a:solidFill>
            <a:prstDash val="solid"/>
          </a:ln>
        </p:spPr>
        <p:txBody>
          <a:bodyPr/>
          <a:lstStyle/>
          <a:p>
            <a:endParaRPr lang="en-IN"/>
          </a:p>
        </p:txBody>
      </p:sp>
      <p:sp>
        <p:nvSpPr>
          <p:cNvPr id="18" name="Text 15"/>
          <p:cNvSpPr/>
          <p:nvPr/>
        </p:nvSpPr>
        <p:spPr>
          <a:xfrm>
            <a:off x="6217920" y="3246120"/>
            <a:ext cx="2377440" cy="228600"/>
          </a:xfrm>
          <a:prstGeom prst="rect">
            <a:avLst/>
          </a:prstGeom>
          <a:noFill/>
          <a:ln/>
        </p:spPr>
        <p:txBody>
          <a:bodyPr wrap="square" lIns="0" tIns="0" rIns="0" bIns="0" rtlCol="0" anchor="ctr"/>
          <a:lstStyle/>
          <a:p>
            <a:pPr marL="0" indent="0">
              <a:buNone/>
            </a:pPr>
            <a:r>
              <a:rPr lang="en-US" sz="900" dirty="0">
                <a:solidFill>
                  <a:srgbClr val="60A5FA"/>
                </a:solidFill>
                <a:latin typeface="Calibri" pitchFamily="34" charset="0"/>
                <a:ea typeface="Calibri" pitchFamily="34" charset="-122"/>
                <a:cs typeface="Calibri" pitchFamily="34" charset="-120"/>
              </a:rPr>
              <a:t>Backend</a:t>
            </a:r>
            <a:endParaRPr lang="en-US" sz="900" dirty="0"/>
          </a:p>
        </p:txBody>
      </p:sp>
      <p:sp>
        <p:nvSpPr>
          <p:cNvPr id="19" name="Text 16"/>
          <p:cNvSpPr/>
          <p:nvPr/>
        </p:nvSpPr>
        <p:spPr>
          <a:xfrm>
            <a:off x="6217920" y="3474720"/>
            <a:ext cx="23774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Firebase</a:t>
            </a:r>
            <a:endParaRPr lang="en-US" sz="1300" dirty="0"/>
          </a:p>
        </p:txBody>
      </p:sp>
      <p:pic>
        <p:nvPicPr>
          <p:cNvPr id="20" name="Image 1" descr="preencoded.png"/>
          <p:cNvPicPr>
            <a:picLocks noChangeAspect="1"/>
          </p:cNvPicPr>
          <p:nvPr/>
        </p:nvPicPr>
        <p:blipFill>
          <a:blip r:embed="rId4"/>
          <a:stretch>
            <a:fillRect/>
          </a:stretch>
        </p:blipFill>
        <p:spPr>
          <a:xfrm>
            <a:off x="1005840" y="4160520"/>
            <a:ext cx="411480" cy="411480"/>
          </a:xfrm>
          <a:prstGeom prst="rect">
            <a:avLst/>
          </a:prstGeom>
        </p:spPr>
      </p:pic>
      <p:sp>
        <p:nvSpPr>
          <p:cNvPr id="21" name="Text 17"/>
          <p:cNvSpPr/>
          <p:nvPr/>
        </p:nvSpPr>
        <p:spPr>
          <a:xfrm>
            <a:off x="822960" y="4572000"/>
            <a:ext cx="1280160" cy="1828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React TS</a:t>
            </a:r>
            <a:endParaRPr lang="en-US" sz="900" dirty="0"/>
          </a:p>
        </p:txBody>
      </p:sp>
      <p:pic>
        <p:nvPicPr>
          <p:cNvPr id="22" name="Image 2" descr="preencoded.png"/>
          <p:cNvPicPr>
            <a:picLocks noChangeAspect="1"/>
          </p:cNvPicPr>
          <p:nvPr/>
        </p:nvPicPr>
        <p:blipFill>
          <a:blip r:embed="rId5"/>
          <a:stretch>
            <a:fillRect/>
          </a:stretch>
        </p:blipFill>
        <p:spPr>
          <a:xfrm>
            <a:off x="3017520" y="4160520"/>
            <a:ext cx="411480" cy="411480"/>
          </a:xfrm>
          <a:prstGeom prst="rect">
            <a:avLst/>
          </a:prstGeom>
        </p:spPr>
      </p:pic>
      <p:sp>
        <p:nvSpPr>
          <p:cNvPr id="23" name="Text 18"/>
          <p:cNvSpPr/>
          <p:nvPr/>
        </p:nvSpPr>
        <p:spPr>
          <a:xfrm>
            <a:off x="2834640" y="4572000"/>
            <a:ext cx="1280160" cy="1828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Firebase</a:t>
            </a:r>
            <a:endParaRPr lang="en-US" sz="900" dirty="0"/>
          </a:p>
        </p:txBody>
      </p:sp>
      <p:pic>
        <p:nvPicPr>
          <p:cNvPr id="24" name="Image 3" descr="preencoded.png"/>
          <p:cNvPicPr>
            <a:picLocks noChangeAspect="1"/>
          </p:cNvPicPr>
          <p:nvPr/>
        </p:nvPicPr>
        <p:blipFill>
          <a:blip r:embed="rId6"/>
          <a:stretch>
            <a:fillRect/>
          </a:stretch>
        </p:blipFill>
        <p:spPr>
          <a:xfrm>
            <a:off x="5029200" y="4160520"/>
            <a:ext cx="411480" cy="411480"/>
          </a:xfrm>
          <a:prstGeom prst="rect">
            <a:avLst/>
          </a:prstGeom>
        </p:spPr>
      </p:pic>
      <p:sp>
        <p:nvSpPr>
          <p:cNvPr id="25" name="Text 19"/>
          <p:cNvSpPr/>
          <p:nvPr/>
        </p:nvSpPr>
        <p:spPr>
          <a:xfrm>
            <a:off x="4846320" y="4572000"/>
            <a:ext cx="1280160" cy="1828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Chart.js</a:t>
            </a:r>
            <a:endParaRPr lang="en-US" sz="900" dirty="0"/>
          </a:p>
        </p:txBody>
      </p:sp>
      <p:pic>
        <p:nvPicPr>
          <p:cNvPr id="26" name="Image 4" descr="preencoded.png"/>
          <p:cNvPicPr>
            <a:picLocks noChangeAspect="1"/>
          </p:cNvPicPr>
          <p:nvPr/>
        </p:nvPicPr>
        <p:blipFill>
          <a:blip r:embed="rId7"/>
          <a:stretch>
            <a:fillRect/>
          </a:stretch>
        </p:blipFill>
        <p:spPr>
          <a:xfrm>
            <a:off x="7040880" y="4160520"/>
            <a:ext cx="411480" cy="411480"/>
          </a:xfrm>
          <a:prstGeom prst="rect">
            <a:avLst/>
          </a:prstGeom>
        </p:spPr>
      </p:pic>
      <p:sp>
        <p:nvSpPr>
          <p:cNvPr id="27" name="Text 20"/>
          <p:cNvSpPr/>
          <p:nvPr/>
        </p:nvSpPr>
        <p:spPr>
          <a:xfrm>
            <a:off x="6858000" y="4572000"/>
            <a:ext cx="1280160" cy="1828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Auth</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txBody>
          <a:bodyPr/>
          <a:lstStyle/>
          <a:p>
            <a:endParaRPr lang="en-IN"/>
          </a:p>
        </p:txBody>
      </p:sp>
      <p:sp>
        <p:nvSpPr>
          <p:cNvPr id="3" name="Text 1"/>
          <p:cNvSpPr/>
          <p:nvPr/>
        </p:nvSpPr>
        <p:spPr>
          <a:xfrm>
            <a:off x="457200" y="109728"/>
            <a:ext cx="7772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Problem Statement</a:t>
            </a:r>
            <a:endParaRPr lang="en-US" sz="2400" dirty="0"/>
          </a:p>
        </p:txBody>
      </p:sp>
      <p:sp>
        <p:nvSpPr>
          <p:cNvPr id="4" name="Text 2"/>
          <p:cNvSpPr/>
          <p:nvPr/>
        </p:nvSpPr>
        <p:spPr>
          <a:xfrm>
            <a:off x="457200" y="640080"/>
            <a:ext cx="7772400" cy="228600"/>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Why do we need a cloud-based finance solution?</a:t>
            </a:r>
            <a:endParaRPr lang="en-US" sz="1100" dirty="0"/>
          </a:p>
        </p:txBody>
      </p:sp>
      <p:sp>
        <p:nvSpPr>
          <p:cNvPr id="5" name="Shape 3"/>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IN"/>
          </a:p>
        </p:txBody>
      </p:sp>
      <p:sp>
        <p:nvSpPr>
          <p:cNvPr id="6" name="Text 4"/>
          <p:cNvSpPr/>
          <p:nvPr/>
        </p:nvSpPr>
        <p:spPr>
          <a:xfrm>
            <a:off x="274320" y="4896612"/>
            <a:ext cx="8595360" cy="182880"/>
          </a:xfrm>
          <a:prstGeom prst="rect">
            <a:avLst/>
          </a:prstGeom>
          <a:noFill/>
          <a:ln/>
        </p:spPr>
        <p:txBody>
          <a:bodyPr wrap="square" lIns="0" tIns="0" rIns="0" bIns="0" rtlCol="0" anchor="ctr"/>
          <a:lstStyle/>
          <a:p>
            <a:pPr marL="0" indent="0">
              <a:buNone/>
            </a:pPr>
            <a:r>
              <a:rPr lang="en-US" sz="800" dirty="0">
                <a:solidFill>
                  <a:srgbClr val="94A3B8"/>
                </a:solidFill>
              </a:rPr>
              <a:t>Fintracker — Cloud-Based Personal Finance Management System  |  Cloud Computing &amp; AI Services</a:t>
            </a:r>
            <a:endParaRPr lang="en-US" sz="800" dirty="0"/>
          </a:p>
        </p:txBody>
      </p:sp>
      <p:sp>
        <p:nvSpPr>
          <p:cNvPr id="7" name="Shape 5"/>
          <p:cNvSpPr/>
          <p:nvPr/>
        </p:nvSpPr>
        <p:spPr>
          <a:xfrm>
            <a:off x="320040" y="1097280"/>
            <a:ext cx="274320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8" name="Shape 6"/>
          <p:cNvSpPr/>
          <p:nvPr/>
        </p:nvSpPr>
        <p:spPr>
          <a:xfrm>
            <a:off x="429768" y="1207008"/>
            <a:ext cx="475488" cy="475488"/>
          </a:xfrm>
          <a:prstGeom prst="ellipse">
            <a:avLst/>
          </a:prstGeom>
          <a:solidFill>
            <a:srgbClr val="0A1628"/>
          </a:solidFill>
          <a:ln w="12700">
            <a:solidFill>
              <a:srgbClr val="0A1628"/>
            </a:solidFill>
            <a:prstDash val="solid"/>
          </a:ln>
        </p:spPr>
        <p:txBody>
          <a:bodyPr/>
          <a:lstStyle/>
          <a:p>
            <a:endParaRPr lang="en-IN"/>
          </a:p>
        </p:txBody>
      </p:sp>
      <p:pic>
        <p:nvPicPr>
          <p:cNvPr id="9" name="Image 0" descr="preencoded.png"/>
          <p:cNvPicPr>
            <a:picLocks noChangeAspect="1"/>
          </p:cNvPicPr>
          <p:nvPr/>
        </p:nvPicPr>
        <p:blipFill>
          <a:blip r:embed="rId3"/>
          <a:stretch>
            <a:fillRect/>
          </a:stretch>
        </p:blipFill>
        <p:spPr>
          <a:xfrm>
            <a:off x="475488" y="1234440"/>
            <a:ext cx="384048" cy="384048"/>
          </a:xfrm>
          <a:prstGeom prst="rect">
            <a:avLst/>
          </a:prstGeom>
        </p:spPr>
      </p:pic>
      <p:sp>
        <p:nvSpPr>
          <p:cNvPr id="10" name="Text 7"/>
          <p:cNvSpPr/>
          <p:nvPr/>
        </p:nvSpPr>
        <p:spPr>
          <a:xfrm>
            <a:off x="978408" y="1207008"/>
            <a:ext cx="1965960" cy="41148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Manual Tracking is Inefficient</a:t>
            </a:r>
            <a:endParaRPr lang="en-US" sz="1100" dirty="0"/>
          </a:p>
        </p:txBody>
      </p:sp>
      <p:sp>
        <p:nvSpPr>
          <p:cNvPr id="11" name="Text 8"/>
          <p:cNvSpPr/>
          <p:nvPr/>
        </p:nvSpPr>
        <p:spPr>
          <a:xfrm>
            <a:off x="429768" y="1719072"/>
            <a:ext cx="2514600"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Spreadsheets and paper records are error-prone and time-consuming to maintain.</a:t>
            </a:r>
            <a:endParaRPr lang="en-US" sz="1000" dirty="0"/>
          </a:p>
        </p:txBody>
      </p:sp>
      <p:sp>
        <p:nvSpPr>
          <p:cNvPr id="12" name="Shape 9"/>
          <p:cNvSpPr/>
          <p:nvPr/>
        </p:nvSpPr>
        <p:spPr>
          <a:xfrm>
            <a:off x="3246120" y="1097280"/>
            <a:ext cx="274320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13" name="Shape 10"/>
          <p:cNvSpPr/>
          <p:nvPr/>
        </p:nvSpPr>
        <p:spPr>
          <a:xfrm>
            <a:off x="3355848" y="1207008"/>
            <a:ext cx="475488" cy="475488"/>
          </a:xfrm>
          <a:prstGeom prst="ellipse">
            <a:avLst/>
          </a:prstGeom>
          <a:solidFill>
            <a:srgbClr val="0A1628"/>
          </a:solidFill>
          <a:ln w="12700">
            <a:solidFill>
              <a:srgbClr val="0A1628"/>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3401568" y="1234440"/>
            <a:ext cx="384048" cy="384048"/>
          </a:xfrm>
          <a:prstGeom prst="rect">
            <a:avLst/>
          </a:prstGeom>
        </p:spPr>
      </p:pic>
      <p:sp>
        <p:nvSpPr>
          <p:cNvPr id="15" name="Text 11"/>
          <p:cNvSpPr/>
          <p:nvPr/>
        </p:nvSpPr>
        <p:spPr>
          <a:xfrm>
            <a:off x="3904488" y="1207008"/>
            <a:ext cx="1965960" cy="41148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No Real-Time Accessibility</a:t>
            </a:r>
            <a:endParaRPr lang="en-US" sz="1100" dirty="0"/>
          </a:p>
        </p:txBody>
      </p:sp>
      <p:sp>
        <p:nvSpPr>
          <p:cNvPr id="16" name="Text 12"/>
          <p:cNvSpPr/>
          <p:nvPr/>
        </p:nvSpPr>
        <p:spPr>
          <a:xfrm>
            <a:off x="3355848" y="1719072"/>
            <a:ext cx="2514600"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Traditional apps don't sync across devices; data is trapped on one machine.</a:t>
            </a:r>
            <a:endParaRPr lang="en-US" sz="1000" dirty="0"/>
          </a:p>
        </p:txBody>
      </p:sp>
      <p:sp>
        <p:nvSpPr>
          <p:cNvPr id="17" name="Shape 13"/>
          <p:cNvSpPr/>
          <p:nvPr/>
        </p:nvSpPr>
        <p:spPr>
          <a:xfrm>
            <a:off x="6172200" y="1097280"/>
            <a:ext cx="274320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4"/>
          <p:cNvSpPr/>
          <p:nvPr/>
        </p:nvSpPr>
        <p:spPr>
          <a:xfrm>
            <a:off x="6281928" y="1207008"/>
            <a:ext cx="475488" cy="475488"/>
          </a:xfrm>
          <a:prstGeom prst="ellipse">
            <a:avLst/>
          </a:prstGeom>
          <a:solidFill>
            <a:srgbClr val="0A1628"/>
          </a:solidFill>
          <a:ln w="12700">
            <a:solidFill>
              <a:srgbClr val="0A1628"/>
            </a:solidFill>
            <a:prstDash val="solid"/>
          </a:ln>
        </p:spPr>
        <p:txBody>
          <a:bodyPr/>
          <a:lstStyle/>
          <a:p>
            <a:endParaRPr lang="en-IN"/>
          </a:p>
        </p:txBody>
      </p:sp>
      <p:pic>
        <p:nvPicPr>
          <p:cNvPr id="19" name="Image 2" descr="preencoded.png"/>
          <p:cNvPicPr>
            <a:picLocks noChangeAspect="1"/>
          </p:cNvPicPr>
          <p:nvPr/>
        </p:nvPicPr>
        <p:blipFill>
          <a:blip r:embed="rId5"/>
          <a:stretch>
            <a:fillRect/>
          </a:stretch>
        </p:blipFill>
        <p:spPr>
          <a:xfrm>
            <a:off x="6327648" y="1234440"/>
            <a:ext cx="384048" cy="384048"/>
          </a:xfrm>
          <a:prstGeom prst="rect">
            <a:avLst/>
          </a:prstGeom>
        </p:spPr>
      </p:pic>
      <p:sp>
        <p:nvSpPr>
          <p:cNvPr id="20" name="Text 15"/>
          <p:cNvSpPr/>
          <p:nvPr/>
        </p:nvSpPr>
        <p:spPr>
          <a:xfrm>
            <a:off x="6830568" y="1207008"/>
            <a:ext cx="1965960" cy="41148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No Centralized Data Storage</a:t>
            </a:r>
            <a:endParaRPr lang="en-US" sz="1100" dirty="0"/>
          </a:p>
        </p:txBody>
      </p:sp>
      <p:sp>
        <p:nvSpPr>
          <p:cNvPr id="21" name="Text 16"/>
          <p:cNvSpPr/>
          <p:nvPr/>
        </p:nvSpPr>
        <p:spPr>
          <a:xfrm>
            <a:off x="6281928" y="1719072"/>
            <a:ext cx="2514600"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Financial records scattered across multiple apps with no unified view.</a:t>
            </a:r>
            <a:endParaRPr lang="en-US" sz="1000" dirty="0"/>
          </a:p>
        </p:txBody>
      </p:sp>
      <p:sp>
        <p:nvSpPr>
          <p:cNvPr id="22" name="Shape 17"/>
          <p:cNvSpPr/>
          <p:nvPr/>
        </p:nvSpPr>
        <p:spPr>
          <a:xfrm>
            <a:off x="320040" y="3017520"/>
            <a:ext cx="274320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23" name="Shape 18"/>
          <p:cNvSpPr/>
          <p:nvPr/>
        </p:nvSpPr>
        <p:spPr>
          <a:xfrm>
            <a:off x="429768" y="3127248"/>
            <a:ext cx="475488" cy="475488"/>
          </a:xfrm>
          <a:prstGeom prst="ellipse">
            <a:avLst/>
          </a:prstGeom>
          <a:solidFill>
            <a:srgbClr val="0A1628"/>
          </a:solidFill>
          <a:ln w="12700">
            <a:solidFill>
              <a:srgbClr val="0A1628"/>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475488" y="3154680"/>
            <a:ext cx="384048" cy="384048"/>
          </a:xfrm>
          <a:prstGeom prst="rect">
            <a:avLst/>
          </a:prstGeom>
        </p:spPr>
      </p:pic>
      <p:sp>
        <p:nvSpPr>
          <p:cNvPr id="25" name="Text 19"/>
          <p:cNvSpPr/>
          <p:nvPr/>
        </p:nvSpPr>
        <p:spPr>
          <a:xfrm>
            <a:off x="978408" y="3127248"/>
            <a:ext cx="1965960" cy="41148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Security &amp; Privacy Concerns</a:t>
            </a:r>
            <a:endParaRPr lang="en-US" sz="1100" dirty="0"/>
          </a:p>
        </p:txBody>
      </p:sp>
      <p:sp>
        <p:nvSpPr>
          <p:cNvPr id="26" name="Text 20"/>
          <p:cNvSpPr/>
          <p:nvPr/>
        </p:nvSpPr>
        <p:spPr>
          <a:xfrm>
            <a:off x="429768" y="3639312"/>
            <a:ext cx="2514600"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Local storage lacks proper authentication and access control mechanisms.</a:t>
            </a:r>
            <a:endParaRPr lang="en-US" sz="1000" dirty="0"/>
          </a:p>
        </p:txBody>
      </p:sp>
      <p:sp>
        <p:nvSpPr>
          <p:cNvPr id="27" name="Shape 21"/>
          <p:cNvSpPr/>
          <p:nvPr/>
        </p:nvSpPr>
        <p:spPr>
          <a:xfrm>
            <a:off x="3246120" y="3017520"/>
            <a:ext cx="274320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28" name="Shape 22"/>
          <p:cNvSpPr/>
          <p:nvPr/>
        </p:nvSpPr>
        <p:spPr>
          <a:xfrm>
            <a:off x="3355848" y="3127248"/>
            <a:ext cx="475488" cy="475488"/>
          </a:xfrm>
          <a:prstGeom prst="ellipse">
            <a:avLst/>
          </a:prstGeom>
          <a:solidFill>
            <a:srgbClr val="0A1628"/>
          </a:solidFill>
          <a:ln w="12700">
            <a:solidFill>
              <a:srgbClr val="0A1628"/>
            </a:solidFill>
            <a:prstDash val="solid"/>
          </a:ln>
        </p:spPr>
        <p:txBody>
          <a:bodyPr/>
          <a:lstStyle/>
          <a:p>
            <a:endParaRPr lang="en-IN"/>
          </a:p>
        </p:txBody>
      </p:sp>
      <p:pic>
        <p:nvPicPr>
          <p:cNvPr id="29" name="Image 4" descr="preencoded.png"/>
          <p:cNvPicPr>
            <a:picLocks noChangeAspect="1"/>
          </p:cNvPicPr>
          <p:nvPr/>
        </p:nvPicPr>
        <p:blipFill>
          <a:blip r:embed="rId7"/>
          <a:stretch>
            <a:fillRect/>
          </a:stretch>
        </p:blipFill>
        <p:spPr>
          <a:xfrm>
            <a:off x="3401568" y="3154680"/>
            <a:ext cx="384048" cy="384048"/>
          </a:xfrm>
          <a:prstGeom prst="rect">
            <a:avLst/>
          </a:prstGeom>
        </p:spPr>
      </p:pic>
      <p:sp>
        <p:nvSpPr>
          <p:cNvPr id="30" name="Text 23"/>
          <p:cNvSpPr/>
          <p:nvPr/>
        </p:nvSpPr>
        <p:spPr>
          <a:xfrm>
            <a:off x="3904488" y="3127248"/>
            <a:ext cx="1965960" cy="41148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Lack of Visual Insights</a:t>
            </a:r>
            <a:endParaRPr lang="en-US" sz="1100" dirty="0"/>
          </a:p>
        </p:txBody>
      </p:sp>
      <p:sp>
        <p:nvSpPr>
          <p:cNvPr id="31" name="Text 24"/>
          <p:cNvSpPr/>
          <p:nvPr/>
        </p:nvSpPr>
        <p:spPr>
          <a:xfrm>
            <a:off x="3355848" y="3639312"/>
            <a:ext cx="2514600"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Users struggle to understand their spending patterns without charts/dashboards.</a:t>
            </a:r>
            <a:endParaRPr lang="en-US" sz="1000" dirty="0"/>
          </a:p>
        </p:txBody>
      </p:sp>
      <p:sp>
        <p:nvSpPr>
          <p:cNvPr id="32" name="Shape 25"/>
          <p:cNvSpPr/>
          <p:nvPr/>
        </p:nvSpPr>
        <p:spPr>
          <a:xfrm>
            <a:off x="6172200" y="3017520"/>
            <a:ext cx="274320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33" name="Shape 26"/>
          <p:cNvSpPr/>
          <p:nvPr/>
        </p:nvSpPr>
        <p:spPr>
          <a:xfrm>
            <a:off x="6281928" y="3127248"/>
            <a:ext cx="475488" cy="475488"/>
          </a:xfrm>
          <a:prstGeom prst="ellipse">
            <a:avLst/>
          </a:prstGeom>
          <a:solidFill>
            <a:srgbClr val="0A1628"/>
          </a:solidFill>
          <a:ln w="12700">
            <a:solidFill>
              <a:srgbClr val="0A1628"/>
            </a:solidFill>
            <a:prstDash val="solid"/>
          </a:ln>
        </p:spPr>
        <p:txBody>
          <a:bodyPr/>
          <a:lstStyle/>
          <a:p>
            <a:endParaRPr lang="en-IN"/>
          </a:p>
        </p:txBody>
      </p:sp>
      <p:pic>
        <p:nvPicPr>
          <p:cNvPr id="34" name="Image 5" descr="preencoded.png"/>
          <p:cNvPicPr>
            <a:picLocks noChangeAspect="1"/>
          </p:cNvPicPr>
          <p:nvPr/>
        </p:nvPicPr>
        <p:blipFill>
          <a:blip r:embed="rId8"/>
          <a:stretch>
            <a:fillRect/>
          </a:stretch>
        </p:blipFill>
        <p:spPr>
          <a:xfrm>
            <a:off x="6327648" y="3154680"/>
            <a:ext cx="384048" cy="384048"/>
          </a:xfrm>
          <a:prstGeom prst="rect">
            <a:avLst/>
          </a:prstGeom>
        </p:spPr>
      </p:pic>
      <p:sp>
        <p:nvSpPr>
          <p:cNvPr id="35" name="Text 27"/>
          <p:cNvSpPr/>
          <p:nvPr/>
        </p:nvSpPr>
        <p:spPr>
          <a:xfrm>
            <a:off x="6830568" y="3127248"/>
            <a:ext cx="1965960" cy="41148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No Budget Alert System</a:t>
            </a:r>
            <a:endParaRPr lang="en-US" sz="1100" dirty="0"/>
          </a:p>
        </p:txBody>
      </p:sp>
      <p:sp>
        <p:nvSpPr>
          <p:cNvPr id="36" name="Text 28"/>
          <p:cNvSpPr/>
          <p:nvPr/>
        </p:nvSpPr>
        <p:spPr>
          <a:xfrm>
            <a:off x="6281928" y="3639312"/>
            <a:ext cx="2514600"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No automated notifications when spending approaches budget limits.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sp>
        <p:nvSpPr>
          <p:cNvPr id="10" name="Header"/>
          <p:cNvSpPr>
            <a:spLocks noGrp="1"/>
          </p:cNvSpPr>
          <p:nvPr/>
        </p:nvSpPr>
        <p:spPr>
          <a:xfrm>
            <a:off x="0" y="0"/>
            <a:ext cx="9144000" cy="863600"/>
          </a:xfrm>
          <a:prstGeom prst="rect">
            <a:avLst/>
          </a:prstGeom>
          <a:solidFill>
            <a:srgbClr val="1A2F4A"/>
          </a:solidFill>
          <a:ln>
            <a:noFill/>
          </a:ln>
        </p:spPr>
        <p:txBody>
          <a:bodyPr wrap="square" rtlCol="0" anchor="ctr"/>
          <a:lstStyle/>
          <a:p>
            <a:endParaRPr lang="en-US" dirty="0"/>
          </a:p>
        </p:txBody>
      </p:sp>
      <p:sp>
        <p:nvSpPr>
          <p:cNvPr id="11" name="AccentLine"/>
          <p:cNvSpPr>
            <a:spLocks noGrp="1"/>
          </p:cNvSpPr>
          <p:nvPr/>
        </p:nvSpPr>
        <p:spPr>
          <a:xfrm>
            <a:off x="0" y="863600"/>
            <a:ext cx="9144000" cy="50800"/>
          </a:xfrm>
          <a:prstGeom prst="rect">
            <a:avLst/>
          </a:prstGeom>
          <a:solidFill>
            <a:srgbClr val="00B4D8"/>
          </a:solidFill>
          <a:ln>
            <a:noFill/>
          </a:ln>
        </p:spPr>
        <p:txBody>
          <a:bodyPr wrap="square" rtlCol="0" anchor="ctr"/>
          <a:lstStyle/>
          <a:p>
            <a:endParaRPr lang="en-US" dirty="0"/>
          </a:p>
        </p:txBody>
      </p:sp>
      <p:sp>
        <p:nvSpPr>
          <p:cNvPr id="12" name="Title"/>
          <p:cNvSpPr>
            <a:spLocks noGrp="1"/>
          </p:cNvSpPr>
          <p:nvPr/>
        </p:nvSpPr>
        <p:spPr>
          <a:xfrm>
            <a:off x="457200" y="101600"/>
            <a:ext cx="8229600" cy="685800"/>
          </a:xfrm>
          <a:prstGeom prst="rect">
            <a:avLst/>
          </a:prstGeom>
          <a:noFill/>
          <a:ln>
            <a:noFill/>
          </a:ln>
        </p:spPr>
        <p:txBody>
          <a:bodyPr wrap="square" rtlCol="0" anchor="ctr"/>
          <a:lstStyle/>
          <a:p>
            <a:pPr marL="0" indent="0" algn="l">
              <a:buNone/>
            </a:pPr>
            <a:r>
              <a:rPr lang="en-US" sz="3200" b="1" i="0" dirty="0">
                <a:solidFill>
                  <a:srgbClr val="FFFFFF"/>
                </a:solidFill>
                <a:latin typeface="Calibri" pitchFamily="34" charset="0"/>
              </a:rPr>
              <a:t>Meet the Team</a:t>
            </a:r>
          </a:p>
        </p:txBody>
      </p:sp>
      <p:sp>
        <p:nvSpPr>
          <p:cNvPr id="20" name="CardBg0"/>
          <p:cNvSpPr>
            <a:spLocks noGrp="1"/>
          </p:cNvSpPr>
          <p:nvPr/>
        </p:nvSpPr>
        <p:spPr>
          <a:xfrm>
            <a:off x="342900" y="1435100"/>
            <a:ext cx="2489200" cy="2946400"/>
          </a:xfrm>
          <a:prstGeom prst="roundRect">
            <a:avLst>
              <a:gd name="adj" fmla="val 6000"/>
            </a:avLst>
          </a:prstGeom>
          <a:solidFill>
            <a:srgbClr val="1E3558"/>
          </a:solidFill>
          <a:ln>
            <a:noFill/>
          </a:ln>
        </p:spPr>
        <p:txBody>
          <a:bodyPr wrap="square" rtlCol="0" anchor="ctr"/>
          <a:lstStyle/>
          <a:p>
            <a:endParaRPr lang="en-US" dirty="0"/>
          </a:p>
        </p:txBody>
      </p:sp>
      <p:sp>
        <p:nvSpPr>
          <p:cNvPr id="21" name="Stripe0"/>
          <p:cNvSpPr>
            <a:spLocks noGrp="1"/>
          </p:cNvSpPr>
          <p:nvPr/>
        </p:nvSpPr>
        <p:spPr>
          <a:xfrm>
            <a:off x="342900" y="1435100"/>
            <a:ext cx="2489200" cy="88900"/>
          </a:xfrm>
          <a:prstGeom prst="rect">
            <a:avLst/>
          </a:prstGeom>
          <a:solidFill>
            <a:srgbClr val="00B4D8"/>
          </a:solidFill>
          <a:ln>
            <a:noFill/>
          </a:ln>
        </p:spPr>
        <p:txBody>
          <a:bodyPr wrap="square" rtlCol="0" anchor="ctr"/>
          <a:lstStyle/>
          <a:p>
            <a:endParaRPr lang="en-US" dirty="0"/>
          </a:p>
        </p:txBody>
      </p:sp>
      <p:sp>
        <p:nvSpPr>
          <p:cNvPr id="22" name="Av0"/>
          <p:cNvSpPr>
            <a:spLocks noGrp="1"/>
          </p:cNvSpPr>
          <p:nvPr/>
        </p:nvSpPr>
        <p:spPr>
          <a:xfrm>
            <a:off x="1181100" y="1714500"/>
            <a:ext cx="812800" cy="812800"/>
          </a:xfrm>
          <a:prstGeom prst="ellipse">
            <a:avLst/>
          </a:prstGeom>
          <a:solidFill>
            <a:srgbClr val="0D1B2A"/>
          </a:solidFill>
          <a:ln w="18000">
            <a:solidFill>
              <a:srgbClr val="00B4D8"/>
            </a:solidFill>
          </a:ln>
        </p:spPr>
        <p:txBody>
          <a:bodyPr wrap="square" rtlCol="0" anchor="ctr"/>
          <a:lstStyle/>
          <a:p>
            <a:pPr marL="0" indent="0" algn="ctr">
              <a:buNone/>
            </a:pPr>
            <a:r>
              <a:rPr lang="en-US" sz="2800" b="1" i="0" dirty="0">
                <a:solidFill>
                  <a:srgbClr val="FFFFFF"/>
                </a:solidFill>
                <a:latin typeface="Calibri" pitchFamily="34" charset="0"/>
              </a:rPr>
              <a:t>R</a:t>
            </a:r>
          </a:p>
        </p:txBody>
      </p:sp>
      <p:sp>
        <p:nvSpPr>
          <p:cNvPr id="23" name="Nm0"/>
          <p:cNvSpPr>
            <a:spLocks noGrp="1"/>
          </p:cNvSpPr>
          <p:nvPr/>
        </p:nvSpPr>
        <p:spPr>
          <a:xfrm>
            <a:off x="419100" y="2654300"/>
            <a:ext cx="2336800" cy="457200"/>
          </a:xfrm>
          <a:prstGeom prst="rect">
            <a:avLst/>
          </a:prstGeom>
          <a:noFill/>
          <a:ln>
            <a:noFill/>
          </a:ln>
        </p:spPr>
        <p:txBody>
          <a:bodyPr wrap="square" rtlCol="0" anchor="ctr"/>
          <a:lstStyle/>
          <a:p>
            <a:pPr marL="0" indent="0" algn="ctr">
              <a:buNone/>
            </a:pPr>
            <a:r>
              <a:rPr lang="en-US" sz="1600" b="1" i="0" dirty="0">
                <a:solidFill>
                  <a:srgbClr val="FFFFFF"/>
                </a:solidFill>
                <a:latin typeface="Calibri" pitchFamily="34" charset="0"/>
              </a:rPr>
              <a:t>Rakesh Gadupudi</a:t>
            </a:r>
          </a:p>
        </p:txBody>
      </p:sp>
      <p:sp>
        <p:nvSpPr>
          <p:cNvPr id="24" name="Dv0"/>
          <p:cNvSpPr>
            <a:spLocks noGrp="1"/>
          </p:cNvSpPr>
          <p:nvPr/>
        </p:nvSpPr>
        <p:spPr>
          <a:xfrm>
            <a:off x="716280" y="3162300"/>
            <a:ext cx="1742440" cy="25400"/>
          </a:xfrm>
          <a:prstGeom prst="rect">
            <a:avLst/>
          </a:prstGeom>
          <a:solidFill>
            <a:srgbClr val="00B4D8"/>
          </a:solidFill>
          <a:ln>
            <a:noFill/>
          </a:ln>
        </p:spPr>
        <p:txBody>
          <a:bodyPr wrap="square" rtlCol="0" anchor="ctr"/>
          <a:lstStyle/>
          <a:p>
            <a:endParaRPr lang="en-US" dirty="0"/>
          </a:p>
        </p:txBody>
      </p:sp>
      <p:sp>
        <p:nvSpPr>
          <p:cNvPr id="25" name="Rl0"/>
          <p:cNvSpPr>
            <a:spLocks noGrp="1"/>
          </p:cNvSpPr>
          <p:nvPr/>
        </p:nvSpPr>
        <p:spPr>
          <a:xfrm>
            <a:off x="419100" y="3289300"/>
            <a:ext cx="2336800" cy="381000"/>
          </a:xfrm>
          <a:prstGeom prst="rect">
            <a:avLst/>
          </a:prstGeom>
          <a:noFill/>
          <a:ln>
            <a:noFill/>
          </a:ln>
        </p:spPr>
        <p:txBody>
          <a:bodyPr wrap="square" rtlCol="0" anchor="ctr"/>
          <a:lstStyle/>
          <a:p>
            <a:pPr marL="0" indent="0" algn="ctr">
              <a:buNone/>
            </a:pPr>
            <a:r>
              <a:rPr lang="en-US" sz="1500" b="0" i="0" dirty="0">
                <a:solidFill>
                  <a:srgbClr val="40D0F0"/>
                </a:solidFill>
                <a:latin typeface="Calibri" pitchFamily="34" charset="0"/>
              </a:rPr>
              <a:t>23BCS049</a:t>
            </a:r>
          </a:p>
        </p:txBody>
      </p:sp>
      <p:sp>
        <p:nvSpPr>
          <p:cNvPr id="26" name="Ro0"/>
          <p:cNvSpPr>
            <a:spLocks noGrp="1"/>
          </p:cNvSpPr>
          <p:nvPr/>
        </p:nvSpPr>
        <p:spPr>
          <a:xfrm>
            <a:off x="419100" y="3746500"/>
            <a:ext cx="2336800" cy="304800"/>
          </a:xfrm>
          <a:prstGeom prst="rect">
            <a:avLst/>
          </a:prstGeom>
          <a:noFill/>
          <a:ln>
            <a:noFill/>
          </a:ln>
        </p:spPr>
        <p:txBody>
          <a:bodyPr wrap="square" rtlCol="0" anchor="ctr"/>
          <a:lstStyle/>
          <a:p>
            <a:pPr marL="0" indent="0" algn="ctr">
              <a:buNone/>
            </a:pPr>
            <a:r>
              <a:rPr lang="en-US" sz="1100" b="0" i="1" dirty="0">
                <a:solidFill>
                  <a:srgbClr val="A8DADC"/>
                </a:solidFill>
                <a:latin typeface="Calibri" pitchFamily="34" charset="0"/>
              </a:rPr>
              <a:t>Team Member</a:t>
            </a:r>
          </a:p>
        </p:txBody>
      </p:sp>
      <p:sp>
        <p:nvSpPr>
          <p:cNvPr id="30" name="CardBg1"/>
          <p:cNvSpPr>
            <a:spLocks noGrp="1"/>
          </p:cNvSpPr>
          <p:nvPr/>
        </p:nvSpPr>
        <p:spPr>
          <a:xfrm>
            <a:off x="3327400" y="1435100"/>
            <a:ext cx="2489200" cy="2946400"/>
          </a:xfrm>
          <a:prstGeom prst="roundRect">
            <a:avLst>
              <a:gd name="adj" fmla="val 6000"/>
            </a:avLst>
          </a:prstGeom>
          <a:solidFill>
            <a:srgbClr val="1E3558"/>
          </a:solidFill>
          <a:ln>
            <a:noFill/>
          </a:ln>
        </p:spPr>
        <p:txBody>
          <a:bodyPr wrap="square" rtlCol="0" anchor="ctr"/>
          <a:lstStyle/>
          <a:p>
            <a:endParaRPr lang="en-US" dirty="0"/>
          </a:p>
        </p:txBody>
      </p:sp>
      <p:sp>
        <p:nvSpPr>
          <p:cNvPr id="31" name="Stripe1"/>
          <p:cNvSpPr>
            <a:spLocks noGrp="1"/>
          </p:cNvSpPr>
          <p:nvPr/>
        </p:nvSpPr>
        <p:spPr>
          <a:xfrm>
            <a:off x="3327400" y="1435100"/>
            <a:ext cx="2489200" cy="88900"/>
          </a:xfrm>
          <a:prstGeom prst="rect">
            <a:avLst/>
          </a:prstGeom>
          <a:solidFill>
            <a:srgbClr val="00B4D8"/>
          </a:solidFill>
          <a:ln>
            <a:noFill/>
          </a:ln>
        </p:spPr>
        <p:txBody>
          <a:bodyPr wrap="square" rtlCol="0" anchor="ctr"/>
          <a:lstStyle/>
          <a:p>
            <a:endParaRPr lang="en-US" dirty="0"/>
          </a:p>
        </p:txBody>
      </p:sp>
      <p:sp>
        <p:nvSpPr>
          <p:cNvPr id="32" name="Av1"/>
          <p:cNvSpPr>
            <a:spLocks noGrp="1"/>
          </p:cNvSpPr>
          <p:nvPr/>
        </p:nvSpPr>
        <p:spPr>
          <a:xfrm>
            <a:off x="4165600" y="1714500"/>
            <a:ext cx="812800" cy="812800"/>
          </a:xfrm>
          <a:prstGeom prst="ellipse">
            <a:avLst/>
          </a:prstGeom>
          <a:solidFill>
            <a:srgbClr val="0D1B2A"/>
          </a:solidFill>
          <a:ln w="18000">
            <a:solidFill>
              <a:srgbClr val="00B4D8"/>
            </a:solidFill>
          </a:ln>
        </p:spPr>
        <p:txBody>
          <a:bodyPr wrap="square" rtlCol="0" anchor="ctr"/>
          <a:lstStyle/>
          <a:p>
            <a:pPr marL="0" indent="0" algn="ctr">
              <a:buNone/>
            </a:pPr>
            <a:r>
              <a:rPr lang="en-US" sz="2800" b="1" i="0" dirty="0">
                <a:solidFill>
                  <a:srgbClr val="FFFFFF"/>
                </a:solidFill>
                <a:latin typeface="Calibri" pitchFamily="34" charset="0"/>
              </a:rPr>
              <a:t>G</a:t>
            </a:r>
          </a:p>
        </p:txBody>
      </p:sp>
      <p:sp>
        <p:nvSpPr>
          <p:cNvPr id="33" name="Nm1"/>
          <p:cNvSpPr>
            <a:spLocks noGrp="1"/>
          </p:cNvSpPr>
          <p:nvPr/>
        </p:nvSpPr>
        <p:spPr>
          <a:xfrm>
            <a:off x="3403600" y="2654300"/>
            <a:ext cx="2336800" cy="457200"/>
          </a:xfrm>
          <a:prstGeom prst="rect">
            <a:avLst/>
          </a:prstGeom>
          <a:noFill/>
          <a:ln>
            <a:noFill/>
          </a:ln>
        </p:spPr>
        <p:txBody>
          <a:bodyPr wrap="square" rtlCol="0" anchor="ctr"/>
          <a:lstStyle/>
          <a:p>
            <a:pPr marL="0" indent="0" algn="ctr">
              <a:buNone/>
            </a:pPr>
            <a:r>
              <a:rPr lang="en-US" sz="1600" b="1" i="0" dirty="0">
                <a:solidFill>
                  <a:srgbClr val="FFFFFF"/>
                </a:solidFill>
                <a:latin typeface="Calibri" pitchFamily="34" charset="0"/>
              </a:rPr>
              <a:t>Ganesh Kumatole</a:t>
            </a:r>
          </a:p>
        </p:txBody>
      </p:sp>
      <p:sp>
        <p:nvSpPr>
          <p:cNvPr id="34" name="Dv1"/>
          <p:cNvSpPr>
            <a:spLocks noGrp="1"/>
          </p:cNvSpPr>
          <p:nvPr/>
        </p:nvSpPr>
        <p:spPr>
          <a:xfrm>
            <a:off x="3700780" y="3162300"/>
            <a:ext cx="1742440" cy="25400"/>
          </a:xfrm>
          <a:prstGeom prst="rect">
            <a:avLst/>
          </a:prstGeom>
          <a:solidFill>
            <a:srgbClr val="00B4D8"/>
          </a:solidFill>
          <a:ln>
            <a:noFill/>
          </a:ln>
        </p:spPr>
        <p:txBody>
          <a:bodyPr wrap="square" rtlCol="0" anchor="ctr"/>
          <a:lstStyle/>
          <a:p>
            <a:endParaRPr lang="en-US" dirty="0"/>
          </a:p>
        </p:txBody>
      </p:sp>
      <p:sp>
        <p:nvSpPr>
          <p:cNvPr id="35" name="Rl1"/>
          <p:cNvSpPr>
            <a:spLocks noGrp="1"/>
          </p:cNvSpPr>
          <p:nvPr/>
        </p:nvSpPr>
        <p:spPr>
          <a:xfrm>
            <a:off x="3403600" y="3289300"/>
            <a:ext cx="2336800" cy="381000"/>
          </a:xfrm>
          <a:prstGeom prst="rect">
            <a:avLst/>
          </a:prstGeom>
          <a:noFill/>
          <a:ln>
            <a:noFill/>
          </a:ln>
        </p:spPr>
        <p:txBody>
          <a:bodyPr wrap="square" rtlCol="0" anchor="ctr"/>
          <a:lstStyle/>
          <a:p>
            <a:pPr marL="0" indent="0" algn="ctr">
              <a:buNone/>
            </a:pPr>
            <a:r>
              <a:rPr lang="en-US" sz="1500" b="0" i="0" dirty="0">
                <a:solidFill>
                  <a:srgbClr val="40D0F0"/>
                </a:solidFill>
                <a:latin typeface="Calibri" pitchFamily="34" charset="0"/>
              </a:rPr>
              <a:t>23BCS050</a:t>
            </a:r>
          </a:p>
        </p:txBody>
      </p:sp>
      <p:sp>
        <p:nvSpPr>
          <p:cNvPr id="36" name="Ro1"/>
          <p:cNvSpPr>
            <a:spLocks noGrp="1"/>
          </p:cNvSpPr>
          <p:nvPr/>
        </p:nvSpPr>
        <p:spPr>
          <a:xfrm>
            <a:off x="3403600" y="3746500"/>
            <a:ext cx="2336800" cy="304800"/>
          </a:xfrm>
          <a:prstGeom prst="rect">
            <a:avLst/>
          </a:prstGeom>
          <a:noFill/>
          <a:ln>
            <a:noFill/>
          </a:ln>
        </p:spPr>
        <p:txBody>
          <a:bodyPr wrap="square" rtlCol="0" anchor="ctr"/>
          <a:lstStyle/>
          <a:p>
            <a:pPr marL="0" indent="0" algn="ctr">
              <a:buNone/>
            </a:pPr>
            <a:r>
              <a:rPr lang="en-US" sz="1100" b="0" i="1" dirty="0">
                <a:solidFill>
                  <a:srgbClr val="A8DADC"/>
                </a:solidFill>
                <a:latin typeface="Calibri" pitchFamily="34" charset="0"/>
              </a:rPr>
              <a:t>Team Member</a:t>
            </a:r>
          </a:p>
        </p:txBody>
      </p:sp>
      <p:sp>
        <p:nvSpPr>
          <p:cNvPr id="40" name="CardBg2"/>
          <p:cNvSpPr>
            <a:spLocks noGrp="1"/>
          </p:cNvSpPr>
          <p:nvPr/>
        </p:nvSpPr>
        <p:spPr>
          <a:xfrm>
            <a:off x="6311900" y="1435100"/>
            <a:ext cx="2489200" cy="2946400"/>
          </a:xfrm>
          <a:prstGeom prst="roundRect">
            <a:avLst>
              <a:gd name="adj" fmla="val 6000"/>
            </a:avLst>
          </a:prstGeom>
          <a:solidFill>
            <a:srgbClr val="1E3558"/>
          </a:solidFill>
          <a:ln>
            <a:noFill/>
          </a:ln>
        </p:spPr>
        <p:txBody>
          <a:bodyPr wrap="square" rtlCol="0" anchor="ctr"/>
          <a:lstStyle/>
          <a:p>
            <a:endParaRPr lang="en-US" dirty="0"/>
          </a:p>
        </p:txBody>
      </p:sp>
      <p:sp>
        <p:nvSpPr>
          <p:cNvPr id="41" name="Stripe2"/>
          <p:cNvSpPr>
            <a:spLocks noGrp="1"/>
          </p:cNvSpPr>
          <p:nvPr/>
        </p:nvSpPr>
        <p:spPr>
          <a:xfrm>
            <a:off x="6311900" y="1435100"/>
            <a:ext cx="2489200" cy="88900"/>
          </a:xfrm>
          <a:prstGeom prst="rect">
            <a:avLst/>
          </a:prstGeom>
          <a:solidFill>
            <a:srgbClr val="00B4D8"/>
          </a:solidFill>
          <a:ln>
            <a:noFill/>
          </a:ln>
        </p:spPr>
        <p:txBody>
          <a:bodyPr wrap="square" rtlCol="0" anchor="ctr"/>
          <a:lstStyle/>
          <a:p>
            <a:endParaRPr lang="en-US" dirty="0"/>
          </a:p>
        </p:txBody>
      </p:sp>
      <p:sp>
        <p:nvSpPr>
          <p:cNvPr id="42" name="Av2"/>
          <p:cNvSpPr>
            <a:spLocks noGrp="1"/>
          </p:cNvSpPr>
          <p:nvPr/>
        </p:nvSpPr>
        <p:spPr>
          <a:xfrm>
            <a:off x="7150100" y="1714500"/>
            <a:ext cx="812800" cy="812800"/>
          </a:xfrm>
          <a:prstGeom prst="ellipse">
            <a:avLst/>
          </a:prstGeom>
          <a:solidFill>
            <a:srgbClr val="0D1B2A"/>
          </a:solidFill>
          <a:ln w="18000">
            <a:solidFill>
              <a:srgbClr val="00B4D8"/>
            </a:solidFill>
          </a:ln>
        </p:spPr>
        <p:txBody>
          <a:bodyPr wrap="square" rtlCol="0" anchor="ctr"/>
          <a:lstStyle/>
          <a:p>
            <a:pPr marL="0" indent="0" algn="ctr">
              <a:buNone/>
            </a:pPr>
            <a:r>
              <a:rPr lang="en-US" sz="2800" b="1" i="0" dirty="0">
                <a:solidFill>
                  <a:srgbClr val="FFFFFF"/>
                </a:solidFill>
                <a:latin typeface="Calibri" pitchFamily="34" charset="0"/>
              </a:rPr>
              <a:t>M</a:t>
            </a:r>
          </a:p>
        </p:txBody>
      </p:sp>
      <p:sp>
        <p:nvSpPr>
          <p:cNvPr id="43" name="Nm2"/>
          <p:cNvSpPr>
            <a:spLocks noGrp="1"/>
          </p:cNvSpPr>
          <p:nvPr/>
        </p:nvSpPr>
        <p:spPr>
          <a:xfrm>
            <a:off x="6388100" y="2654300"/>
            <a:ext cx="2336800" cy="457200"/>
          </a:xfrm>
          <a:prstGeom prst="rect">
            <a:avLst/>
          </a:prstGeom>
          <a:noFill/>
          <a:ln>
            <a:noFill/>
          </a:ln>
        </p:spPr>
        <p:txBody>
          <a:bodyPr wrap="square" rtlCol="0" anchor="ctr"/>
          <a:lstStyle/>
          <a:p>
            <a:pPr marL="0" indent="0" algn="ctr">
              <a:buNone/>
            </a:pPr>
            <a:r>
              <a:rPr lang="en-US" sz="1600" b="1" i="0" dirty="0">
                <a:solidFill>
                  <a:srgbClr val="FFFFFF"/>
                </a:solidFill>
                <a:latin typeface="Calibri" pitchFamily="34" charset="0"/>
              </a:rPr>
              <a:t>Mokshagna Inturi</a:t>
            </a:r>
          </a:p>
        </p:txBody>
      </p:sp>
      <p:sp>
        <p:nvSpPr>
          <p:cNvPr id="44" name="Dv2"/>
          <p:cNvSpPr>
            <a:spLocks noGrp="1"/>
          </p:cNvSpPr>
          <p:nvPr/>
        </p:nvSpPr>
        <p:spPr>
          <a:xfrm>
            <a:off x="6685280" y="3162300"/>
            <a:ext cx="1742440" cy="25400"/>
          </a:xfrm>
          <a:prstGeom prst="rect">
            <a:avLst/>
          </a:prstGeom>
          <a:solidFill>
            <a:srgbClr val="00B4D8"/>
          </a:solidFill>
          <a:ln>
            <a:noFill/>
          </a:ln>
        </p:spPr>
        <p:txBody>
          <a:bodyPr wrap="square" rtlCol="0" anchor="ctr"/>
          <a:lstStyle/>
          <a:p>
            <a:endParaRPr lang="en-US" dirty="0"/>
          </a:p>
        </p:txBody>
      </p:sp>
      <p:sp>
        <p:nvSpPr>
          <p:cNvPr id="45" name="Rl2"/>
          <p:cNvSpPr>
            <a:spLocks noGrp="1"/>
          </p:cNvSpPr>
          <p:nvPr/>
        </p:nvSpPr>
        <p:spPr>
          <a:xfrm>
            <a:off x="6388100" y="3289300"/>
            <a:ext cx="2336800" cy="381000"/>
          </a:xfrm>
          <a:prstGeom prst="rect">
            <a:avLst/>
          </a:prstGeom>
          <a:noFill/>
          <a:ln>
            <a:noFill/>
          </a:ln>
        </p:spPr>
        <p:txBody>
          <a:bodyPr wrap="square" rtlCol="0" anchor="ctr"/>
          <a:lstStyle/>
          <a:p>
            <a:pPr marL="0" indent="0" algn="ctr">
              <a:buNone/>
            </a:pPr>
            <a:r>
              <a:rPr lang="en-US" sz="1500" b="0" i="0" dirty="0">
                <a:solidFill>
                  <a:srgbClr val="40D0F0"/>
                </a:solidFill>
                <a:latin typeface="Calibri" pitchFamily="34" charset="0"/>
              </a:rPr>
              <a:t>23BCS056</a:t>
            </a:r>
          </a:p>
        </p:txBody>
      </p:sp>
      <p:sp>
        <p:nvSpPr>
          <p:cNvPr id="46" name="Ro2"/>
          <p:cNvSpPr>
            <a:spLocks noGrp="1"/>
          </p:cNvSpPr>
          <p:nvPr/>
        </p:nvSpPr>
        <p:spPr>
          <a:xfrm>
            <a:off x="6388100" y="3746500"/>
            <a:ext cx="2336800" cy="304800"/>
          </a:xfrm>
          <a:prstGeom prst="rect">
            <a:avLst/>
          </a:prstGeom>
          <a:noFill/>
          <a:ln>
            <a:noFill/>
          </a:ln>
        </p:spPr>
        <p:txBody>
          <a:bodyPr wrap="square" rtlCol="0" anchor="ctr"/>
          <a:lstStyle/>
          <a:p>
            <a:pPr marL="0" indent="0" algn="ctr">
              <a:buNone/>
            </a:pPr>
            <a:r>
              <a:rPr lang="en-US" sz="1100" b="0" i="1" dirty="0">
                <a:solidFill>
                  <a:srgbClr val="A8DADC"/>
                </a:solidFill>
                <a:latin typeface="Calibri" pitchFamily="34" charset="0"/>
              </a:rPr>
              <a:t>Team Member</a:t>
            </a:r>
          </a:p>
        </p:txBody>
      </p:sp>
      <p:sp>
        <p:nvSpPr>
          <p:cNvPr id="90" name="FooterBar"/>
          <p:cNvSpPr>
            <a:spLocks noGrp="1"/>
          </p:cNvSpPr>
          <p:nvPr/>
        </p:nvSpPr>
        <p:spPr>
          <a:xfrm>
            <a:off x="0" y="4889500"/>
            <a:ext cx="9144000" cy="254000"/>
          </a:xfrm>
          <a:prstGeom prst="rect">
            <a:avLst/>
          </a:prstGeom>
          <a:solidFill>
            <a:srgbClr val="1A2F4A"/>
          </a:solidFill>
          <a:ln>
            <a:noFill/>
          </a:ln>
        </p:spPr>
        <p:txBody>
          <a:bodyPr wrap="square" rtlCol="0" anchor="ctr"/>
          <a:lstStyle/>
          <a:p>
            <a:endParaRPr lang="en-US" dirty="0"/>
          </a:p>
        </p:txBody>
      </p:sp>
      <p:sp>
        <p:nvSpPr>
          <p:cNvPr id="91" name="FooterTxt"/>
          <p:cNvSpPr>
            <a:spLocks noGrp="1"/>
          </p:cNvSpPr>
          <p:nvPr/>
        </p:nvSpPr>
        <p:spPr>
          <a:xfrm>
            <a:off x="279400" y="4902200"/>
            <a:ext cx="8597900" cy="177800"/>
          </a:xfrm>
          <a:prstGeom prst="rect">
            <a:avLst/>
          </a:prstGeom>
          <a:noFill/>
          <a:ln>
            <a:noFill/>
          </a:ln>
        </p:spPr>
        <p:txBody>
          <a:bodyPr wrap="square" rtlCol="0" anchor="ctr"/>
          <a:lstStyle/>
          <a:p>
            <a:pPr marL="0" indent="0" algn="ctr">
              <a:buNone/>
            </a:pPr>
            <a:r>
              <a:rPr lang="en-US" sz="900" b="0" i="0" dirty="0">
                <a:solidFill>
                  <a:srgbClr val="A8DADC"/>
                </a:solidFill>
                <a:latin typeface="Calibri" pitchFamily="34" charset="0"/>
              </a:rPr>
              <a:t>Fintracker — Cloud-Based Personal Finance Management System | Cloud Computing &amp; AI Services</a:t>
            </a:r>
          </a:p>
        </p:txBody>
      </p:sp>
    </p:spTree>
    <p:extLst>
      <p:ext uri="{BB962C8B-B14F-4D97-AF65-F5344CB8AC3E}">
        <p14:creationId xmlns:p14="http://schemas.microsoft.com/office/powerpoint/2010/main" val="3766935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txBody>
          <a:bodyPr/>
          <a:lstStyle/>
          <a:p>
            <a:endParaRPr lang="en-IN"/>
          </a:p>
        </p:txBody>
      </p:sp>
      <p:sp>
        <p:nvSpPr>
          <p:cNvPr id="3" name="Text 1"/>
          <p:cNvSpPr/>
          <p:nvPr/>
        </p:nvSpPr>
        <p:spPr>
          <a:xfrm>
            <a:off x="457200" y="109728"/>
            <a:ext cx="7772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Objectives</a:t>
            </a:r>
            <a:endParaRPr lang="en-US" sz="2400" dirty="0"/>
          </a:p>
        </p:txBody>
      </p:sp>
      <p:sp>
        <p:nvSpPr>
          <p:cNvPr id="4" name="Text 2"/>
          <p:cNvSpPr/>
          <p:nvPr/>
        </p:nvSpPr>
        <p:spPr>
          <a:xfrm>
            <a:off x="457200" y="640080"/>
            <a:ext cx="7772400" cy="228600"/>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Goals of the Cloud-Based Personal Finance Management System</a:t>
            </a:r>
            <a:endParaRPr lang="en-US" sz="1100" dirty="0"/>
          </a:p>
        </p:txBody>
      </p:sp>
      <p:sp>
        <p:nvSpPr>
          <p:cNvPr id="5" name="Shape 3"/>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IN"/>
          </a:p>
        </p:txBody>
      </p:sp>
      <p:sp>
        <p:nvSpPr>
          <p:cNvPr id="6" name="Text 4"/>
          <p:cNvSpPr/>
          <p:nvPr/>
        </p:nvSpPr>
        <p:spPr>
          <a:xfrm>
            <a:off x="274320" y="4896612"/>
            <a:ext cx="8595360" cy="182880"/>
          </a:xfrm>
          <a:prstGeom prst="rect">
            <a:avLst/>
          </a:prstGeom>
          <a:noFill/>
          <a:ln/>
        </p:spPr>
        <p:txBody>
          <a:bodyPr wrap="square" lIns="0" tIns="0" rIns="0" bIns="0" rtlCol="0" anchor="ctr"/>
          <a:lstStyle/>
          <a:p>
            <a:pPr marL="0" indent="0">
              <a:buNone/>
            </a:pPr>
            <a:r>
              <a:rPr lang="en-US" sz="800" dirty="0">
                <a:solidFill>
                  <a:srgbClr val="94A3B8"/>
                </a:solidFill>
              </a:rPr>
              <a:t>Fintracker — Cloud-Based Personal Finance Management System  |  Cloud Computing &amp; AI Services</a:t>
            </a:r>
            <a:endParaRPr lang="en-US" sz="800" dirty="0"/>
          </a:p>
        </p:txBody>
      </p:sp>
      <p:sp>
        <p:nvSpPr>
          <p:cNvPr id="7" name="Shape 5"/>
          <p:cNvSpPr/>
          <p:nvPr/>
        </p:nvSpPr>
        <p:spPr>
          <a:xfrm>
            <a:off x="365760" y="1097280"/>
            <a:ext cx="8412480" cy="457200"/>
          </a:xfrm>
          <a:prstGeom prst="rect">
            <a:avLst/>
          </a:prstGeom>
          <a:solidFill>
            <a:srgbClr val="EFF6FF"/>
          </a:solidFill>
          <a:ln w="10160">
            <a:solidFill>
              <a:srgbClr val="DBEAFE"/>
            </a:solidFill>
            <a:prstDash val="solid"/>
          </a:ln>
        </p:spPr>
        <p:txBody>
          <a:bodyPr/>
          <a:lstStyle/>
          <a:p>
            <a:endParaRPr lang="en-IN"/>
          </a:p>
        </p:txBody>
      </p:sp>
      <p:sp>
        <p:nvSpPr>
          <p:cNvPr id="8" name="Shape 6"/>
          <p:cNvSpPr/>
          <p:nvPr/>
        </p:nvSpPr>
        <p:spPr>
          <a:xfrm>
            <a:off x="438912" y="1152144"/>
            <a:ext cx="347472" cy="347472"/>
          </a:xfrm>
          <a:prstGeom prst="ellipse">
            <a:avLst/>
          </a:prstGeom>
          <a:solidFill>
            <a:srgbClr val="3B82F6"/>
          </a:solidFill>
          <a:ln w="12700">
            <a:solidFill>
              <a:srgbClr val="3B82F6"/>
            </a:solidFill>
            <a:prstDash val="solid"/>
          </a:ln>
        </p:spPr>
        <p:txBody>
          <a:bodyPr/>
          <a:lstStyle/>
          <a:p>
            <a:endParaRPr lang="en-IN"/>
          </a:p>
        </p:txBody>
      </p:sp>
      <p:sp>
        <p:nvSpPr>
          <p:cNvPr id="9" name="Text 7"/>
          <p:cNvSpPr/>
          <p:nvPr/>
        </p:nvSpPr>
        <p:spPr>
          <a:xfrm>
            <a:off x="429768" y="1170432"/>
            <a:ext cx="3657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pic>
        <p:nvPicPr>
          <p:cNvPr id="10" name="Image 0" descr="preencoded.png"/>
          <p:cNvPicPr>
            <a:picLocks noChangeAspect="1"/>
          </p:cNvPicPr>
          <p:nvPr/>
        </p:nvPicPr>
        <p:blipFill>
          <a:blip r:embed="rId3"/>
          <a:stretch>
            <a:fillRect/>
          </a:stretch>
        </p:blipFill>
        <p:spPr>
          <a:xfrm>
            <a:off x="8321040" y="1188720"/>
            <a:ext cx="256032" cy="256032"/>
          </a:xfrm>
          <a:prstGeom prst="rect">
            <a:avLst/>
          </a:prstGeom>
        </p:spPr>
      </p:pic>
      <p:sp>
        <p:nvSpPr>
          <p:cNvPr id="11" name="Text 8"/>
          <p:cNvSpPr/>
          <p:nvPr/>
        </p:nvSpPr>
        <p:spPr>
          <a:xfrm>
            <a:off x="914400" y="1170432"/>
            <a:ext cx="7223760" cy="3200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Build a secure cloud-based web app for personal finance management</a:t>
            </a:r>
            <a:endParaRPr lang="en-US" sz="1200" dirty="0"/>
          </a:p>
        </p:txBody>
      </p:sp>
      <p:sp>
        <p:nvSpPr>
          <p:cNvPr id="12" name="Shape 9"/>
          <p:cNvSpPr/>
          <p:nvPr/>
        </p:nvSpPr>
        <p:spPr>
          <a:xfrm>
            <a:off x="365760" y="1627632"/>
            <a:ext cx="8412480" cy="457200"/>
          </a:xfrm>
          <a:prstGeom prst="rect">
            <a:avLst/>
          </a:prstGeom>
          <a:solidFill>
            <a:srgbClr val="FFFFFF"/>
          </a:solidFill>
          <a:ln w="10160">
            <a:solidFill>
              <a:srgbClr val="DBEAFE"/>
            </a:solidFill>
            <a:prstDash val="solid"/>
          </a:ln>
        </p:spPr>
        <p:txBody>
          <a:bodyPr/>
          <a:lstStyle/>
          <a:p>
            <a:endParaRPr lang="en-IN"/>
          </a:p>
        </p:txBody>
      </p:sp>
      <p:sp>
        <p:nvSpPr>
          <p:cNvPr id="13" name="Shape 10"/>
          <p:cNvSpPr/>
          <p:nvPr/>
        </p:nvSpPr>
        <p:spPr>
          <a:xfrm>
            <a:off x="438912" y="1682496"/>
            <a:ext cx="347472" cy="347472"/>
          </a:xfrm>
          <a:prstGeom prst="ellipse">
            <a:avLst/>
          </a:prstGeom>
          <a:solidFill>
            <a:srgbClr val="3B82F6"/>
          </a:solidFill>
          <a:ln w="12700">
            <a:solidFill>
              <a:srgbClr val="3B82F6"/>
            </a:solidFill>
            <a:prstDash val="solid"/>
          </a:ln>
        </p:spPr>
        <p:txBody>
          <a:bodyPr/>
          <a:lstStyle/>
          <a:p>
            <a:endParaRPr lang="en-IN"/>
          </a:p>
        </p:txBody>
      </p:sp>
      <p:sp>
        <p:nvSpPr>
          <p:cNvPr id="14" name="Text 11"/>
          <p:cNvSpPr/>
          <p:nvPr/>
        </p:nvSpPr>
        <p:spPr>
          <a:xfrm>
            <a:off x="429768" y="1700784"/>
            <a:ext cx="3657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pic>
        <p:nvPicPr>
          <p:cNvPr id="15" name="Image 1" descr="preencoded.png"/>
          <p:cNvPicPr>
            <a:picLocks noChangeAspect="1"/>
          </p:cNvPicPr>
          <p:nvPr/>
        </p:nvPicPr>
        <p:blipFill>
          <a:blip r:embed="rId3"/>
          <a:stretch>
            <a:fillRect/>
          </a:stretch>
        </p:blipFill>
        <p:spPr>
          <a:xfrm>
            <a:off x="8321040" y="1719072"/>
            <a:ext cx="256032" cy="256032"/>
          </a:xfrm>
          <a:prstGeom prst="rect">
            <a:avLst/>
          </a:prstGeom>
        </p:spPr>
      </p:pic>
      <p:sp>
        <p:nvSpPr>
          <p:cNvPr id="16" name="Text 12"/>
          <p:cNvSpPr/>
          <p:nvPr/>
        </p:nvSpPr>
        <p:spPr>
          <a:xfrm>
            <a:off x="914400" y="1700784"/>
            <a:ext cx="7223760" cy="3200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Implement Firebase Authentication for safe, multi-user login</a:t>
            </a:r>
            <a:endParaRPr lang="en-US" sz="1200" dirty="0"/>
          </a:p>
        </p:txBody>
      </p:sp>
      <p:sp>
        <p:nvSpPr>
          <p:cNvPr id="17" name="Shape 13"/>
          <p:cNvSpPr/>
          <p:nvPr/>
        </p:nvSpPr>
        <p:spPr>
          <a:xfrm>
            <a:off x="365760" y="2157984"/>
            <a:ext cx="8412480" cy="457200"/>
          </a:xfrm>
          <a:prstGeom prst="rect">
            <a:avLst/>
          </a:prstGeom>
          <a:solidFill>
            <a:srgbClr val="EFF6FF"/>
          </a:solidFill>
          <a:ln w="10160">
            <a:solidFill>
              <a:srgbClr val="DBEAFE"/>
            </a:solidFill>
            <a:prstDash val="solid"/>
          </a:ln>
        </p:spPr>
        <p:txBody>
          <a:bodyPr/>
          <a:lstStyle/>
          <a:p>
            <a:endParaRPr lang="en-IN"/>
          </a:p>
        </p:txBody>
      </p:sp>
      <p:sp>
        <p:nvSpPr>
          <p:cNvPr id="18" name="Shape 14"/>
          <p:cNvSpPr/>
          <p:nvPr/>
        </p:nvSpPr>
        <p:spPr>
          <a:xfrm>
            <a:off x="438912" y="2212848"/>
            <a:ext cx="347472" cy="347472"/>
          </a:xfrm>
          <a:prstGeom prst="ellipse">
            <a:avLst/>
          </a:prstGeom>
          <a:solidFill>
            <a:srgbClr val="3B82F6"/>
          </a:solidFill>
          <a:ln w="12700">
            <a:solidFill>
              <a:srgbClr val="3B82F6"/>
            </a:solidFill>
            <a:prstDash val="solid"/>
          </a:ln>
        </p:spPr>
        <p:txBody>
          <a:bodyPr/>
          <a:lstStyle/>
          <a:p>
            <a:endParaRPr lang="en-IN"/>
          </a:p>
        </p:txBody>
      </p:sp>
      <p:sp>
        <p:nvSpPr>
          <p:cNvPr id="19" name="Text 15"/>
          <p:cNvSpPr/>
          <p:nvPr/>
        </p:nvSpPr>
        <p:spPr>
          <a:xfrm>
            <a:off x="429768" y="2231136"/>
            <a:ext cx="3657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pic>
        <p:nvPicPr>
          <p:cNvPr id="20" name="Image 2" descr="preencoded.png"/>
          <p:cNvPicPr>
            <a:picLocks noChangeAspect="1"/>
          </p:cNvPicPr>
          <p:nvPr/>
        </p:nvPicPr>
        <p:blipFill>
          <a:blip r:embed="rId3"/>
          <a:stretch>
            <a:fillRect/>
          </a:stretch>
        </p:blipFill>
        <p:spPr>
          <a:xfrm>
            <a:off x="8321040" y="2249424"/>
            <a:ext cx="256032" cy="256032"/>
          </a:xfrm>
          <a:prstGeom prst="rect">
            <a:avLst/>
          </a:prstGeom>
        </p:spPr>
      </p:pic>
      <p:sp>
        <p:nvSpPr>
          <p:cNvPr id="21" name="Text 16"/>
          <p:cNvSpPr/>
          <p:nvPr/>
        </p:nvSpPr>
        <p:spPr>
          <a:xfrm>
            <a:off x="914400" y="2231136"/>
            <a:ext cx="7223760" cy="3200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Use Firestore (NoSQL cloud database) to store and sync transactions in real-time</a:t>
            </a:r>
            <a:endParaRPr lang="en-US" sz="1200" dirty="0"/>
          </a:p>
        </p:txBody>
      </p:sp>
      <p:sp>
        <p:nvSpPr>
          <p:cNvPr id="22" name="Shape 17"/>
          <p:cNvSpPr/>
          <p:nvPr/>
        </p:nvSpPr>
        <p:spPr>
          <a:xfrm>
            <a:off x="365760" y="2688336"/>
            <a:ext cx="8412480" cy="457200"/>
          </a:xfrm>
          <a:prstGeom prst="rect">
            <a:avLst/>
          </a:prstGeom>
          <a:solidFill>
            <a:srgbClr val="FFFFFF"/>
          </a:solidFill>
          <a:ln w="10160">
            <a:solidFill>
              <a:srgbClr val="DBEAFE"/>
            </a:solidFill>
            <a:prstDash val="solid"/>
          </a:ln>
        </p:spPr>
        <p:txBody>
          <a:bodyPr/>
          <a:lstStyle/>
          <a:p>
            <a:endParaRPr lang="en-IN"/>
          </a:p>
        </p:txBody>
      </p:sp>
      <p:sp>
        <p:nvSpPr>
          <p:cNvPr id="23" name="Shape 18"/>
          <p:cNvSpPr/>
          <p:nvPr/>
        </p:nvSpPr>
        <p:spPr>
          <a:xfrm>
            <a:off x="438912" y="2743200"/>
            <a:ext cx="347472" cy="347472"/>
          </a:xfrm>
          <a:prstGeom prst="ellipse">
            <a:avLst/>
          </a:prstGeom>
          <a:solidFill>
            <a:srgbClr val="3B82F6"/>
          </a:solidFill>
          <a:ln w="12700">
            <a:solidFill>
              <a:srgbClr val="3B82F6"/>
            </a:solidFill>
            <a:prstDash val="solid"/>
          </a:ln>
        </p:spPr>
        <p:txBody>
          <a:bodyPr/>
          <a:lstStyle/>
          <a:p>
            <a:endParaRPr lang="en-IN"/>
          </a:p>
        </p:txBody>
      </p:sp>
      <p:sp>
        <p:nvSpPr>
          <p:cNvPr id="24" name="Text 19"/>
          <p:cNvSpPr/>
          <p:nvPr/>
        </p:nvSpPr>
        <p:spPr>
          <a:xfrm>
            <a:off x="429768" y="2761488"/>
            <a:ext cx="3657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pic>
        <p:nvPicPr>
          <p:cNvPr id="25" name="Image 3" descr="preencoded.png"/>
          <p:cNvPicPr>
            <a:picLocks noChangeAspect="1"/>
          </p:cNvPicPr>
          <p:nvPr/>
        </p:nvPicPr>
        <p:blipFill>
          <a:blip r:embed="rId3"/>
          <a:stretch>
            <a:fillRect/>
          </a:stretch>
        </p:blipFill>
        <p:spPr>
          <a:xfrm>
            <a:off x="8321040" y="2779776"/>
            <a:ext cx="256032" cy="256032"/>
          </a:xfrm>
          <a:prstGeom prst="rect">
            <a:avLst/>
          </a:prstGeom>
        </p:spPr>
      </p:pic>
      <p:sp>
        <p:nvSpPr>
          <p:cNvPr id="26" name="Text 20"/>
          <p:cNvSpPr/>
          <p:nvPr/>
        </p:nvSpPr>
        <p:spPr>
          <a:xfrm>
            <a:off x="914400" y="2761488"/>
            <a:ext cx="7223760" cy="3200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Provide interactive dashboards with charts for financial data visualization</a:t>
            </a:r>
            <a:endParaRPr lang="en-US" sz="1200" dirty="0"/>
          </a:p>
        </p:txBody>
      </p:sp>
      <p:sp>
        <p:nvSpPr>
          <p:cNvPr id="27" name="Shape 21"/>
          <p:cNvSpPr/>
          <p:nvPr/>
        </p:nvSpPr>
        <p:spPr>
          <a:xfrm>
            <a:off x="365760" y="3218688"/>
            <a:ext cx="8412480" cy="457200"/>
          </a:xfrm>
          <a:prstGeom prst="rect">
            <a:avLst/>
          </a:prstGeom>
          <a:solidFill>
            <a:srgbClr val="EFF6FF"/>
          </a:solidFill>
          <a:ln w="10160">
            <a:solidFill>
              <a:srgbClr val="DBEAFE"/>
            </a:solidFill>
            <a:prstDash val="solid"/>
          </a:ln>
        </p:spPr>
        <p:txBody>
          <a:bodyPr/>
          <a:lstStyle/>
          <a:p>
            <a:endParaRPr lang="en-IN"/>
          </a:p>
        </p:txBody>
      </p:sp>
      <p:sp>
        <p:nvSpPr>
          <p:cNvPr id="28" name="Shape 22"/>
          <p:cNvSpPr/>
          <p:nvPr/>
        </p:nvSpPr>
        <p:spPr>
          <a:xfrm>
            <a:off x="438912" y="3273552"/>
            <a:ext cx="347472" cy="347472"/>
          </a:xfrm>
          <a:prstGeom prst="ellipse">
            <a:avLst/>
          </a:prstGeom>
          <a:solidFill>
            <a:srgbClr val="3B82F6"/>
          </a:solidFill>
          <a:ln w="12700">
            <a:solidFill>
              <a:srgbClr val="3B82F6"/>
            </a:solidFill>
            <a:prstDash val="solid"/>
          </a:ln>
        </p:spPr>
        <p:txBody>
          <a:bodyPr/>
          <a:lstStyle/>
          <a:p>
            <a:endParaRPr lang="en-IN"/>
          </a:p>
        </p:txBody>
      </p:sp>
      <p:sp>
        <p:nvSpPr>
          <p:cNvPr id="29" name="Text 23"/>
          <p:cNvSpPr/>
          <p:nvPr/>
        </p:nvSpPr>
        <p:spPr>
          <a:xfrm>
            <a:off x="429768" y="3291840"/>
            <a:ext cx="3657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pic>
        <p:nvPicPr>
          <p:cNvPr id="30" name="Image 4" descr="preencoded.png"/>
          <p:cNvPicPr>
            <a:picLocks noChangeAspect="1"/>
          </p:cNvPicPr>
          <p:nvPr/>
        </p:nvPicPr>
        <p:blipFill>
          <a:blip r:embed="rId3"/>
          <a:stretch>
            <a:fillRect/>
          </a:stretch>
        </p:blipFill>
        <p:spPr>
          <a:xfrm>
            <a:off x="8321040" y="3310128"/>
            <a:ext cx="256032" cy="256032"/>
          </a:xfrm>
          <a:prstGeom prst="rect">
            <a:avLst/>
          </a:prstGeom>
        </p:spPr>
      </p:pic>
      <p:sp>
        <p:nvSpPr>
          <p:cNvPr id="31" name="Text 24"/>
          <p:cNvSpPr/>
          <p:nvPr/>
        </p:nvSpPr>
        <p:spPr>
          <a:xfrm>
            <a:off x="914400" y="3291840"/>
            <a:ext cx="7223760" cy="3200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Enable budget management with automated alerts and notifications</a:t>
            </a:r>
            <a:endParaRPr lang="en-US" sz="1200" dirty="0"/>
          </a:p>
        </p:txBody>
      </p:sp>
      <p:sp>
        <p:nvSpPr>
          <p:cNvPr id="32" name="Shape 25"/>
          <p:cNvSpPr/>
          <p:nvPr/>
        </p:nvSpPr>
        <p:spPr>
          <a:xfrm>
            <a:off x="365760" y="3749040"/>
            <a:ext cx="8412480" cy="457200"/>
          </a:xfrm>
          <a:prstGeom prst="rect">
            <a:avLst/>
          </a:prstGeom>
          <a:solidFill>
            <a:srgbClr val="FFFFFF"/>
          </a:solidFill>
          <a:ln w="10160">
            <a:solidFill>
              <a:srgbClr val="DBEAFE"/>
            </a:solidFill>
            <a:prstDash val="solid"/>
          </a:ln>
        </p:spPr>
        <p:txBody>
          <a:bodyPr/>
          <a:lstStyle/>
          <a:p>
            <a:endParaRPr lang="en-IN"/>
          </a:p>
        </p:txBody>
      </p:sp>
      <p:sp>
        <p:nvSpPr>
          <p:cNvPr id="33" name="Shape 26"/>
          <p:cNvSpPr/>
          <p:nvPr/>
        </p:nvSpPr>
        <p:spPr>
          <a:xfrm>
            <a:off x="438912" y="3803904"/>
            <a:ext cx="347472" cy="347472"/>
          </a:xfrm>
          <a:prstGeom prst="ellipse">
            <a:avLst/>
          </a:prstGeom>
          <a:solidFill>
            <a:srgbClr val="3B82F6"/>
          </a:solidFill>
          <a:ln w="12700">
            <a:solidFill>
              <a:srgbClr val="3B82F6"/>
            </a:solidFill>
            <a:prstDash val="solid"/>
          </a:ln>
        </p:spPr>
        <p:txBody>
          <a:bodyPr/>
          <a:lstStyle/>
          <a:p>
            <a:endParaRPr lang="en-IN"/>
          </a:p>
        </p:txBody>
      </p:sp>
      <p:sp>
        <p:nvSpPr>
          <p:cNvPr id="34" name="Text 27"/>
          <p:cNvSpPr/>
          <p:nvPr/>
        </p:nvSpPr>
        <p:spPr>
          <a:xfrm>
            <a:off x="429768" y="3822192"/>
            <a:ext cx="3657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pic>
        <p:nvPicPr>
          <p:cNvPr id="35" name="Image 5" descr="preencoded.png"/>
          <p:cNvPicPr>
            <a:picLocks noChangeAspect="1"/>
          </p:cNvPicPr>
          <p:nvPr/>
        </p:nvPicPr>
        <p:blipFill>
          <a:blip r:embed="rId3"/>
          <a:stretch>
            <a:fillRect/>
          </a:stretch>
        </p:blipFill>
        <p:spPr>
          <a:xfrm>
            <a:off x="8321040" y="3840480"/>
            <a:ext cx="256032" cy="256032"/>
          </a:xfrm>
          <a:prstGeom prst="rect">
            <a:avLst/>
          </a:prstGeom>
        </p:spPr>
      </p:pic>
      <p:sp>
        <p:nvSpPr>
          <p:cNvPr id="36" name="Text 28"/>
          <p:cNvSpPr/>
          <p:nvPr/>
        </p:nvSpPr>
        <p:spPr>
          <a:xfrm>
            <a:off x="914400" y="3822192"/>
            <a:ext cx="7223760" cy="3200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Integrate financial news feed to help users make informed decisions</a:t>
            </a:r>
            <a:endParaRPr lang="en-US" sz="1200" dirty="0"/>
          </a:p>
        </p:txBody>
      </p:sp>
      <p:sp>
        <p:nvSpPr>
          <p:cNvPr id="37" name="Shape 29"/>
          <p:cNvSpPr/>
          <p:nvPr/>
        </p:nvSpPr>
        <p:spPr>
          <a:xfrm>
            <a:off x="365760" y="4279392"/>
            <a:ext cx="8412480" cy="457200"/>
          </a:xfrm>
          <a:prstGeom prst="rect">
            <a:avLst/>
          </a:prstGeom>
          <a:solidFill>
            <a:srgbClr val="EFF6FF"/>
          </a:solidFill>
          <a:ln w="10160">
            <a:solidFill>
              <a:srgbClr val="DBEAFE"/>
            </a:solidFill>
            <a:prstDash val="solid"/>
          </a:ln>
        </p:spPr>
        <p:txBody>
          <a:bodyPr/>
          <a:lstStyle/>
          <a:p>
            <a:endParaRPr lang="en-IN" dirty="0"/>
          </a:p>
        </p:txBody>
      </p:sp>
      <p:sp>
        <p:nvSpPr>
          <p:cNvPr id="38" name="Shape 30"/>
          <p:cNvSpPr/>
          <p:nvPr/>
        </p:nvSpPr>
        <p:spPr>
          <a:xfrm>
            <a:off x="438912" y="4334256"/>
            <a:ext cx="347472" cy="347472"/>
          </a:xfrm>
          <a:prstGeom prst="ellipse">
            <a:avLst/>
          </a:prstGeom>
          <a:solidFill>
            <a:srgbClr val="3B82F6"/>
          </a:solidFill>
          <a:ln w="12700">
            <a:solidFill>
              <a:srgbClr val="3B82F6"/>
            </a:solidFill>
            <a:prstDash val="solid"/>
          </a:ln>
        </p:spPr>
        <p:txBody>
          <a:bodyPr/>
          <a:lstStyle/>
          <a:p>
            <a:endParaRPr lang="en-IN"/>
          </a:p>
        </p:txBody>
      </p:sp>
      <p:sp>
        <p:nvSpPr>
          <p:cNvPr id="39" name="Text 31"/>
          <p:cNvSpPr/>
          <p:nvPr/>
        </p:nvSpPr>
        <p:spPr>
          <a:xfrm>
            <a:off x="429768" y="4352544"/>
            <a:ext cx="3657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pic>
        <p:nvPicPr>
          <p:cNvPr id="40" name="Image 6" descr="preencoded.png"/>
          <p:cNvPicPr>
            <a:picLocks noChangeAspect="1"/>
          </p:cNvPicPr>
          <p:nvPr/>
        </p:nvPicPr>
        <p:blipFill>
          <a:blip r:embed="rId3"/>
          <a:stretch>
            <a:fillRect/>
          </a:stretch>
        </p:blipFill>
        <p:spPr>
          <a:xfrm>
            <a:off x="8321040" y="4370832"/>
            <a:ext cx="256032" cy="256032"/>
          </a:xfrm>
          <a:prstGeom prst="rect">
            <a:avLst/>
          </a:prstGeom>
        </p:spPr>
      </p:pic>
      <p:sp>
        <p:nvSpPr>
          <p:cNvPr id="41" name="Text 32"/>
          <p:cNvSpPr/>
          <p:nvPr/>
        </p:nvSpPr>
        <p:spPr>
          <a:xfrm>
            <a:off x="914400" y="4352544"/>
            <a:ext cx="7223760" cy="320040"/>
          </a:xfrm>
          <a:prstGeom prst="rect">
            <a:avLst/>
          </a:prstGeom>
          <a:noFill/>
          <a:ln/>
        </p:spPr>
        <p:txBody>
          <a:bodyPr wrap="square" lIns="0" tIns="0" rIns="0" bIns="0" rtlCol="0" anchor="ctr"/>
          <a:lstStyle/>
          <a:p>
            <a:r>
              <a:rPr lang="en-US" sz="1200" dirty="0"/>
              <a:t>Leverage AI-driven insights to analyze user data and provide intelligent, actionable recommendations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txBody>
          <a:bodyPr/>
          <a:lstStyle/>
          <a:p>
            <a:endParaRPr lang="en-IN"/>
          </a:p>
        </p:txBody>
      </p:sp>
      <p:sp>
        <p:nvSpPr>
          <p:cNvPr id="3" name="Text 1"/>
          <p:cNvSpPr/>
          <p:nvPr/>
        </p:nvSpPr>
        <p:spPr>
          <a:xfrm>
            <a:off x="457200" y="109728"/>
            <a:ext cx="7772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System Overview</a:t>
            </a:r>
            <a:endParaRPr lang="en-US" sz="2400" dirty="0"/>
          </a:p>
        </p:txBody>
      </p:sp>
      <p:sp>
        <p:nvSpPr>
          <p:cNvPr id="4" name="Text 2"/>
          <p:cNvSpPr/>
          <p:nvPr/>
        </p:nvSpPr>
        <p:spPr>
          <a:xfrm>
            <a:off x="457200" y="640080"/>
            <a:ext cx="7772400" cy="228600"/>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High-level view of the application and its cloud components</a:t>
            </a:r>
            <a:endParaRPr lang="en-US" sz="1100" dirty="0"/>
          </a:p>
        </p:txBody>
      </p:sp>
      <p:sp>
        <p:nvSpPr>
          <p:cNvPr id="5" name="Shape 3"/>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IN"/>
          </a:p>
        </p:txBody>
      </p:sp>
      <p:sp>
        <p:nvSpPr>
          <p:cNvPr id="6" name="Text 4"/>
          <p:cNvSpPr/>
          <p:nvPr/>
        </p:nvSpPr>
        <p:spPr>
          <a:xfrm>
            <a:off x="274320" y="4896612"/>
            <a:ext cx="8595360" cy="182880"/>
          </a:xfrm>
          <a:prstGeom prst="rect">
            <a:avLst/>
          </a:prstGeom>
          <a:noFill/>
          <a:ln/>
        </p:spPr>
        <p:txBody>
          <a:bodyPr wrap="square" lIns="0" tIns="0" rIns="0" bIns="0" rtlCol="0" anchor="ctr"/>
          <a:lstStyle/>
          <a:p>
            <a:pPr marL="0" indent="0">
              <a:buNone/>
            </a:pPr>
            <a:r>
              <a:rPr lang="en-US" sz="800" dirty="0">
                <a:solidFill>
                  <a:srgbClr val="94A3B8"/>
                </a:solidFill>
              </a:rPr>
              <a:t>Fintracker — Cloud-Based Personal Finance Management System  |  Cloud Computing &amp; AI Services</a:t>
            </a:r>
            <a:endParaRPr lang="en-US" sz="800" dirty="0"/>
          </a:p>
        </p:txBody>
      </p:sp>
      <p:sp>
        <p:nvSpPr>
          <p:cNvPr id="7" name="Shape 5"/>
          <p:cNvSpPr/>
          <p:nvPr/>
        </p:nvSpPr>
        <p:spPr>
          <a:xfrm>
            <a:off x="334417" y="1024128"/>
            <a:ext cx="3931920" cy="356616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dirty="0"/>
          </a:p>
        </p:txBody>
      </p:sp>
      <p:sp>
        <p:nvSpPr>
          <p:cNvPr id="9" name="Text 7"/>
          <p:cNvSpPr/>
          <p:nvPr/>
        </p:nvSpPr>
        <p:spPr>
          <a:xfrm>
            <a:off x="457200" y="768096"/>
            <a:ext cx="3602966" cy="3842004"/>
          </a:xfrm>
          <a:prstGeom prst="rect">
            <a:avLst/>
          </a:prstGeom>
          <a:noFill/>
          <a:ln/>
        </p:spPr>
        <p:txBody>
          <a:bodyPr wrap="square" rtlCol="0" anchor="ctr"/>
          <a:lstStyle/>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Full-stack web application built with React + TypeScript</a:t>
            </a:r>
            <a:endParaRPr lang="en-US" sz="1100" dirty="0"/>
          </a:p>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Firebase cloud backend (Auth + Firestore + Hosting)</a:t>
            </a:r>
            <a:endParaRPr lang="en-US" sz="1100" dirty="0"/>
          </a:p>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Secure sign-up, login, and personal financial data access</a:t>
            </a:r>
            <a:endParaRPr lang="en-US" sz="1100" dirty="0"/>
          </a:p>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Real-time data sync across sessions</a:t>
            </a:r>
            <a:endParaRPr lang="en-US" sz="1100" dirty="0"/>
          </a:p>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Protected routes — each user sees only their own data</a:t>
            </a:r>
            <a:endParaRPr lang="en-US" sz="1100" dirty="0"/>
          </a:p>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Responsive UI on desktop and mobile browsers</a:t>
            </a:r>
            <a:endParaRPr lang="en-US" sz="1100" dirty="0"/>
          </a:p>
          <a:p>
            <a:pPr marL="342900" indent="-342900">
              <a:spcAft>
                <a:spcPts val="500"/>
              </a:spcAft>
              <a:buSzPct val="100000"/>
              <a:buChar char="•"/>
            </a:pPr>
            <a:r>
              <a:rPr lang="en-US" sz="1100" b="1" dirty="0">
                <a:solidFill>
                  <a:srgbClr val="1A56DB"/>
                </a:solidFill>
                <a:latin typeface="Calibri" pitchFamily="34" charset="0"/>
                <a:ea typeface="Calibri" pitchFamily="34" charset="-122"/>
                <a:cs typeface="Calibri" pitchFamily="34" charset="-120"/>
              </a:rPr>
              <a:t>LLM Based Insights Module — chatbot for real-time user support</a:t>
            </a:r>
            <a:endParaRPr lang="en-US" sz="1100" dirty="0"/>
          </a:p>
        </p:txBody>
      </p:sp>
      <p:sp>
        <p:nvSpPr>
          <p:cNvPr id="10" name="Shape 8"/>
          <p:cNvSpPr/>
          <p:nvPr/>
        </p:nvSpPr>
        <p:spPr>
          <a:xfrm>
            <a:off x="4572000" y="1054100"/>
            <a:ext cx="2057400" cy="876300"/>
          </a:xfrm>
          <a:prstGeom prst="rect">
            <a:avLst/>
          </a:prstGeom>
          <a:solidFill>
            <a:srgbClr val="FFFFFF"/>
          </a:solidFill>
          <a:ln w="19050">
            <a:solidFill>
              <a:srgbClr val="3B82F6"/>
            </a:solidFill>
            <a:prstDash val="solid"/>
          </a:ln>
          <a:effectLst>
            <a:outerShdw blurRad="101600" dist="38100" dir="8100000" algn="bl" rotWithShape="0">
              <a:srgbClr val="000000">
                <a:alpha val="12000"/>
              </a:srgbClr>
            </a:outerShdw>
          </a:effectLst>
        </p:spPr>
        <p:txBody>
          <a:bodyPr/>
          <a:lstStyle/>
          <a:p>
            <a:endParaRPr lang="en-IN"/>
          </a:p>
        </p:txBody>
      </p:sp>
      <p:sp>
        <p:nvSpPr>
          <p:cNvPr id="11" name="Shape 9"/>
          <p:cNvSpPr/>
          <p:nvPr/>
        </p:nvSpPr>
        <p:spPr>
          <a:xfrm>
            <a:off x="4663440" y="1143000"/>
            <a:ext cx="411480" cy="411480"/>
          </a:xfrm>
          <a:prstGeom prst="ellipse">
            <a:avLst/>
          </a:prstGeom>
          <a:solidFill>
            <a:srgbClr val="3B82F6"/>
          </a:solidFill>
          <a:ln w="12700">
            <a:solidFill>
              <a:srgbClr val="3B82F6"/>
            </a:solidFill>
            <a:prstDash val="solid"/>
          </a:ln>
        </p:spPr>
        <p:txBody>
          <a:bodyPr/>
          <a:lstStyle/>
          <a:p>
            <a:endParaRPr lang="en-IN"/>
          </a:p>
        </p:txBody>
      </p:sp>
      <p:pic>
        <p:nvPicPr>
          <p:cNvPr id="12" name="Image 0" descr="preencoded.png"/>
          <p:cNvPicPr>
            <a:picLocks noChangeAspect="1"/>
          </p:cNvPicPr>
          <p:nvPr/>
        </p:nvPicPr>
        <p:blipFill>
          <a:blip r:embed="rId3"/>
          <a:stretch>
            <a:fillRect/>
          </a:stretch>
        </p:blipFill>
        <p:spPr>
          <a:xfrm>
            <a:off x="4690872" y="1164336"/>
            <a:ext cx="356616" cy="356616"/>
          </a:xfrm>
          <a:prstGeom prst="rect">
            <a:avLst/>
          </a:prstGeom>
        </p:spPr>
      </p:pic>
      <p:sp>
        <p:nvSpPr>
          <p:cNvPr id="13" name="Text 10"/>
          <p:cNvSpPr/>
          <p:nvPr/>
        </p:nvSpPr>
        <p:spPr>
          <a:xfrm>
            <a:off x="5138928" y="1206500"/>
            <a:ext cx="1371600" cy="640080"/>
          </a:xfrm>
          <a:prstGeom prst="rect">
            <a:avLst/>
          </a:prstGeom>
          <a:noFill/>
          <a:ln/>
        </p:spPr>
        <p:txBody>
          <a:bodyPr wrap="square" lIns="0" tIns="0" rIns="0" bIns="0" rtlCol="0" anchor="ctr"/>
          <a:lstStyle/>
          <a:p>
            <a:pPr marL="0" indent="0">
              <a:buNone/>
            </a:pPr>
            <a:r>
              <a:rPr lang="en-US" sz="1050" b="1" dirty="0">
                <a:solidFill>
                  <a:srgbClr val="0A1628"/>
                </a:solidFill>
                <a:latin typeface="Calibri" pitchFamily="34" charset="0"/>
                <a:ea typeface="Calibri" pitchFamily="34" charset="-122"/>
                <a:cs typeface="Calibri" pitchFamily="34" charset="-120"/>
              </a:rPr>
              <a:t>Secure Authentication</a:t>
            </a:r>
            <a:endParaRPr lang="en-US" sz="1050" dirty="0"/>
          </a:p>
        </p:txBody>
      </p:sp>
      <p:sp>
        <p:nvSpPr>
          <p:cNvPr id="14" name="Shape 11"/>
          <p:cNvSpPr/>
          <p:nvPr/>
        </p:nvSpPr>
        <p:spPr>
          <a:xfrm>
            <a:off x="6766560" y="1054100"/>
            <a:ext cx="2057400" cy="876300"/>
          </a:xfrm>
          <a:prstGeom prst="rect">
            <a:avLst/>
          </a:prstGeom>
          <a:solidFill>
            <a:srgbClr val="FFFFFF"/>
          </a:solidFill>
          <a:ln w="19050">
            <a:solidFill>
              <a:srgbClr val="10B981"/>
            </a:solidFill>
            <a:prstDash val="solid"/>
          </a:ln>
          <a:effectLst>
            <a:outerShdw blurRad="101600" dist="38100" dir="8100000" algn="bl" rotWithShape="0">
              <a:srgbClr val="000000">
                <a:alpha val="12000"/>
              </a:srgbClr>
            </a:outerShdw>
          </a:effectLst>
        </p:spPr>
        <p:txBody>
          <a:bodyPr/>
          <a:lstStyle/>
          <a:p>
            <a:endParaRPr lang="en-IN"/>
          </a:p>
        </p:txBody>
      </p:sp>
      <p:sp>
        <p:nvSpPr>
          <p:cNvPr id="15" name="Shape 12"/>
          <p:cNvSpPr/>
          <p:nvPr/>
        </p:nvSpPr>
        <p:spPr>
          <a:xfrm>
            <a:off x="6858000" y="1143000"/>
            <a:ext cx="411480" cy="411480"/>
          </a:xfrm>
          <a:prstGeom prst="ellipse">
            <a:avLst/>
          </a:prstGeom>
          <a:solidFill>
            <a:srgbClr val="10B981"/>
          </a:solidFill>
          <a:ln w="12700">
            <a:solidFill>
              <a:srgbClr val="10B981"/>
            </a:solidFill>
            <a:prstDash val="solid"/>
          </a:ln>
        </p:spPr>
        <p:txBody>
          <a:bodyPr/>
          <a:lstStyle/>
          <a:p>
            <a:endParaRPr lang="en-IN"/>
          </a:p>
        </p:txBody>
      </p:sp>
      <p:pic>
        <p:nvPicPr>
          <p:cNvPr id="16" name="Image 1" descr="preencoded.png"/>
          <p:cNvPicPr>
            <a:picLocks noChangeAspect="1"/>
          </p:cNvPicPr>
          <p:nvPr/>
        </p:nvPicPr>
        <p:blipFill>
          <a:blip r:embed="rId4"/>
          <a:stretch>
            <a:fillRect/>
          </a:stretch>
        </p:blipFill>
        <p:spPr>
          <a:xfrm>
            <a:off x="6885432" y="1207008"/>
            <a:ext cx="356616" cy="356616"/>
          </a:xfrm>
          <a:prstGeom prst="rect">
            <a:avLst/>
          </a:prstGeom>
        </p:spPr>
      </p:pic>
      <p:sp>
        <p:nvSpPr>
          <p:cNvPr id="17" name="Text 13"/>
          <p:cNvSpPr/>
          <p:nvPr/>
        </p:nvSpPr>
        <p:spPr>
          <a:xfrm>
            <a:off x="7333488" y="1206500"/>
            <a:ext cx="1371600" cy="640080"/>
          </a:xfrm>
          <a:prstGeom prst="rect">
            <a:avLst/>
          </a:prstGeom>
          <a:noFill/>
          <a:ln/>
        </p:spPr>
        <p:txBody>
          <a:bodyPr wrap="square" lIns="0" tIns="0" rIns="0" bIns="0" rtlCol="0" anchor="ctr"/>
          <a:lstStyle/>
          <a:p>
            <a:pPr marL="0" indent="0">
              <a:buNone/>
            </a:pPr>
            <a:r>
              <a:rPr lang="en-US" sz="1050" b="1" dirty="0">
                <a:solidFill>
                  <a:srgbClr val="0A1628"/>
                </a:solidFill>
                <a:latin typeface="Calibri" pitchFamily="34" charset="0"/>
                <a:ea typeface="Calibri" pitchFamily="34" charset="-122"/>
                <a:cs typeface="Calibri" pitchFamily="34" charset="-120"/>
              </a:rPr>
              <a:t>Transaction Management</a:t>
            </a:r>
            <a:endParaRPr lang="en-US" sz="1050" dirty="0"/>
          </a:p>
        </p:txBody>
      </p:sp>
      <p:sp>
        <p:nvSpPr>
          <p:cNvPr id="18" name="Shape 14"/>
          <p:cNvSpPr/>
          <p:nvPr/>
        </p:nvSpPr>
        <p:spPr>
          <a:xfrm>
            <a:off x="4572000" y="2070100"/>
            <a:ext cx="2057400" cy="876300"/>
          </a:xfrm>
          <a:prstGeom prst="rect">
            <a:avLst/>
          </a:prstGeom>
          <a:solidFill>
            <a:srgbClr val="FFFFFF"/>
          </a:solidFill>
          <a:ln w="19050">
            <a:solidFill>
              <a:srgbClr val="F59E0B"/>
            </a:solidFill>
            <a:prstDash val="solid"/>
          </a:ln>
          <a:effectLst>
            <a:outerShdw blurRad="101600" dist="38100" dir="8100000" algn="bl" rotWithShape="0">
              <a:srgbClr val="000000">
                <a:alpha val="12000"/>
              </a:srgbClr>
            </a:outerShdw>
          </a:effectLst>
        </p:spPr>
        <p:txBody>
          <a:bodyPr/>
          <a:lstStyle/>
          <a:p>
            <a:endParaRPr lang="en-IN"/>
          </a:p>
        </p:txBody>
      </p:sp>
      <p:sp>
        <p:nvSpPr>
          <p:cNvPr id="19" name="Shape 15"/>
          <p:cNvSpPr/>
          <p:nvPr/>
        </p:nvSpPr>
        <p:spPr>
          <a:xfrm>
            <a:off x="4663440" y="2159000"/>
            <a:ext cx="411480" cy="411480"/>
          </a:xfrm>
          <a:prstGeom prst="ellipse">
            <a:avLst/>
          </a:prstGeom>
          <a:solidFill>
            <a:srgbClr val="F59E0B"/>
          </a:solidFill>
          <a:ln w="12700">
            <a:solidFill>
              <a:srgbClr val="F59E0B"/>
            </a:solidFill>
            <a:prstDash val="solid"/>
          </a:ln>
        </p:spPr>
        <p:txBody>
          <a:bodyPr/>
          <a:lstStyle/>
          <a:p>
            <a:endParaRPr lang="en-IN"/>
          </a:p>
        </p:txBody>
      </p:sp>
      <p:pic>
        <p:nvPicPr>
          <p:cNvPr id="20" name="Image 2" descr="preencoded.png"/>
          <p:cNvPicPr>
            <a:picLocks noChangeAspect="1"/>
          </p:cNvPicPr>
          <p:nvPr/>
        </p:nvPicPr>
        <p:blipFill>
          <a:blip r:embed="rId5"/>
          <a:stretch>
            <a:fillRect/>
          </a:stretch>
        </p:blipFill>
        <p:spPr>
          <a:xfrm>
            <a:off x="4690872" y="2185924"/>
            <a:ext cx="356616" cy="356616"/>
          </a:xfrm>
          <a:prstGeom prst="rect">
            <a:avLst/>
          </a:prstGeom>
        </p:spPr>
      </p:pic>
      <p:sp>
        <p:nvSpPr>
          <p:cNvPr id="21" name="Text 16"/>
          <p:cNvSpPr/>
          <p:nvPr/>
        </p:nvSpPr>
        <p:spPr>
          <a:xfrm>
            <a:off x="5138928" y="2222500"/>
            <a:ext cx="1371600" cy="640080"/>
          </a:xfrm>
          <a:prstGeom prst="rect">
            <a:avLst/>
          </a:prstGeom>
          <a:noFill/>
          <a:ln/>
        </p:spPr>
        <p:txBody>
          <a:bodyPr wrap="square" lIns="0" tIns="0" rIns="0" bIns="0" rtlCol="0" anchor="ctr"/>
          <a:lstStyle/>
          <a:p>
            <a:pPr marL="0" indent="0">
              <a:buNone/>
            </a:pPr>
            <a:r>
              <a:rPr lang="en-US" sz="1050" b="1" dirty="0">
                <a:solidFill>
                  <a:srgbClr val="0A1628"/>
                </a:solidFill>
                <a:latin typeface="Calibri" pitchFamily="34" charset="0"/>
                <a:ea typeface="Calibri" pitchFamily="34" charset="-122"/>
                <a:cs typeface="Calibri" pitchFamily="34" charset="-120"/>
              </a:rPr>
              <a:t>Dashboard &amp; Charts</a:t>
            </a:r>
            <a:endParaRPr lang="en-US" sz="1050" dirty="0"/>
          </a:p>
        </p:txBody>
      </p:sp>
      <p:sp>
        <p:nvSpPr>
          <p:cNvPr id="22" name="Shape 17"/>
          <p:cNvSpPr/>
          <p:nvPr/>
        </p:nvSpPr>
        <p:spPr>
          <a:xfrm>
            <a:off x="6766560" y="2070100"/>
            <a:ext cx="2057400" cy="876300"/>
          </a:xfrm>
          <a:prstGeom prst="rect">
            <a:avLst/>
          </a:prstGeom>
          <a:solidFill>
            <a:srgbClr val="FFFFFF"/>
          </a:solidFill>
          <a:ln w="19050">
            <a:solidFill>
              <a:srgbClr val="EF4444"/>
            </a:solidFill>
            <a:prstDash val="solid"/>
          </a:ln>
          <a:effectLst>
            <a:outerShdw blurRad="101600" dist="38100" dir="8100000" algn="bl" rotWithShape="0">
              <a:srgbClr val="000000">
                <a:alpha val="12000"/>
              </a:srgbClr>
            </a:outerShdw>
          </a:effectLst>
        </p:spPr>
        <p:txBody>
          <a:bodyPr/>
          <a:lstStyle/>
          <a:p>
            <a:endParaRPr lang="en-IN"/>
          </a:p>
        </p:txBody>
      </p:sp>
      <p:sp>
        <p:nvSpPr>
          <p:cNvPr id="23" name="Shape 18"/>
          <p:cNvSpPr/>
          <p:nvPr/>
        </p:nvSpPr>
        <p:spPr>
          <a:xfrm>
            <a:off x="6858000" y="2159000"/>
            <a:ext cx="411480" cy="411480"/>
          </a:xfrm>
          <a:prstGeom prst="ellipse">
            <a:avLst/>
          </a:prstGeom>
          <a:solidFill>
            <a:srgbClr val="EF4444"/>
          </a:solidFill>
          <a:ln w="12700">
            <a:solidFill>
              <a:srgbClr val="EF4444"/>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6885432" y="2185924"/>
            <a:ext cx="356616" cy="356616"/>
          </a:xfrm>
          <a:prstGeom prst="rect">
            <a:avLst/>
          </a:prstGeom>
        </p:spPr>
      </p:pic>
      <p:sp>
        <p:nvSpPr>
          <p:cNvPr id="25" name="Text 19"/>
          <p:cNvSpPr/>
          <p:nvPr/>
        </p:nvSpPr>
        <p:spPr>
          <a:xfrm>
            <a:off x="7333488" y="2222500"/>
            <a:ext cx="1371600" cy="640080"/>
          </a:xfrm>
          <a:prstGeom prst="rect">
            <a:avLst/>
          </a:prstGeom>
          <a:noFill/>
          <a:ln/>
        </p:spPr>
        <p:txBody>
          <a:bodyPr wrap="square" lIns="0" tIns="0" rIns="0" bIns="0" rtlCol="0" anchor="ctr"/>
          <a:lstStyle/>
          <a:p>
            <a:pPr marL="0" indent="0">
              <a:buNone/>
            </a:pPr>
            <a:r>
              <a:rPr lang="en-US" sz="1050" b="1" dirty="0">
                <a:solidFill>
                  <a:srgbClr val="0A1628"/>
                </a:solidFill>
                <a:latin typeface="Calibri" pitchFamily="34" charset="0"/>
                <a:ea typeface="Calibri" pitchFamily="34" charset="-122"/>
                <a:cs typeface="Calibri" pitchFamily="34" charset="-120"/>
              </a:rPr>
              <a:t>Budget Alerts</a:t>
            </a:r>
            <a:endParaRPr lang="en-US" sz="1050" dirty="0"/>
          </a:p>
        </p:txBody>
      </p:sp>
      <p:sp>
        <p:nvSpPr>
          <p:cNvPr id="26" name="Shape 20"/>
          <p:cNvSpPr/>
          <p:nvPr/>
        </p:nvSpPr>
        <p:spPr>
          <a:xfrm>
            <a:off x="4572000" y="3086100"/>
            <a:ext cx="2057400" cy="876300"/>
          </a:xfrm>
          <a:prstGeom prst="rect">
            <a:avLst/>
          </a:prstGeom>
          <a:solidFill>
            <a:srgbClr val="FFFFFF"/>
          </a:solidFill>
          <a:ln w="19050">
            <a:solidFill>
              <a:srgbClr val="8B5CF6"/>
            </a:solidFill>
            <a:prstDash val="solid"/>
          </a:ln>
          <a:effectLst>
            <a:outerShdw blurRad="101600" dist="38100" dir="8100000" algn="bl" rotWithShape="0">
              <a:srgbClr val="000000">
                <a:alpha val="12000"/>
              </a:srgbClr>
            </a:outerShdw>
          </a:effectLst>
        </p:spPr>
        <p:txBody>
          <a:bodyPr/>
          <a:lstStyle/>
          <a:p>
            <a:endParaRPr lang="en-IN"/>
          </a:p>
        </p:txBody>
      </p:sp>
      <p:sp>
        <p:nvSpPr>
          <p:cNvPr id="27" name="Shape 21"/>
          <p:cNvSpPr/>
          <p:nvPr/>
        </p:nvSpPr>
        <p:spPr>
          <a:xfrm>
            <a:off x="4663440" y="3175000"/>
            <a:ext cx="411480" cy="411480"/>
          </a:xfrm>
          <a:prstGeom prst="ellipse">
            <a:avLst/>
          </a:prstGeom>
          <a:solidFill>
            <a:srgbClr val="8B5CF6"/>
          </a:solidFill>
          <a:ln w="12700">
            <a:solidFill>
              <a:srgbClr val="8B5CF6"/>
            </a:solidFill>
            <a:prstDash val="solid"/>
          </a:ln>
        </p:spPr>
        <p:txBody>
          <a:bodyPr/>
          <a:lstStyle/>
          <a:p>
            <a:endParaRPr lang="en-IN"/>
          </a:p>
        </p:txBody>
      </p:sp>
      <p:pic>
        <p:nvPicPr>
          <p:cNvPr id="28" name="Image 4" descr="preencoded.png"/>
          <p:cNvPicPr>
            <a:picLocks noChangeAspect="1"/>
          </p:cNvPicPr>
          <p:nvPr/>
        </p:nvPicPr>
        <p:blipFill>
          <a:blip r:embed="rId7"/>
          <a:stretch>
            <a:fillRect/>
          </a:stretch>
        </p:blipFill>
        <p:spPr>
          <a:xfrm>
            <a:off x="4686961" y="3201924"/>
            <a:ext cx="356616" cy="356616"/>
          </a:xfrm>
          <a:prstGeom prst="rect">
            <a:avLst/>
          </a:prstGeom>
        </p:spPr>
      </p:pic>
      <p:sp>
        <p:nvSpPr>
          <p:cNvPr id="29" name="Text 22"/>
          <p:cNvSpPr/>
          <p:nvPr/>
        </p:nvSpPr>
        <p:spPr>
          <a:xfrm>
            <a:off x="5138928" y="3238500"/>
            <a:ext cx="1371600" cy="640080"/>
          </a:xfrm>
          <a:prstGeom prst="rect">
            <a:avLst/>
          </a:prstGeom>
          <a:noFill/>
          <a:ln/>
        </p:spPr>
        <p:txBody>
          <a:bodyPr wrap="square" lIns="0" tIns="0" rIns="0" bIns="0" rtlCol="0" anchor="ctr"/>
          <a:lstStyle/>
          <a:p>
            <a:pPr marL="0" indent="0">
              <a:buNone/>
            </a:pPr>
            <a:r>
              <a:rPr lang="en-US" sz="1050" b="1" dirty="0">
                <a:solidFill>
                  <a:srgbClr val="0A1628"/>
                </a:solidFill>
                <a:latin typeface="Calibri" pitchFamily="34" charset="0"/>
                <a:ea typeface="Calibri" pitchFamily="34" charset="-122"/>
                <a:cs typeface="Calibri" pitchFamily="34" charset="-120"/>
              </a:rPr>
              <a:t>Financial News Feed</a:t>
            </a:r>
            <a:endParaRPr lang="en-US" sz="1050" dirty="0"/>
          </a:p>
        </p:txBody>
      </p:sp>
      <p:sp>
        <p:nvSpPr>
          <p:cNvPr id="30" name="Shape 23"/>
          <p:cNvSpPr/>
          <p:nvPr/>
        </p:nvSpPr>
        <p:spPr>
          <a:xfrm>
            <a:off x="6766560" y="3086100"/>
            <a:ext cx="2057400" cy="876300"/>
          </a:xfrm>
          <a:prstGeom prst="rect">
            <a:avLst/>
          </a:prstGeom>
          <a:solidFill>
            <a:srgbClr val="FFFFFF"/>
          </a:solidFill>
          <a:ln w="19050">
            <a:solidFill>
              <a:srgbClr val="64748B"/>
            </a:solidFill>
            <a:prstDash val="solid"/>
          </a:ln>
          <a:effectLst>
            <a:outerShdw blurRad="101600" dist="38100" dir="8100000" algn="bl" rotWithShape="0">
              <a:srgbClr val="000000">
                <a:alpha val="12000"/>
              </a:srgbClr>
            </a:outerShdw>
          </a:effectLst>
        </p:spPr>
        <p:txBody>
          <a:bodyPr/>
          <a:lstStyle/>
          <a:p>
            <a:endParaRPr lang="en-IN"/>
          </a:p>
        </p:txBody>
      </p:sp>
      <p:sp>
        <p:nvSpPr>
          <p:cNvPr id="31" name="Shape 24"/>
          <p:cNvSpPr/>
          <p:nvPr/>
        </p:nvSpPr>
        <p:spPr>
          <a:xfrm>
            <a:off x="6858000" y="3175000"/>
            <a:ext cx="411480" cy="411480"/>
          </a:xfrm>
          <a:prstGeom prst="ellipse">
            <a:avLst/>
          </a:prstGeom>
          <a:solidFill>
            <a:srgbClr val="64748B"/>
          </a:solidFill>
          <a:ln w="12700">
            <a:solidFill>
              <a:srgbClr val="64748B"/>
            </a:solidFill>
            <a:prstDash val="solid"/>
          </a:ln>
        </p:spPr>
        <p:txBody>
          <a:bodyPr/>
          <a:lstStyle/>
          <a:p>
            <a:endParaRPr lang="en-IN"/>
          </a:p>
        </p:txBody>
      </p:sp>
      <p:pic>
        <p:nvPicPr>
          <p:cNvPr id="32" name="Image 5" descr="preencoded.png"/>
          <p:cNvPicPr>
            <a:picLocks noChangeAspect="1"/>
          </p:cNvPicPr>
          <p:nvPr/>
        </p:nvPicPr>
        <p:blipFill>
          <a:blip r:embed="rId8"/>
          <a:stretch>
            <a:fillRect/>
          </a:stretch>
        </p:blipFill>
        <p:spPr>
          <a:xfrm>
            <a:off x="6885432" y="3201924"/>
            <a:ext cx="356616" cy="356616"/>
          </a:xfrm>
          <a:prstGeom prst="rect">
            <a:avLst/>
          </a:prstGeom>
        </p:spPr>
      </p:pic>
      <p:sp>
        <p:nvSpPr>
          <p:cNvPr id="33" name="Text 25"/>
          <p:cNvSpPr/>
          <p:nvPr/>
        </p:nvSpPr>
        <p:spPr>
          <a:xfrm>
            <a:off x="7333488" y="3238500"/>
            <a:ext cx="1371600" cy="640080"/>
          </a:xfrm>
          <a:prstGeom prst="rect">
            <a:avLst/>
          </a:prstGeom>
          <a:noFill/>
          <a:ln/>
        </p:spPr>
        <p:txBody>
          <a:bodyPr wrap="square" lIns="0" tIns="0" rIns="0" bIns="0" rtlCol="0" anchor="ctr"/>
          <a:lstStyle/>
          <a:p>
            <a:pPr marL="0" indent="0">
              <a:buNone/>
            </a:pPr>
            <a:r>
              <a:rPr lang="en-US" sz="1050" b="1" dirty="0">
                <a:solidFill>
                  <a:srgbClr val="0A1628"/>
                </a:solidFill>
                <a:latin typeface="Calibri" pitchFamily="34" charset="0"/>
                <a:ea typeface="Calibri" pitchFamily="34" charset="-122"/>
                <a:cs typeface="Calibri" pitchFamily="34" charset="-120"/>
              </a:rPr>
              <a:t>User Settings</a:t>
            </a:r>
            <a:endParaRPr lang="en-US" sz="1050" dirty="0"/>
          </a:p>
        </p:txBody>
      </p:sp>
      <p:sp>
        <p:nvSpPr>
          <p:cNvPr id="101" name="AI Card BG"/>
          <p:cNvSpPr>
            <a:spLocks noGrp="1"/>
          </p:cNvSpPr>
          <p:nvPr/>
        </p:nvSpPr>
        <p:spPr>
          <a:xfrm>
            <a:off x="4544060" y="4091940"/>
            <a:ext cx="4318000" cy="622000"/>
          </a:xfrm>
          <a:prstGeom prst="roundRect">
            <a:avLst>
              <a:gd name="adj" fmla="val 16667"/>
            </a:avLst>
          </a:prstGeom>
          <a:solidFill>
            <a:srgbClr val="1A56DB"/>
          </a:solidFill>
          <a:ln>
            <a:noFill/>
          </a:ln>
        </p:spPr>
        <p:txBody>
          <a:bodyPr/>
          <a:lstStyle/>
          <a:p>
            <a:endParaRPr lang="en-US" dirty="0"/>
          </a:p>
        </p:txBody>
      </p:sp>
      <p:sp>
        <p:nvSpPr>
          <p:cNvPr id="102" name="AI Icon BG"/>
          <p:cNvSpPr>
            <a:spLocks noGrp="1"/>
          </p:cNvSpPr>
          <p:nvPr/>
        </p:nvSpPr>
        <p:spPr>
          <a:xfrm>
            <a:off x="4648000" y="4203700"/>
            <a:ext cx="490928" cy="406400"/>
          </a:xfrm>
          <a:prstGeom prst="ellipse">
            <a:avLst/>
          </a:prstGeom>
          <a:solidFill>
            <a:srgbClr val="3B82F6"/>
          </a:solidFill>
          <a:ln>
            <a:noFill/>
          </a:ln>
        </p:spPr>
        <p:txBody>
          <a:bodyPr anchor="ctr"/>
          <a:lstStyle/>
          <a:p>
            <a:pPr algn="ctr"/>
            <a:r>
              <a:rPr lang="en-US" sz="1000" b="1" dirty="0">
                <a:solidFill>
                  <a:srgbClr val="FFFFFF"/>
                </a:solidFill>
              </a:rPr>
              <a:t>AI</a:t>
            </a:r>
          </a:p>
        </p:txBody>
      </p:sp>
      <p:sp>
        <p:nvSpPr>
          <p:cNvPr id="103" name="AI Text"/>
          <p:cNvSpPr>
            <a:spLocks noGrp="1"/>
          </p:cNvSpPr>
          <p:nvPr/>
        </p:nvSpPr>
        <p:spPr>
          <a:xfrm>
            <a:off x="5172456" y="4073860"/>
            <a:ext cx="1727200" cy="685800"/>
          </a:xfrm>
          <a:prstGeom prst="rect">
            <a:avLst/>
          </a:prstGeom>
          <a:noFill/>
          <a:ln>
            <a:noFill/>
          </a:ln>
        </p:spPr>
        <p:txBody>
          <a:bodyPr anchor="ctr"/>
          <a:lstStyle/>
          <a:p>
            <a:pPr marL="0" indent="0">
              <a:buNone/>
            </a:pPr>
            <a:r>
              <a:rPr lang="en-US" sz="1100" b="1" dirty="0">
                <a:solidFill>
                  <a:srgbClr val="FFFFFF"/>
                </a:solidFill>
                <a:latin typeface="Calibri" pitchFamily="34" charset="0"/>
              </a:rPr>
              <a:t>AI Insights Module</a:t>
            </a:r>
          </a:p>
          <a:p>
            <a:pPr marL="0" indent="0">
              <a:buNone/>
            </a:pPr>
            <a:r>
              <a:rPr lang="en-US" sz="900" dirty="0">
                <a:solidFill>
                  <a:srgbClr val="DBEAFE"/>
                </a:solidFill>
                <a:latin typeface="Calibri" pitchFamily="34" charset="0"/>
              </a:rPr>
              <a:t>AI Chatbot for real-time user interaction and support</a:t>
            </a:r>
          </a:p>
        </p:txBody>
      </p:sp>
      <p:sp>
        <p:nvSpPr>
          <p:cNvPr id="34" name="Rectangle 33">
            <a:extLst>
              <a:ext uri="{FF2B5EF4-FFF2-40B4-BE49-F238E27FC236}">
                <a16:creationId xmlns:a16="http://schemas.microsoft.com/office/drawing/2014/main" id="{EF46ECDF-EA78-8524-2780-BD5A83323AF2}"/>
              </a:ext>
            </a:extLst>
          </p:cNvPr>
          <p:cNvSpPr/>
          <p:nvPr/>
        </p:nvSpPr>
        <p:spPr>
          <a:xfrm>
            <a:off x="897147" y="1207008"/>
            <a:ext cx="2239245" cy="3139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What is </a:t>
            </a:r>
            <a:r>
              <a:rPr lang="en-US" b="1" dirty="0" err="1">
                <a:solidFill>
                  <a:schemeClr val="tx1"/>
                </a:solidFill>
                <a:latin typeface="Times New Roman" panose="02020603050405020304" pitchFamily="18" charset="0"/>
                <a:cs typeface="Times New Roman" panose="02020603050405020304" pitchFamily="18" charset="0"/>
              </a:rPr>
              <a:t>Fintracker</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6574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txBody>
          <a:bodyPr/>
          <a:lstStyle/>
          <a:p>
            <a:endParaRPr lang="en-IN"/>
          </a:p>
        </p:txBody>
      </p:sp>
      <p:sp>
        <p:nvSpPr>
          <p:cNvPr id="3" name="Text 1"/>
          <p:cNvSpPr/>
          <p:nvPr/>
        </p:nvSpPr>
        <p:spPr>
          <a:xfrm>
            <a:off x="457200" y="109728"/>
            <a:ext cx="7772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Technologies Used</a:t>
            </a:r>
            <a:endParaRPr lang="en-US" sz="2400" dirty="0"/>
          </a:p>
        </p:txBody>
      </p:sp>
      <p:sp>
        <p:nvSpPr>
          <p:cNvPr id="4" name="Text 2"/>
          <p:cNvSpPr/>
          <p:nvPr/>
        </p:nvSpPr>
        <p:spPr>
          <a:xfrm>
            <a:off x="457200" y="640080"/>
            <a:ext cx="7772400" cy="228600"/>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Frontend stack, Cloud backend, and supporting libraries</a:t>
            </a:r>
            <a:endParaRPr lang="en-US" sz="1100" dirty="0"/>
          </a:p>
        </p:txBody>
      </p:sp>
      <p:sp>
        <p:nvSpPr>
          <p:cNvPr id="5" name="Shape 3"/>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IN" dirty="0"/>
          </a:p>
        </p:txBody>
      </p:sp>
      <p:sp>
        <p:nvSpPr>
          <p:cNvPr id="6" name="Text 4"/>
          <p:cNvSpPr/>
          <p:nvPr/>
        </p:nvSpPr>
        <p:spPr>
          <a:xfrm>
            <a:off x="274320" y="4896612"/>
            <a:ext cx="8595360" cy="182880"/>
          </a:xfrm>
          <a:prstGeom prst="rect">
            <a:avLst/>
          </a:prstGeom>
          <a:noFill/>
          <a:ln/>
        </p:spPr>
        <p:txBody>
          <a:bodyPr wrap="square" lIns="0" tIns="0" rIns="0" bIns="0" rtlCol="0" anchor="ctr"/>
          <a:lstStyle/>
          <a:p>
            <a:pPr marL="0" indent="0">
              <a:buNone/>
            </a:pPr>
            <a:r>
              <a:rPr lang="en-US" sz="800" dirty="0">
                <a:solidFill>
                  <a:srgbClr val="94A3B8"/>
                </a:solidFill>
              </a:rPr>
              <a:t>Fintracker — Cloud-Based Personal Finance Management System  |  Cloud Computing &amp; AI Services</a:t>
            </a:r>
            <a:endParaRPr lang="en-US" sz="800" dirty="0"/>
          </a:p>
        </p:txBody>
      </p:sp>
      <p:sp>
        <p:nvSpPr>
          <p:cNvPr id="7" name="Shape 5"/>
          <p:cNvSpPr/>
          <p:nvPr/>
        </p:nvSpPr>
        <p:spPr>
          <a:xfrm>
            <a:off x="320040" y="1097280"/>
            <a:ext cx="201168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8" name="Shape 6"/>
          <p:cNvSpPr/>
          <p:nvPr/>
        </p:nvSpPr>
        <p:spPr>
          <a:xfrm>
            <a:off x="320040" y="1097280"/>
            <a:ext cx="2011680" cy="457200"/>
          </a:xfrm>
          <a:prstGeom prst="rect">
            <a:avLst/>
          </a:prstGeom>
          <a:solidFill>
            <a:srgbClr val="0EA5E9"/>
          </a:solidFill>
          <a:ln w="12700">
            <a:solidFill>
              <a:srgbClr val="0EA5E9"/>
            </a:solidFill>
            <a:prstDash val="solid"/>
          </a:ln>
        </p:spPr>
        <p:txBody>
          <a:bodyPr/>
          <a:lstStyle/>
          <a:p>
            <a:endParaRPr lang="en-IN"/>
          </a:p>
        </p:txBody>
      </p:sp>
      <p:pic>
        <p:nvPicPr>
          <p:cNvPr id="9" name="Image 0" descr="preencoded.png"/>
          <p:cNvPicPr>
            <a:picLocks noChangeAspect="1"/>
          </p:cNvPicPr>
          <p:nvPr/>
        </p:nvPicPr>
        <p:blipFill>
          <a:blip r:embed="rId3"/>
          <a:stretch>
            <a:fillRect/>
          </a:stretch>
        </p:blipFill>
        <p:spPr>
          <a:xfrm>
            <a:off x="393192" y="1152144"/>
            <a:ext cx="347472" cy="347472"/>
          </a:xfrm>
          <a:prstGeom prst="rect">
            <a:avLst/>
          </a:prstGeom>
        </p:spPr>
      </p:pic>
      <p:sp>
        <p:nvSpPr>
          <p:cNvPr id="10" name="Text 7"/>
          <p:cNvSpPr/>
          <p:nvPr/>
        </p:nvSpPr>
        <p:spPr>
          <a:xfrm>
            <a:off x="777240" y="1188720"/>
            <a:ext cx="146304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React 18</a:t>
            </a:r>
            <a:endParaRPr lang="en-US" sz="1100" dirty="0"/>
          </a:p>
        </p:txBody>
      </p:sp>
      <p:sp>
        <p:nvSpPr>
          <p:cNvPr id="11" name="Text 8"/>
          <p:cNvSpPr/>
          <p:nvPr/>
        </p:nvSpPr>
        <p:spPr>
          <a:xfrm>
            <a:off x="411480" y="1645920"/>
            <a:ext cx="1828800" cy="1051560"/>
          </a:xfrm>
          <a:prstGeom prst="rect">
            <a:avLst/>
          </a:prstGeom>
          <a:noFill/>
          <a:ln/>
        </p:spPr>
        <p:txBody>
          <a:bodyPr wrap="square" lIns="25400" tIns="25400" rIns="25400" bIns="2540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Component-based UI with TypeScript for type safety</a:t>
            </a:r>
            <a:endParaRPr lang="en-US" sz="950" dirty="0"/>
          </a:p>
        </p:txBody>
      </p:sp>
      <p:sp>
        <p:nvSpPr>
          <p:cNvPr id="12" name="Shape 9"/>
          <p:cNvSpPr/>
          <p:nvPr/>
        </p:nvSpPr>
        <p:spPr>
          <a:xfrm>
            <a:off x="2468880" y="1097280"/>
            <a:ext cx="201168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13" name="Shape 10"/>
          <p:cNvSpPr/>
          <p:nvPr/>
        </p:nvSpPr>
        <p:spPr>
          <a:xfrm>
            <a:off x="2468880" y="1097280"/>
            <a:ext cx="2011680" cy="457200"/>
          </a:xfrm>
          <a:prstGeom prst="rect">
            <a:avLst/>
          </a:prstGeom>
          <a:solidFill>
            <a:srgbClr val="F97316"/>
          </a:solidFill>
          <a:ln w="12700">
            <a:solidFill>
              <a:srgbClr val="F97316"/>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2542032" y="1152144"/>
            <a:ext cx="347472" cy="347472"/>
          </a:xfrm>
          <a:prstGeom prst="rect">
            <a:avLst/>
          </a:prstGeom>
        </p:spPr>
      </p:pic>
      <p:sp>
        <p:nvSpPr>
          <p:cNvPr id="15" name="Text 11"/>
          <p:cNvSpPr/>
          <p:nvPr/>
        </p:nvSpPr>
        <p:spPr>
          <a:xfrm>
            <a:off x="2926080" y="1188720"/>
            <a:ext cx="146304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Firebase</a:t>
            </a:r>
            <a:endParaRPr lang="en-US" sz="1100" dirty="0"/>
          </a:p>
        </p:txBody>
      </p:sp>
      <p:sp>
        <p:nvSpPr>
          <p:cNvPr id="16" name="Text 12"/>
          <p:cNvSpPr/>
          <p:nvPr/>
        </p:nvSpPr>
        <p:spPr>
          <a:xfrm>
            <a:off x="2560320" y="1645920"/>
            <a:ext cx="1828800" cy="1051560"/>
          </a:xfrm>
          <a:prstGeom prst="rect">
            <a:avLst/>
          </a:prstGeom>
          <a:noFill/>
          <a:ln/>
        </p:spPr>
        <p:txBody>
          <a:bodyPr wrap="square" lIns="25400" tIns="25400" rIns="25400" bIns="25400" rtlCol="0" anchor="ctr"/>
          <a:lstStyle/>
          <a:p>
            <a:pPr marL="0" indent="0">
              <a:buNone/>
            </a:pPr>
            <a:r>
              <a:rPr lang="en-US" sz="950" dirty="0">
                <a:solidFill>
                  <a:srgbClr val="64748B"/>
                </a:solidFill>
                <a:latin typeface="Calibri" pitchFamily="34" charset="0"/>
                <a:ea typeface="Calibri" pitchFamily="34" charset="-122"/>
                <a:cs typeface="Calibri" pitchFamily="34" charset="-120"/>
              </a:rPr>
              <a:t>Auth, Firestore DB, and Hosting — all cloud-managed</a:t>
            </a:r>
            <a:endParaRPr lang="en-US" sz="950" dirty="0"/>
          </a:p>
        </p:txBody>
      </p:sp>
      <p:sp>
        <p:nvSpPr>
          <p:cNvPr id="17" name="Shape 13"/>
          <p:cNvSpPr/>
          <p:nvPr/>
        </p:nvSpPr>
        <p:spPr>
          <a:xfrm>
            <a:off x="4617720" y="1097280"/>
            <a:ext cx="201168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4"/>
          <p:cNvSpPr/>
          <p:nvPr/>
        </p:nvSpPr>
        <p:spPr>
          <a:xfrm>
            <a:off x="4617720" y="1097280"/>
            <a:ext cx="2011680" cy="457200"/>
          </a:xfrm>
          <a:prstGeom prst="rect">
            <a:avLst/>
          </a:prstGeom>
          <a:solidFill>
            <a:srgbClr val="8B5CF6"/>
          </a:solidFill>
          <a:ln w="12700">
            <a:solidFill>
              <a:srgbClr val="8B5CF6"/>
            </a:solidFill>
            <a:prstDash val="solid"/>
          </a:ln>
        </p:spPr>
        <p:txBody>
          <a:bodyPr/>
          <a:lstStyle/>
          <a:p>
            <a:endParaRPr lang="en-IN"/>
          </a:p>
        </p:txBody>
      </p:sp>
      <p:pic>
        <p:nvPicPr>
          <p:cNvPr id="19" name="Image 2" descr="preencoded.png"/>
          <p:cNvPicPr>
            <a:picLocks noChangeAspect="1"/>
          </p:cNvPicPr>
          <p:nvPr/>
        </p:nvPicPr>
        <p:blipFill>
          <a:blip r:embed="rId5"/>
          <a:stretch>
            <a:fillRect/>
          </a:stretch>
        </p:blipFill>
        <p:spPr>
          <a:xfrm>
            <a:off x="4690872" y="1152144"/>
            <a:ext cx="347472" cy="347472"/>
          </a:xfrm>
          <a:prstGeom prst="rect">
            <a:avLst/>
          </a:prstGeom>
        </p:spPr>
      </p:pic>
      <p:sp>
        <p:nvSpPr>
          <p:cNvPr id="20" name="Text 15"/>
          <p:cNvSpPr/>
          <p:nvPr/>
        </p:nvSpPr>
        <p:spPr>
          <a:xfrm>
            <a:off x="5074920" y="1188720"/>
            <a:ext cx="146304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Chart.js</a:t>
            </a:r>
            <a:endParaRPr lang="en-US" sz="1100" dirty="0"/>
          </a:p>
        </p:txBody>
      </p:sp>
      <p:sp>
        <p:nvSpPr>
          <p:cNvPr id="21" name="Text 16"/>
          <p:cNvSpPr/>
          <p:nvPr/>
        </p:nvSpPr>
        <p:spPr>
          <a:xfrm>
            <a:off x="4709160" y="1645920"/>
            <a:ext cx="1828800" cy="1051560"/>
          </a:xfrm>
          <a:prstGeom prst="rect">
            <a:avLst/>
          </a:prstGeom>
          <a:noFill/>
          <a:ln/>
        </p:spPr>
        <p:txBody>
          <a:bodyPr wrap="square" lIns="25400" tIns="25400" rIns="25400" bIns="2540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Interactive charts for income/expense visualization</a:t>
            </a:r>
            <a:endParaRPr lang="en-US" sz="950" dirty="0"/>
          </a:p>
        </p:txBody>
      </p:sp>
      <p:sp>
        <p:nvSpPr>
          <p:cNvPr id="22" name="Shape 17"/>
          <p:cNvSpPr/>
          <p:nvPr/>
        </p:nvSpPr>
        <p:spPr>
          <a:xfrm>
            <a:off x="6766560" y="1097280"/>
            <a:ext cx="201168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23" name="Shape 18"/>
          <p:cNvSpPr/>
          <p:nvPr/>
        </p:nvSpPr>
        <p:spPr>
          <a:xfrm>
            <a:off x="6766560" y="1097280"/>
            <a:ext cx="2011680" cy="457200"/>
          </a:xfrm>
          <a:prstGeom prst="rect">
            <a:avLst/>
          </a:prstGeom>
          <a:solidFill>
            <a:srgbClr val="06B6D4"/>
          </a:solidFill>
          <a:ln w="12700">
            <a:solidFill>
              <a:srgbClr val="06B6D4"/>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6839712" y="1152144"/>
            <a:ext cx="347472" cy="347472"/>
          </a:xfrm>
          <a:prstGeom prst="rect">
            <a:avLst/>
          </a:prstGeom>
        </p:spPr>
      </p:pic>
      <p:sp>
        <p:nvSpPr>
          <p:cNvPr id="25" name="Text 19"/>
          <p:cNvSpPr/>
          <p:nvPr/>
        </p:nvSpPr>
        <p:spPr>
          <a:xfrm>
            <a:off x="7223760" y="1188720"/>
            <a:ext cx="146304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Tailwind CSS</a:t>
            </a:r>
            <a:endParaRPr lang="en-US" sz="1100" dirty="0"/>
          </a:p>
        </p:txBody>
      </p:sp>
      <p:sp>
        <p:nvSpPr>
          <p:cNvPr id="26" name="Text 20"/>
          <p:cNvSpPr/>
          <p:nvPr/>
        </p:nvSpPr>
        <p:spPr>
          <a:xfrm>
            <a:off x="6858000" y="1645920"/>
            <a:ext cx="1828800" cy="1051560"/>
          </a:xfrm>
          <a:prstGeom prst="rect">
            <a:avLst/>
          </a:prstGeom>
          <a:noFill/>
          <a:ln/>
        </p:spPr>
        <p:txBody>
          <a:bodyPr wrap="square" lIns="25400" tIns="25400" rIns="25400" bIns="25400" rtlCol="0" anchor="ctr"/>
          <a:lstStyle/>
          <a:p>
            <a:pPr marL="0" indent="0">
              <a:buNone/>
            </a:pPr>
            <a:r>
              <a:rPr lang="en-US" sz="950" dirty="0">
                <a:solidFill>
                  <a:srgbClr val="64748B"/>
                </a:solidFill>
                <a:latin typeface="Calibri" pitchFamily="34" charset="0"/>
                <a:ea typeface="Calibri" pitchFamily="34" charset="-122"/>
                <a:cs typeface="Calibri" pitchFamily="34" charset="-120"/>
              </a:rPr>
              <a:t>Utility-first CSS for rapid, responsive UI design</a:t>
            </a:r>
            <a:endParaRPr lang="en-US" sz="950" dirty="0"/>
          </a:p>
        </p:txBody>
      </p:sp>
      <p:sp>
        <p:nvSpPr>
          <p:cNvPr id="27" name="Shape 21"/>
          <p:cNvSpPr/>
          <p:nvPr/>
        </p:nvSpPr>
        <p:spPr>
          <a:xfrm>
            <a:off x="320040" y="2971800"/>
            <a:ext cx="201168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28" name="Shape 22"/>
          <p:cNvSpPr/>
          <p:nvPr/>
        </p:nvSpPr>
        <p:spPr>
          <a:xfrm>
            <a:off x="320040" y="2971800"/>
            <a:ext cx="2011680" cy="457200"/>
          </a:xfrm>
          <a:prstGeom prst="rect">
            <a:avLst/>
          </a:prstGeom>
          <a:solidFill>
            <a:srgbClr val="646CFF"/>
          </a:solidFill>
          <a:ln w="12700">
            <a:solidFill>
              <a:srgbClr val="646CFF"/>
            </a:solidFill>
            <a:prstDash val="solid"/>
          </a:ln>
        </p:spPr>
        <p:txBody>
          <a:bodyPr/>
          <a:lstStyle/>
          <a:p>
            <a:endParaRPr lang="en-IN"/>
          </a:p>
        </p:txBody>
      </p:sp>
      <p:pic>
        <p:nvPicPr>
          <p:cNvPr id="29" name="Image 4" descr="preencoded.png"/>
          <p:cNvPicPr>
            <a:picLocks noChangeAspect="1"/>
          </p:cNvPicPr>
          <p:nvPr/>
        </p:nvPicPr>
        <p:blipFill>
          <a:blip r:embed="rId7"/>
          <a:stretch>
            <a:fillRect/>
          </a:stretch>
        </p:blipFill>
        <p:spPr>
          <a:xfrm>
            <a:off x="393192" y="3026664"/>
            <a:ext cx="347472" cy="347472"/>
          </a:xfrm>
          <a:prstGeom prst="rect">
            <a:avLst/>
          </a:prstGeom>
        </p:spPr>
      </p:pic>
      <p:sp>
        <p:nvSpPr>
          <p:cNvPr id="30" name="Text 23"/>
          <p:cNvSpPr/>
          <p:nvPr/>
        </p:nvSpPr>
        <p:spPr>
          <a:xfrm>
            <a:off x="777240" y="3063240"/>
            <a:ext cx="146304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Vite</a:t>
            </a:r>
            <a:endParaRPr lang="en-US" sz="1100" dirty="0"/>
          </a:p>
        </p:txBody>
      </p:sp>
      <p:sp>
        <p:nvSpPr>
          <p:cNvPr id="31" name="Text 24"/>
          <p:cNvSpPr/>
          <p:nvPr/>
        </p:nvSpPr>
        <p:spPr>
          <a:xfrm>
            <a:off x="411480" y="3520440"/>
            <a:ext cx="1828800" cy="1051560"/>
          </a:xfrm>
          <a:prstGeom prst="rect">
            <a:avLst/>
          </a:prstGeom>
          <a:noFill/>
          <a:ln/>
        </p:spPr>
        <p:txBody>
          <a:bodyPr wrap="square" lIns="25400" tIns="25400" rIns="25400" bIns="25400" rtlCol="0" anchor="ctr"/>
          <a:lstStyle/>
          <a:p>
            <a:pPr marL="0" indent="0">
              <a:buNone/>
            </a:pPr>
            <a:r>
              <a:rPr lang="en-US" sz="950" dirty="0">
                <a:solidFill>
                  <a:srgbClr val="64748B"/>
                </a:solidFill>
                <a:latin typeface="Calibri" pitchFamily="34" charset="0"/>
                <a:ea typeface="Calibri" pitchFamily="34" charset="-122"/>
                <a:cs typeface="Calibri" pitchFamily="34" charset="-120"/>
              </a:rPr>
              <a:t>Fast build tool and development server for React apps</a:t>
            </a:r>
            <a:endParaRPr lang="en-US" sz="950" dirty="0"/>
          </a:p>
        </p:txBody>
      </p:sp>
      <p:sp>
        <p:nvSpPr>
          <p:cNvPr id="32" name="Shape 25"/>
          <p:cNvSpPr/>
          <p:nvPr/>
        </p:nvSpPr>
        <p:spPr>
          <a:xfrm>
            <a:off x="2468880" y="2971800"/>
            <a:ext cx="201168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33" name="Shape 26"/>
          <p:cNvSpPr/>
          <p:nvPr/>
        </p:nvSpPr>
        <p:spPr>
          <a:xfrm>
            <a:off x="2468880" y="2971800"/>
            <a:ext cx="2011680" cy="457200"/>
          </a:xfrm>
          <a:prstGeom prst="rect">
            <a:avLst/>
          </a:prstGeom>
          <a:solidFill>
            <a:srgbClr val="10B981"/>
          </a:solidFill>
          <a:ln w="12700">
            <a:solidFill>
              <a:srgbClr val="10B981"/>
            </a:solidFill>
            <a:prstDash val="solid"/>
          </a:ln>
        </p:spPr>
        <p:txBody>
          <a:bodyPr/>
          <a:lstStyle/>
          <a:p>
            <a:endParaRPr lang="en-IN"/>
          </a:p>
        </p:txBody>
      </p:sp>
      <p:pic>
        <p:nvPicPr>
          <p:cNvPr id="34" name="Image 5" descr="preencoded.png"/>
          <p:cNvPicPr>
            <a:picLocks noChangeAspect="1"/>
          </p:cNvPicPr>
          <p:nvPr/>
        </p:nvPicPr>
        <p:blipFill>
          <a:blip r:embed="rId8"/>
          <a:stretch>
            <a:fillRect/>
          </a:stretch>
        </p:blipFill>
        <p:spPr>
          <a:xfrm>
            <a:off x="2542032" y="3026664"/>
            <a:ext cx="347472" cy="347472"/>
          </a:xfrm>
          <a:prstGeom prst="rect">
            <a:avLst/>
          </a:prstGeom>
        </p:spPr>
      </p:pic>
      <p:sp>
        <p:nvSpPr>
          <p:cNvPr id="35" name="Text 27"/>
          <p:cNvSpPr/>
          <p:nvPr/>
        </p:nvSpPr>
        <p:spPr>
          <a:xfrm>
            <a:off x="2926080" y="3063240"/>
            <a:ext cx="146304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Firebase Auth</a:t>
            </a:r>
            <a:endParaRPr lang="en-US" sz="1100" dirty="0"/>
          </a:p>
        </p:txBody>
      </p:sp>
      <p:sp>
        <p:nvSpPr>
          <p:cNvPr id="36" name="Text 28"/>
          <p:cNvSpPr/>
          <p:nvPr/>
        </p:nvSpPr>
        <p:spPr>
          <a:xfrm>
            <a:off x="2560320" y="3520440"/>
            <a:ext cx="1828800" cy="1051560"/>
          </a:xfrm>
          <a:prstGeom prst="rect">
            <a:avLst/>
          </a:prstGeom>
          <a:noFill/>
          <a:ln/>
        </p:spPr>
        <p:txBody>
          <a:bodyPr wrap="square" lIns="25400" tIns="25400" rIns="25400" bIns="2540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Email/Password &amp; Google OAuth for secure login</a:t>
            </a:r>
            <a:endParaRPr lang="en-US" sz="950" dirty="0"/>
          </a:p>
        </p:txBody>
      </p:sp>
      <p:sp>
        <p:nvSpPr>
          <p:cNvPr id="37" name="Shape 29"/>
          <p:cNvSpPr/>
          <p:nvPr/>
        </p:nvSpPr>
        <p:spPr>
          <a:xfrm>
            <a:off x="4617720" y="2971800"/>
            <a:ext cx="201168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38" name="Shape 30"/>
          <p:cNvSpPr/>
          <p:nvPr/>
        </p:nvSpPr>
        <p:spPr>
          <a:xfrm>
            <a:off x="4617720" y="2971800"/>
            <a:ext cx="2011680" cy="457200"/>
          </a:xfrm>
          <a:prstGeom prst="rect">
            <a:avLst/>
          </a:prstGeom>
          <a:solidFill>
            <a:srgbClr val="FBBF24"/>
          </a:solidFill>
          <a:ln w="12700">
            <a:solidFill>
              <a:srgbClr val="FBBF24"/>
            </a:solidFill>
            <a:prstDash val="solid"/>
          </a:ln>
        </p:spPr>
        <p:txBody>
          <a:bodyPr/>
          <a:lstStyle/>
          <a:p>
            <a:endParaRPr lang="en-IN"/>
          </a:p>
        </p:txBody>
      </p:sp>
      <p:pic>
        <p:nvPicPr>
          <p:cNvPr id="39" name="Image 6" descr="preencoded.png"/>
          <p:cNvPicPr>
            <a:picLocks noChangeAspect="1"/>
          </p:cNvPicPr>
          <p:nvPr/>
        </p:nvPicPr>
        <p:blipFill>
          <a:blip r:embed="rId9"/>
          <a:stretch>
            <a:fillRect/>
          </a:stretch>
        </p:blipFill>
        <p:spPr>
          <a:xfrm>
            <a:off x="4690872" y="3026664"/>
            <a:ext cx="347472" cy="347472"/>
          </a:xfrm>
          <a:prstGeom prst="rect">
            <a:avLst/>
          </a:prstGeom>
        </p:spPr>
      </p:pic>
      <p:sp>
        <p:nvSpPr>
          <p:cNvPr id="40" name="Text 31"/>
          <p:cNvSpPr/>
          <p:nvPr/>
        </p:nvSpPr>
        <p:spPr>
          <a:xfrm>
            <a:off x="5074920" y="3063240"/>
            <a:ext cx="146304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Firestore</a:t>
            </a:r>
            <a:endParaRPr lang="en-US" sz="1100" dirty="0"/>
          </a:p>
        </p:txBody>
      </p:sp>
      <p:sp>
        <p:nvSpPr>
          <p:cNvPr id="41" name="Text 32"/>
          <p:cNvSpPr/>
          <p:nvPr/>
        </p:nvSpPr>
        <p:spPr>
          <a:xfrm>
            <a:off x="4709160" y="3520440"/>
            <a:ext cx="1828800" cy="1051560"/>
          </a:xfrm>
          <a:prstGeom prst="rect">
            <a:avLst/>
          </a:prstGeom>
          <a:noFill/>
          <a:ln/>
        </p:spPr>
        <p:txBody>
          <a:bodyPr wrap="square" lIns="25400" tIns="25400" rIns="25400" bIns="25400" rtlCol="0" anchor="ctr"/>
          <a:lstStyle/>
          <a:p>
            <a:pPr marL="0" indent="0">
              <a:buNone/>
            </a:pPr>
            <a:r>
              <a:rPr lang="en-US" sz="950" dirty="0">
                <a:solidFill>
                  <a:srgbClr val="64748B"/>
                </a:solidFill>
                <a:latin typeface="Calibri" pitchFamily="34" charset="0"/>
                <a:ea typeface="Calibri" pitchFamily="34" charset="-122"/>
                <a:cs typeface="Calibri" pitchFamily="34" charset="-120"/>
              </a:rPr>
              <a:t>NoSQL real-time cloud database for user data storage</a:t>
            </a:r>
            <a:endParaRPr lang="en-US" sz="950" dirty="0"/>
          </a:p>
        </p:txBody>
      </p:sp>
      <p:sp>
        <p:nvSpPr>
          <p:cNvPr id="42" name="Shape 33"/>
          <p:cNvSpPr/>
          <p:nvPr/>
        </p:nvSpPr>
        <p:spPr>
          <a:xfrm>
            <a:off x="6766560" y="2971800"/>
            <a:ext cx="2011680" cy="169164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43" name="Shape 34"/>
          <p:cNvSpPr/>
          <p:nvPr/>
        </p:nvSpPr>
        <p:spPr>
          <a:xfrm>
            <a:off x="6766560" y="2971800"/>
            <a:ext cx="2011680" cy="457200"/>
          </a:xfrm>
          <a:prstGeom prst="rect">
            <a:avLst/>
          </a:prstGeom>
          <a:solidFill>
            <a:srgbClr val="F472B6"/>
          </a:solidFill>
          <a:ln w="12700">
            <a:solidFill>
              <a:srgbClr val="F472B6"/>
            </a:solidFill>
            <a:prstDash val="solid"/>
          </a:ln>
        </p:spPr>
        <p:txBody>
          <a:bodyPr/>
          <a:lstStyle/>
          <a:p>
            <a:endParaRPr lang="en-IN"/>
          </a:p>
        </p:txBody>
      </p:sp>
      <p:pic>
        <p:nvPicPr>
          <p:cNvPr id="44" name="Image 7" descr="preencoded.png"/>
          <p:cNvPicPr>
            <a:picLocks noChangeAspect="1"/>
          </p:cNvPicPr>
          <p:nvPr/>
        </p:nvPicPr>
        <p:blipFill>
          <a:blip r:embed="rId10"/>
          <a:stretch>
            <a:fillRect/>
          </a:stretch>
        </p:blipFill>
        <p:spPr>
          <a:xfrm>
            <a:off x="6839712" y="3026664"/>
            <a:ext cx="347472" cy="347472"/>
          </a:xfrm>
          <a:prstGeom prst="rect">
            <a:avLst/>
          </a:prstGeom>
        </p:spPr>
      </p:pic>
      <p:sp>
        <p:nvSpPr>
          <p:cNvPr id="45" name="Text 35"/>
          <p:cNvSpPr/>
          <p:nvPr/>
        </p:nvSpPr>
        <p:spPr>
          <a:xfrm>
            <a:off x="7223760" y="3063240"/>
            <a:ext cx="146304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LLMs (Hugging Face)</a:t>
            </a:r>
            <a:endParaRPr lang="en-US" sz="1100" dirty="0"/>
          </a:p>
        </p:txBody>
      </p:sp>
      <p:sp>
        <p:nvSpPr>
          <p:cNvPr id="46" name="Text 36"/>
          <p:cNvSpPr/>
          <p:nvPr/>
        </p:nvSpPr>
        <p:spPr>
          <a:xfrm>
            <a:off x="6858000" y="3520440"/>
            <a:ext cx="1828800" cy="1051560"/>
          </a:xfrm>
          <a:prstGeom prst="rect">
            <a:avLst/>
          </a:prstGeom>
          <a:noFill/>
          <a:ln/>
        </p:spPr>
        <p:txBody>
          <a:bodyPr wrap="square" lIns="25400" tIns="25400" rIns="25400" bIns="25400" rtlCol="0" anchor="ctr"/>
          <a:lstStyle/>
          <a:p>
            <a:pPr marL="0" indent="0">
              <a:buNone/>
            </a:pPr>
            <a:r>
              <a:rPr lang="en-US" sz="950" dirty="0">
                <a:solidFill>
                  <a:srgbClr val="64748B"/>
                </a:solidFill>
                <a:latin typeface="Calibri" pitchFamily="34" charset="0"/>
                <a:ea typeface="Calibri" pitchFamily="34" charset="-122"/>
                <a:cs typeface="Calibri" pitchFamily="34" charset="-120"/>
              </a:rPr>
              <a:t>Whisper &amp; Qwen2.5 for speech and AI response generation</a:t>
            </a:r>
            <a:endParaRPr lang="en-US" sz="950" dirty="0"/>
          </a:p>
        </p:txBody>
      </p:sp>
    </p:spTree>
    <p:extLst>
      <p:ext uri="{BB962C8B-B14F-4D97-AF65-F5344CB8AC3E}">
        <p14:creationId xmlns:p14="http://schemas.microsoft.com/office/powerpoint/2010/main" val="1489556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342900" y="285750"/>
            <a:ext cx="47625" cy="381000"/>
          </a:xfrm>
          <a:prstGeom prst="rect">
            <a:avLst/>
          </a:prstGeom>
          <a:solidFill>
            <a:srgbClr val="02C39A"/>
          </a:solidFill>
          <a:ln>
            <a:noFill/>
          </a:ln>
        </p:spPr>
        <p:txBody>
          <a:bodyPr/>
          <a:lstStyle/>
          <a:p>
            <a:endParaRPr lang="en-IN" sz="1350"/>
          </a:p>
        </p:txBody>
      </p:sp>
      <p:sp>
        <p:nvSpPr>
          <p:cNvPr id="11" name="S11"/>
          <p:cNvSpPr/>
          <p:nvPr/>
        </p:nvSpPr>
        <p:spPr>
          <a:xfrm>
            <a:off x="495300" y="266700"/>
            <a:ext cx="4762500" cy="419100"/>
          </a:xfrm>
          <a:prstGeom prst="rect">
            <a:avLst/>
          </a:prstGeom>
          <a:noFill/>
          <a:ln>
            <a:noFill/>
          </a:ln>
        </p:spPr>
        <p:txBody>
          <a:bodyPr wrap="square" lIns="27432" tIns="13716" rIns="27432" bIns="13716" anchor="ctr"/>
          <a:lstStyle/>
          <a:p>
            <a:pPr algn="l">
              <a:buNone/>
            </a:pPr>
            <a:r>
              <a:rPr lang="en-US" sz="2700" b="1" dirty="0">
                <a:solidFill>
                  <a:srgbClr val="065A82"/>
                </a:solidFill>
                <a:latin typeface="Calibri"/>
              </a:rPr>
              <a:t>System Architecture</a:t>
            </a:r>
          </a:p>
        </p:txBody>
      </p:sp>
      <p:sp>
        <p:nvSpPr>
          <p:cNvPr id="20" name="S20"/>
          <p:cNvSpPr/>
          <p:nvPr/>
        </p:nvSpPr>
        <p:spPr>
          <a:xfrm>
            <a:off x="342900" y="1333500"/>
            <a:ext cx="1524000" cy="762000"/>
          </a:xfrm>
          <a:prstGeom prst="roundRect">
            <a:avLst/>
          </a:prstGeom>
          <a:solidFill>
            <a:srgbClr val="065A82"/>
          </a:solidFill>
          <a:ln>
            <a:noFill/>
          </a:ln>
          <a:effectLst>
            <a:outerShdw blurRad="38100" dist="25400" dir="5400000" algn="t" rotWithShape="0">
              <a:srgbClr val="000000">
                <a:alpha val="12000"/>
              </a:srgbClr>
            </a:outerShdw>
          </a:effectLst>
        </p:spPr>
        <p:txBody>
          <a:bodyPr wrap="square" lIns="27432" tIns="13716" rIns="27432" bIns="13716" anchor="ctr"/>
          <a:lstStyle/>
          <a:p>
            <a:pPr algn="ctr">
              <a:buNone/>
            </a:pPr>
            <a:r>
              <a:rPr lang="en-US" sz="1050" b="1" dirty="0">
                <a:solidFill>
                  <a:srgbClr val="FFFFFF"/>
                </a:solidFill>
                <a:latin typeface="Calibri"/>
              </a:rPr>
              <a:t>Browser</a:t>
            </a:r>
          </a:p>
          <a:p>
            <a:pPr algn="ctr">
              <a:buNone/>
            </a:pPr>
            <a:r>
              <a:rPr lang="en-US" sz="900" dirty="0">
                <a:solidFill>
                  <a:srgbClr val="F0F8FF"/>
                </a:solidFill>
                <a:latin typeface="Calibri"/>
              </a:rPr>
              <a:t>React SPA</a:t>
            </a:r>
          </a:p>
        </p:txBody>
      </p:sp>
      <p:sp>
        <p:nvSpPr>
          <p:cNvPr id="21" name="Arrow21"/>
          <p:cNvSpPr/>
          <p:nvPr/>
        </p:nvSpPr>
        <p:spPr>
          <a:xfrm>
            <a:off x="1905000" y="1600200"/>
            <a:ext cx="428625" cy="228600"/>
          </a:xfrm>
          <a:prstGeom prst="rightArrow">
            <a:avLst>
              <a:gd name="adj1" fmla="val 50000"/>
              <a:gd name="adj2" fmla="val 50000"/>
            </a:avLst>
          </a:prstGeom>
          <a:solidFill>
            <a:srgbClr val="02C39A"/>
          </a:solidFill>
          <a:ln>
            <a:noFill/>
          </a:ln>
        </p:spPr>
        <p:txBody>
          <a:bodyPr/>
          <a:lstStyle/>
          <a:p>
            <a:endParaRPr lang="en-IN" sz="1350"/>
          </a:p>
        </p:txBody>
      </p:sp>
      <p:sp>
        <p:nvSpPr>
          <p:cNvPr id="22" name="S22"/>
          <p:cNvSpPr/>
          <p:nvPr/>
        </p:nvSpPr>
        <p:spPr>
          <a:xfrm>
            <a:off x="2381250" y="1333500"/>
            <a:ext cx="1524000" cy="762000"/>
          </a:xfrm>
          <a:prstGeom prst="roundRect">
            <a:avLst/>
          </a:prstGeom>
          <a:solidFill>
            <a:srgbClr val="0A7EAD"/>
          </a:solidFill>
          <a:ln>
            <a:noFill/>
          </a:ln>
          <a:effectLst>
            <a:outerShdw blurRad="38100" dist="25400" dir="5400000" algn="t" rotWithShape="0">
              <a:srgbClr val="000000">
                <a:alpha val="12000"/>
              </a:srgbClr>
            </a:outerShdw>
          </a:effectLst>
        </p:spPr>
        <p:txBody>
          <a:bodyPr wrap="square" lIns="27432" tIns="13716" rIns="27432" bIns="13716" anchor="ctr"/>
          <a:lstStyle/>
          <a:p>
            <a:pPr algn="ctr">
              <a:buNone/>
            </a:pPr>
            <a:r>
              <a:rPr lang="en-US" sz="1050" b="1" dirty="0">
                <a:solidFill>
                  <a:srgbClr val="FFFFFF"/>
                </a:solidFill>
                <a:latin typeface="Calibri"/>
              </a:rPr>
              <a:t>Firebase Auth</a:t>
            </a:r>
          </a:p>
          <a:p>
            <a:pPr algn="ctr">
              <a:buNone/>
            </a:pPr>
            <a:r>
              <a:rPr lang="en-US" sz="900" dirty="0">
                <a:solidFill>
                  <a:srgbClr val="F0F8FF"/>
                </a:solidFill>
                <a:latin typeface="Calibri"/>
              </a:rPr>
              <a:t>Email + Google OAuth</a:t>
            </a:r>
          </a:p>
        </p:txBody>
      </p:sp>
      <p:sp>
        <p:nvSpPr>
          <p:cNvPr id="23" name="Arrow23"/>
          <p:cNvSpPr/>
          <p:nvPr/>
        </p:nvSpPr>
        <p:spPr>
          <a:xfrm>
            <a:off x="3943350" y="1600200"/>
            <a:ext cx="428625" cy="228600"/>
          </a:xfrm>
          <a:prstGeom prst="rightArrow">
            <a:avLst>
              <a:gd name="adj1" fmla="val 50000"/>
              <a:gd name="adj2" fmla="val 50000"/>
            </a:avLst>
          </a:prstGeom>
          <a:solidFill>
            <a:srgbClr val="02C39A"/>
          </a:solidFill>
          <a:ln>
            <a:noFill/>
          </a:ln>
        </p:spPr>
        <p:txBody>
          <a:bodyPr/>
          <a:lstStyle/>
          <a:p>
            <a:endParaRPr lang="en-IN" sz="1350"/>
          </a:p>
        </p:txBody>
      </p:sp>
      <p:sp>
        <p:nvSpPr>
          <p:cNvPr id="24" name="S24"/>
          <p:cNvSpPr/>
          <p:nvPr/>
        </p:nvSpPr>
        <p:spPr>
          <a:xfrm>
            <a:off x="4419600" y="1333500"/>
            <a:ext cx="1524000" cy="762000"/>
          </a:xfrm>
          <a:prstGeom prst="roundRect">
            <a:avLst/>
          </a:prstGeom>
          <a:solidFill>
            <a:srgbClr val="02C39A"/>
          </a:solidFill>
          <a:ln>
            <a:noFill/>
          </a:ln>
          <a:effectLst>
            <a:outerShdw blurRad="38100" dist="25400" dir="5400000" algn="t" rotWithShape="0">
              <a:srgbClr val="000000">
                <a:alpha val="12000"/>
              </a:srgbClr>
            </a:outerShdw>
          </a:effectLst>
        </p:spPr>
        <p:txBody>
          <a:bodyPr wrap="square" lIns="27432" tIns="13716" rIns="27432" bIns="13716" anchor="ctr"/>
          <a:lstStyle/>
          <a:p>
            <a:pPr algn="ctr">
              <a:buNone/>
            </a:pPr>
            <a:r>
              <a:rPr lang="en-US" sz="1050" b="1" dirty="0">
                <a:solidFill>
                  <a:srgbClr val="FFFFFF"/>
                </a:solidFill>
                <a:latin typeface="Calibri"/>
              </a:rPr>
              <a:t>Firestore DB</a:t>
            </a:r>
          </a:p>
          <a:p>
            <a:pPr algn="ctr">
              <a:buNone/>
            </a:pPr>
            <a:r>
              <a:rPr lang="en-US" sz="900" dirty="0">
                <a:solidFill>
                  <a:srgbClr val="FFFFFF"/>
                </a:solidFill>
                <a:latin typeface="Calibri"/>
              </a:rPr>
              <a:t>Real-time Sync</a:t>
            </a:r>
          </a:p>
        </p:txBody>
      </p:sp>
      <p:sp>
        <p:nvSpPr>
          <p:cNvPr id="25" name="Arrow25"/>
          <p:cNvSpPr/>
          <p:nvPr/>
        </p:nvSpPr>
        <p:spPr>
          <a:xfrm>
            <a:off x="5981700" y="1600200"/>
            <a:ext cx="428625" cy="228600"/>
          </a:xfrm>
          <a:prstGeom prst="rightArrow">
            <a:avLst>
              <a:gd name="adj1" fmla="val 50000"/>
              <a:gd name="adj2" fmla="val 50000"/>
            </a:avLst>
          </a:prstGeom>
          <a:solidFill>
            <a:srgbClr val="02C39A"/>
          </a:solidFill>
          <a:ln>
            <a:noFill/>
          </a:ln>
        </p:spPr>
        <p:txBody>
          <a:bodyPr/>
          <a:lstStyle/>
          <a:p>
            <a:endParaRPr lang="en-IN" sz="1350"/>
          </a:p>
        </p:txBody>
      </p:sp>
      <p:sp>
        <p:nvSpPr>
          <p:cNvPr id="26" name="S26"/>
          <p:cNvSpPr/>
          <p:nvPr/>
        </p:nvSpPr>
        <p:spPr>
          <a:xfrm>
            <a:off x="6457950" y="1333500"/>
            <a:ext cx="2286000" cy="762000"/>
          </a:xfrm>
          <a:prstGeom prst="roundRect">
            <a:avLst/>
          </a:prstGeom>
          <a:solidFill>
            <a:srgbClr val="065A82"/>
          </a:solidFill>
          <a:ln>
            <a:noFill/>
          </a:ln>
          <a:effectLst>
            <a:outerShdw blurRad="38100" dist="25400" dir="5400000" algn="t" rotWithShape="0">
              <a:srgbClr val="000000">
                <a:alpha val="12000"/>
              </a:srgbClr>
            </a:outerShdw>
          </a:effectLst>
        </p:spPr>
        <p:txBody>
          <a:bodyPr wrap="square" lIns="27432" tIns="13716" rIns="27432" bIns="13716" anchor="ctr"/>
          <a:lstStyle/>
          <a:p>
            <a:pPr algn="ctr">
              <a:buNone/>
            </a:pPr>
            <a:r>
              <a:rPr lang="en-US" sz="1050" b="1" dirty="0">
                <a:solidFill>
                  <a:srgbClr val="FFFFFF"/>
                </a:solidFill>
                <a:latin typeface="Calibri"/>
              </a:rPr>
              <a:t>Firebase Hosting</a:t>
            </a:r>
          </a:p>
          <a:p>
            <a:pPr algn="ctr">
              <a:buNone/>
            </a:pPr>
            <a:r>
              <a:rPr lang="en-US" sz="900" dirty="0">
                <a:solidFill>
                  <a:srgbClr val="F0F8FF"/>
                </a:solidFill>
                <a:latin typeface="Calibri"/>
              </a:rPr>
              <a:t>Production Deploy</a:t>
            </a:r>
          </a:p>
        </p:txBody>
      </p:sp>
      <p:sp>
        <p:nvSpPr>
          <p:cNvPr id="30" name="S30"/>
          <p:cNvSpPr/>
          <p:nvPr/>
        </p:nvSpPr>
        <p:spPr>
          <a:xfrm>
            <a:off x="342900" y="2476500"/>
            <a:ext cx="1905000" cy="266700"/>
          </a:xfrm>
          <a:prstGeom prst="rect">
            <a:avLst/>
          </a:prstGeom>
          <a:noFill/>
          <a:ln>
            <a:noFill/>
          </a:ln>
        </p:spPr>
        <p:txBody>
          <a:bodyPr wrap="square" lIns="27432" tIns="13716" rIns="27432" bIns="13716" anchor="ctr"/>
          <a:lstStyle/>
          <a:p>
            <a:pPr algn="l">
              <a:buNone/>
            </a:pPr>
            <a:r>
              <a:rPr lang="en-US" sz="1200" b="1" dirty="0">
                <a:solidFill>
                  <a:srgbClr val="065A82"/>
                </a:solidFill>
                <a:latin typeface="Calibri"/>
              </a:rPr>
              <a:t>External APIs</a:t>
            </a:r>
          </a:p>
        </p:txBody>
      </p:sp>
      <p:sp>
        <p:nvSpPr>
          <p:cNvPr id="31" name="S31"/>
          <p:cNvSpPr/>
          <p:nvPr/>
        </p:nvSpPr>
        <p:spPr>
          <a:xfrm>
            <a:off x="342900" y="2857500"/>
            <a:ext cx="1905000" cy="666750"/>
          </a:xfrm>
          <a:prstGeom prst="roundRect">
            <a:avLst/>
          </a:prstGeom>
          <a:solidFill>
            <a:srgbClr val="FFFFFF"/>
          </a:solidFill>
          <a:ln>
            <a:noFill/>
          </a:ln>
          <a:effectLst>
            <a:outerShdw blurRad="38100" dist="25400" dir="5400000" algn="t" rotWithShape="0">
              <a:srgbClr val="000000">
                <a:alpha val="12000"/>
              </a:srgbClr>
            </a:outerShdw>
          </a:effectLst>
        </p:spPr>
        <p:txBody>
          <a:bodyPr wrap="square" lIns="27432" tIns="13716" rIns="27432" bIns="13716" anchor="ctr"/>
          <a:lstStyle/>
          <a:p>
            <a:pPr algn="ctr">
              <a:buNone/>
            </a:pPr>
            <a:r>
              <a:rPr lang="en-US" sz="1050" b="1" dirty="0">
                <a:solidFill>
                  <a:srgbClr val="02C39A"/>
                </a:solidFill>
                <a:latin typeface="Calibri"/>
              </a:rPr>
              <a:t>Hugging Face API</a:t>
            </a:r>
          </a:p>
          <a:p>
            <a:pPr algn="ctr">
              <a:buNone/>
            </a:pPr>
            <a:r>
              <a:rPr lang="en-US" sz="900" dirty="0">
                <a:solidFill>
                  <a:srgbClr val="1A2B3C"/>
                </a:solidFill>
                <a:latin typeface="Calibri"/>
              </a:rPr>
              <a:t>Qwen2.5-7B + Whisper</a:t>
            </a:r>
          </a:p>
        </p:txBody>
      </p:sp>
      <p:sp>
        <p:nvSpPr>
          <p:cNvPr id="32" name="S32"/>
          <p:cNvSpPr/>
          <p:nvPr/>
        </p:nvSpPr>
        <p:spPr>
          <a:xfrm>
            <a:off x="2476500" y="2857500"/>
            <a:ext cx="1905000" cy="666750"/>
          </a:xfrm>
          <a:prstGeom prst="roundRect">
            <a:avLst/>
          </a:prstGeom>
          <a:solidFill>
            <a:srgbClr val="FFFFFF"/>
          </a:solidFill>
          <a:ln>
            <a:noFill/>
          </a:ln>
          <a:effectLst>
            <a:outerShdw blurRad="38100" dist="25400" dir="5400000" algn="t" rotWithShape="0">
              <a:srgbClr val="000000">
                <a:alpha val="12000"/>
              </a:srgbClr>
            </a:outerShdw>
          </a:effectLst>
        </p:spPr>
        <p:txBody>
          <a:bodyPr wrap="square" lIns="27432" tIns="13716" rIns="27432" bIns="13716" anchor="ctr"/>
          <a:lstStyle/>
          <a:p>
            <a:pPr algn="ctr">
              <a:buNone/>
            </a:pPr>
            <a:r>
              <a:rPr lang="en-US" sz="1050" b="1" dirty="0">
                <a:solidFill>
                  <a:srgbClr val="02C39A"/>
                </a:solidFill>
                <a:latin typeface="Calibri"/>
              </a:rPr>
              <a:t>NewsData.io</a:t>
            </a:r>
          </a:p>
          <a:p>
            <a:pPr algn="ctr">
              <a:buNone/>
            </a:pPr>
            <a:r>
              <a:rPr lang="en-US" sz="900" dirty="0">
                <a:solidFill>
                  <a:srgbClr val="1A2B3C"/>
                </a:solidFill>
                <a:latin typeface="Calibri"/>
              </a:rPr>
              <a:t>Financial News Feed</a:t>
            </a:r>
          </a:p>
        </p:txBody>
      </p:sp>
      <p:sp>
        <p:nvSpPr>
          <p:cNvPr id="33" name="S33"/>
          <p:cNvSpPr/>
          <p:nvPr/>
        </p:nvSpPr>
        <p:spPr>
          <a:xfrm>
            <a:off x="1295400" y="2286000"/>
            <a:ext cx="19050" cy="552450"/>
          </a:xfrm>
          <a:prstGeom prst="rect">
            <a:avLst/>
          </a:prstGeom>
          <a:solidFill>
            <a:srgbClr val="02C39A"/>
          </a:solidFill>
          <a:ln>
            <a:noFill/>
          </a:ln>
        </p:spPr>
        <p:txBody>
          <a:bodyPr/>
          <a:lstStyle/>
          <a:p>
            <a:endParaRPr lang="en-IN" sz="1350"/>
          </a:p>
        </p:txBody>
      </p:sp>
      <p:sp>
        <p:nvSpPr>
          <p:cNvPr id="34" name="S34"/>
          <p:cNvSpPr/>
          <p:nvPr/>
        </p:nvSpPr>
        <p:spPr>
          <a:xfrm>
            <a:off x="3429000" y="2286000"/>
            <a:ext cx="19050" cy="552450"/>
          </a:xfrm>
          <a:prstGeom prst="rect">
            <a:avLst/>
          </a:prstGeom>
          <a:solidFill>
            <a:srgbClr val="02C39A"/>
          </a:solidFill>
          <a:ln>
            <a:noFill/>
          </a:ln>
        </p:spPr>
        <p:txBody>
          <a:bodyPr/>
          <a:lstStyle/>
          <a:p>
            <a:endParaRPr lang="en-IN" sz="1350"/>
          </a:p>
        </p:txBody>
      </p:sp>
      <p:sp>
        <p:nvSpPr>
          <p:cNvPr id="40" name="S40"/>
          <p:cNvSpPr/>
          <p:nvPr/>
        </p:nvSpPr>
        <p:spPr>
          <a:xfrm>
            <a:off x="342900" y="3810000"/>
            <a:ext cx="8458200" cy="762000"/>
          </a:xfrm>
          <a:prstGeom prst="roundRect">
            <a:avLst/>
          </a:prstGeom>
          <a:solidFill>
            <a:srgbClr val="FFFFFF"/>
          </a:solidFill>
          <a:ln>
            <a:noFill/>
          </a:ln>
          <a:effectLst>
            <a:outerShdw blurRad="38100" dist="25400" dir="5400000" algn="t" rotWithShape="0">
              <a:srgbClr val="000000">
                <a:alpha val="12000"/>
              </a:srgbClr>
            </a:outerShdw>
          </a:effectLst>
        </p:spPr>
        <p:txBody>
          <a:bodyPr wrap="square" lIns="27432" tIns="13716" rIns="27432" bIns="13716" anchor="ctr"/>
          <a:lstStyle/>
          <a:p>
            <a:pPr algn="l">
              <a:buNone/>
            </a:pPr>
            <a:r>
              <a:rPr lang="en-US" sz="1200" b="1" dirty="0">
                <a:solidFill>
                  <a:srgbClr val="065A82"/>
                </a:solidFill>
                <a:latin typeface="Calibri"/>
              </a:rPr>
              <a:t>Architecture Pattern</a:t>
            </a:r>
          </a:p>
          <a:p>
            <a:pPr algn="l">
              <a:buNone/>
            </a:pPr>
            <a:r>
              <a:rPr lang="en-US" sz="1050" dirty="0">
                <a:solidFill>
                  <a:srgbClr val="1A2B3C"/>
                </a:solidFill>
                <a:latin typeface="Calibri"/>
              </a:rPr>
              <a:t>Client-only SPA → Firebase Auth → Firestore (user-scoped subcollections) → Firebase Hosting</a:t>
            </a:r>
          </a:p>
          <a:p>
            <a:pPr algn="l">
              <a:buNone/>
            </a:pPr>
            <a:r>
              <a:rPr lang="en-US" sz="1050" dirty="0">
                <a:solidFill>
                  <a:srgbClr val="1A2B3C">
                    <a:alpha val="70000"/>
                  </a:srgbClr>
                </a:solidFill>
                <a:latin typeface="Calibri"/>
              </a:rPr>
              <a:t>Zero custom backend — all server logic handled by Firebase services</a:t>
            </a:r>
          </a:p>
        </p:txBody>
      </p:sp>
      <p:sp>
        <p:nvSpPr>
          <p:cNvPr id="50" name="S50"/>
          <p:cNvSpPr/>
          <p:nvPr/>
        </p:nvSpPr>
        <p:spPr>
          <a:xfrm>
            <a:off x="342900" y="4762500"/>
            <a:ext cx="8458200" cy="19050"/>
          </a:xfrm>
          <a:prstGeom prst="rect">
            <a:avLst/>
          </a:prstGeom>
          <a:solidFill>
            <a:srgbClr val="02C39A"/>
          </a:solidFill>
          <a:ln>
            <a:noFill/>
          </a:ln>
        </p:spPr>
        <p:txBody>
          <a:bodyPr/>
          <a:lstStyle/>
          <a:p>
            <a:endParaRPr lang="en-IN" sz="1350"/>
          </a:p>
        </p:txBody>
      </p:sp>
    </p:spTree>
    <p:extLst>
      <p:ext uri="{BB962C8B-B14F-4D97-AF65-F5344CB8AC3E}">
        <p14:creationId xmlns:p14="http://schemas.microsoft.com/office/powerpoint/2010/main" val="1339183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txBody>
          <a:bodyPr/>
          <a:lstStyle/>
          <a:p>
            <a:endParaRPr lang="en-IN"/>
          </a:p>
        </p:txBody>
      </p:sp>
      <p:sp>
        <p:nvSpPr>
          <p:cNvPr id="3" name="Text 1"/>
          <p:cNvSpPr/>
          <p:nvPr/>
        </p:nvSpPr>
        <p:spPr>
          <a:xfrm>
            <a:off x="457200" y="109728"/>
            <a:ext cx="7772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Application Modules</a:t>
            </a:r>
            <a:endParaRPr lang="en-US" sz="2400" dirty="0"/>
          </a:p>
        </p:txBody>
      </p:sp>
      <p:sp>
        <p:nvSpPr>
          <p:cNvPr id="4" name="Text 2"/>
          <p:cNvSpPr/>
          <p:nvPr/>
        </p:nvSpPr>
        <p:spPr>
          <a:xfrm>
            <a:off x="457200" y="640080"/>
            <a:ext cx="7772400" cy="228600"/>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Six core modules that make up the Fintracker system</a:t>
            </a:r>
            <a:endParaRPr lang="en-US" sz="1100" dirty="0"/>
          </a:p>
        </p:txBody>
      </p:sp>
      <p:sp>
        <p:nvSpPr>
          <p:cNvPr id="5" name="Shape 3"/>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IN"/>
          </a:p>
        </p:txBody>
      </p:sp>
      <p:sp>
        <p:nvSpPr>
          <p:cNvPr id="6" name="Text 4"/>
          <p:cNvSpPr/>
          <p:nvPr/>
        </p:nvSpPr>
        <p:spPr>
          <a:xfrm>
            <a:off x="274320" y="4896612"/>
            <a:ext cx="8595360" cy="182880"/>
          </a:xfrm>
          <a:prstGeom prst="rect">
            <a:avLst/>
          </a:prstGeom>
          <a:noFill/>
          <a:ln/>
        </p:spPr>
        <p:txBody>
          <a:bodyPr wrap="square" lIns="0" tIns="0" rIns="0" bIns="0" rtlCol="0" anchor="ctr"/>
          <a:lstStyle/>
          <a:p>
            <a:pPr marL="0" indent="0">
              <a:buNone/>
            </a:pPr>
            <a:r>
              <a:rPr lang="en-US" sz="800" dirty="0">
                <a:solidFill>
                  <a:srgbClr val="94A3B8"/>
                </a:solidFill>
              </a:rPr>
              <a:t>Fintracker — Cloud-Based Personal Finance Management System  |  Cloud Computing &amp; AI services</a:t>
            </a:r>
            <a:endParaRPr lang="en-US" sz="800" dirty="0"/>
          </a:p>
        </p:txBody>
      </p:sp>
      <p:sp>
        <p:nvSpPr>
          <p:cNvPr id="7" name="Shape 5"/>
          <p:cNvSpPr/>
          <p:nvPr/>
        </p:nvSpPr>
        <p:spPr>
          <a:xfrm>
            <a:off x="274320" y="1051560"/>
            <a:ext cx="2788920" cy="182880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8" name="Shape 6"/>
          <p:cNvSpPr/>
          <p:nvPr/>
        </p:nvSpPr>
        <p:spPr>
          <a:xfrm>
            <a:off x="274320" y="1051560"/>
            <a:ext cx="2788920" cy="438912"/>
          </a:xfrm>
          <a:prstGeom prst="rect">
            <a:avLst/>
          </a:prstGeom>
          <a:solidFill>
            <a:srgbClr val="3B82F6"/>
          </a:solidFill>
          <a:ln w="12700">
            <a:solidFill>
              <a:srgbClr val="3B82F6"/>
            </a:solidFill>
            <a:prstDash val="solid"/>
          </a:ln>
        </p:spPr>
        <p:txBody>
          <a:bodyPr/>
          <a:lstStyle/>
          <a:p>
            <a:endParaRPr lang="en-IN"/>
          </a:p>
        </p:txBody>
      </p:sp>
      <p:pic>
        <p:nvPicPr>
          <p:cNvPr id="9" name="Image 0" descr="preencoded.png"/>
          <p:cNvPicPr>
            <a:picLocks noChangeAspect="1"/>
          </p:cNvPicPr>
          <p:nvPr/>
        </p:nvPicPr>
        <p:blipFill>
          <a:blip r:embed="rId3"/>
          <a:stretch>
            <a:fillRect/>
          </a:stretch>
        </p:blipFill>
        <p:spPr>
          <a:xfrm>
            <a:off x="365760" y="1097280"/>
            <a:ext cx="329184" cy="329184"/>
          </a:xfrm>
          <a:prstGeom prst="rect">
            <a:avLst/>
          </a:prstGeom>
        </p:spPr>
      </p:pic>
      <p:sp>
        <p:nvSpPr>
          <p:cNvPr id="10" name="Text 7"/>
          <p:cNvSpPr/>
          <p:nvPr/>
        </p:nvSpPr>
        <p:spPr>
          <a:xfrm>
            <a:off x="749808" y="1124712"/>
            <a:ext cx="219456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Authentication</a:t>
            </a:r>
            <a:endParaRPr lang="en-US" sz="1200" dirty="0"/>
          </a:p>
        </p:txBody>
      </p:sp>
      <p:sp>
        <p:nvSpPr>
          <p:cNvPr id="11" name="Text 8"/>
          <p:cNvSpPr/>
          <p:nvPr/>
        </p:nvSpPr>
        <p:spPr>
          <a:xfrm>
            <a:off x="411480" y="1554480"/>
            <a:ext cx="2514600" cy="1234440"/>
          </a:xfrm>
          <a:prstGeom prst="rect">
            <a:avLst/>
          </a:prstGeom>
          <a:noFill/>
          <a:ln/>
        </p:spPr>
        <p:txBody>
          <a:bodyPr wrap="square" rtlCol="0" anchor="ctr"/>
          <a:lstStyle/>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Email/Password &amp; Google login</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JWT-based session management</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Protected routes (PrivateRoute)</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New user registration flow</a:t>
            </a:r>
            <a:endParaRPr lang="en-US" sz="1000" dirty="0"/>
          </a:p>
        </p:txBody>
      </p:sp>
      <p:sp>
        <p:nvSpPr>
          <p:cNvPr id="12" name="Shape 9"/>
          <p:cNvSpPr/>
          <p:nvPr/>
        </p:nvSpPr>
        <p:spPr>
          <a:xfrm>
            <a:off x="3218688" y="1051560"/>
            <a:ext cx="2788920" cy="182880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13" name="Shape 10"/>
          <p:cNvSpPr/>
          <p:nvPr/>
        </p:nvSpPr>
        <p:spPr>
          <a:xfrm>
            <a:off x="3218688" y="1051560"/>
            <a:ext cx="2788920" cy="438912"/>
          </a:xfrm>
          <a:prstGeom prst="rect">
            <a:avLst/>
          </a:prstGeom>
          <a:solidFill>
            <a:srgbClr val="10B981"/>
          </a:solidFill>
          <a:ln w="12700">
            <a:solidFill>
              <a:srgbClr val="10B981"/>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3310128" y="1097280"/>
            <a:ext cx="329184" cy="329184"/>
          </a:xfrm>
          <a:prstGeom prst="rect">
            <a:avLst/>
          </a:prstGeom>
        </p:spPr>
      </p:pic>
      <p:sp>
        <p:nvSpPr>
          <p:cNvPr id="15" name="Text 11"/>
          <p:cNvSpPr/>
          <p:nvPr/>
        </p:nvSpPr>
        <p:spPr>
          <a:xfrm>
            <a:off x="3694176" y="1124712"/>
            <a:ext cx="219456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Dashboard</a:t>
            </a:r>
            <a:endParaRPr lang="en-US" sz="1200" dirty="0"/>
          </a:p>
        </p:txBody>
      </p:sp>
      <p:sp>
        <p:nvSpPr>
          <p:cNvPr id="16" name="Text 12"/>
          <p:cNvSpPr/>
          <p:nvPr/>
        </p:nvSpPr>
        <p:spPr>
          <a:xfrm>
            <a:off x="3355848" y="1554480"/>
            <a:ext cx="2514600" cy="1234440"/>
          </a:xfrm>
          <a:prstGeom prst="rect">
            <a:avLst/>
          </a:prstGeom>
          <a:noFill/>
          <a:ln/>
        </p:spPr>
        <p:txBody>
          <a:bodyPr wrap="square" rtlCol="0" anchor="ctr"/>
          <a:lstStyle/>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Total balance &amp; income overview</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Donut &amp; line charts via Chart.js</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Financial news integration</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Monthly expense trend</a:t>
            </a:r>
            <a:endParaRPr lang="en-US" sz="1000" dirty="0"/>
          </a:p>
        </p:txBody>
      </p:sp>
      <p:sp>
        <p:nvSpPr>
          <p:cNvPr id="17" name="Shape 13"/>
          <p:cNvSpPr/>
          <p:nvPr/>
        </p:nvSpPr>
        <p:spPr>
          <a:xfrm>
            <a:off x="6163056" y="1051560"/>
            <a:ext cx="2788920" cy="182880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4"/>
          <p:cNvSpPr/>
          <p:nvPr/>
        </p:nvSpPr>
        <p:spPr>
          <a:xfrm>
            <a:off x="6163056" y="1051560"/>
            <a:ext cx="2788920" cy="438912"/>
          </a:xfrm>
          <a:prstGeom prst="rect">
            <a:avLst/>
          </a:prstGeom>
          <a:solidFill>
            <a:srgbClr val="F59E0B"/>
          </a:solidFill>
          <a:ln w="12700">
            <a:solidFill>
              <a:srgbClr val="F59E0B"/>
            </a:solidFill>
            <a:prstDash val="solid"/>
          </a:ln>
        </p:spPr>
        <p:txBody>
          <a:bodyPr/>
          <a:lstStyle/>
          <a:p>
            <a:endParaRPr lang="en-IN"/>
          </a:p>
        </p:txBody>
      </p:sp>
      <p:pic>
        <p:nvPicPr>
          <p:cNvPr id="19" name="Image 2" descr="preencoded.png"/>
          <p:cNvPicPr>
            <a:picLocks noChangeAspect="1"/>
          </p:cNvPicPr>
          <p:nvPr/>
        </p:nvPicPr>
        <p:blipFill>
          <a:blip r:embed="rId5"/>
          <a:stretch>
            <a:fillRect/>
          </a:stretch>
        </p:blipFill>
        <p:spPr>
          <a:xfrm>
            <a:off x="6254496" y="1097280"/>
            <a:ext cx="329184" cy="329184"/>
          </a:xfrm>
          <a:prstGeom prst="rect">
            <a:avLst/>
          </a:prstGeom>
        </p:spPr>
      </p:pic>
      <p:sp>
        <p:nvSpPr>
          <p:cNvPr id="20" name="Text 15"/>
          <p:cNvSpPr/>
          <p:nvPr/>
        </p:nvSpPr>
        <p:spPr>
          <a:xfrm>
            <a:off x="6638544" y="1124712"/>
            <a:ext cx="219456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Transactions</a:t>
            </a:r>
            <a:endParaRPr lang="en-US" sz="1200" dirty="0"/>
          </a:p>
        </p:txBody>
      </p:sp>
      <p:sp>
        <p:nvSpPr>
          <p:cNvPr id="21" name="Text 16"/>
          <p:cNvSpPr/>
          <p:nvPr/>
        </p:nvSpPr>
        <p:spPr>
          <a:xfrm>
            <a:off x="6300216" y="1554480"/>
            <a:ext cx="2514600" cy="1234440"/>
          </a:xfrm>
          <a:prstGeom prst="rect">
            <a:avLst/>
          </a:prstGeom>
          <a:noFill/>
          <a:ln/>
        </p:spPr>
        <p:txBody>
          <a:bodyPr wrap="square" rtlCol="0" anchor="ctr"/>
          <a:lstStyle/>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Add / Edit / Delete transactions</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Search, filter by date &amp; category</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Bulk select and delete</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Voice input via HuggingFace AI</a:t>
            </a:r>
            <a:endParaRPr lang="en-US" sz="1000" dirty="0"/>
          </a:p>
        </p:txBody>
      </p:sp>
      <p:sp>
        <p:nvSpPr>
          <p:cNvPr id="22" name="Shape 17"/>
          <p:cNvSpPr/>
          <p:nvPr/>
        </p:nvSpPr>
        <p:spPr>
          <a:xfrm>
            <a:off x="274320" y="3017520"/>
            <a:ext cx="2788920" cy="182880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23" name="Shape 18"/>
          <p:cNvSpPr/>
          <p:nvPr/>
        </p:nvSpPr>
        <p:spPr>
          <a:xfrm>
            <a:off x="274320" y="3017520"/>
            <a:ext cx="2788920" cy="438912"/>
          </a:xfrm>
          <a:prstGeom prst="rect">
            <a:avLst/>
          </a:prstGeom>
          <a:solidFill>
            <a:srgbClr val="8B5CF6"/>
          </a:solidFill>
          <a:ln w="12700">
            <a:solidFill>
              <a:srgbClr val="8B5CF6"/>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365760" y="3063240"/>
            <a:ext cx="329184" cy="329184"/>
          </a:xfrm>
          <a:prstGeom prst="rect">
            <a:avLst/>
          </a:prstGeom>
        </p:spPr>
      </p:pic>
      <p:sp>
        <p:nvSpPr>
          <p:cNvPr id="25" name="Text 19"/>
          <p:cNvSpPr/>
          <p:nvPr/>
        </p:nvSpPr>
        <p:spPr>
          <a:xfrm>
            <a:off x="749808" y="3090672"/>
            <a:ext cx="219456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Budget Management</a:t>
            </a:r>
            <a:endParaRPr lang="en-US" sz="1200" dirty="0"/>
          </a:p>
        </p:txBody>
      </p:sp>
      <p:sp>
        <p:nvSpPr>
          <p:cNvPr id="26" name="Text 20"/>
          <p:cNvSpPr/>
          <p:nvPr/>
        </p:nvSpPr>
        <p:spPr>
          <a:xfrm>
            <a:off x="411480" y="3520440"/>
            <a:ext cx="2514600" cy="1234440"/>
          </a:xfrm>
          <a:prstGeom prst="rect">
            <a:avLst/>
          </a:prstGeom>
          <a:noFill/>
          <a:ln/>
        </p:spPr>
        <p:txBody>
          <a:bodyPr wrap="square" rtlCol="0" anchor="ctr"/>
          <a:lstStyle/>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Set category-wise budgets</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Visual progress bars per budget</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Alert at 50/75/90% thresholds</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Budget exceeded notifications</a:t>
            </a:r>
            <a:endParaRPr lang="en-US" sz="1000" dirty="0"/>
          </a:p>
        </p:txBody>
      </p:sp>
      <p:sp>
        <p:nvSpPr>
          <p:cNvPr id="27" name="Shape 21"/>
          <p:cNvSpPr/>
          <p:nvPr/>
        </p:nvSpPr>
        <p:spPr>
          <a:xfrm>
            <a:off x="3218688" y="3017520"/>
            <a:ext cx="2788920" cy="182880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28" name="Shape 22"/>
          <p:cNvSpPr/>
          <p:nvPr/>
        </p:nvSpPr>
        <p:spPr>
          <a:xfrm>
            <a:off x="3218688" y="3017520"/>
            <a:ext cx="2788920" cy="438912"/>
          </a:xfrm>
          <a:prstGeom prst="rect">
            <a:avLst/>
          </a:prstGeom>
          <a:solidFill>
            <a:srgbClr val="EC4899"/>
          </a:solidFill>
          <a:ln w="12700">
            <a:solidFill>
              <a:srgbClr val="EC4899"/>
            </a:solidFill>
            <a:prstDash val="solid"/>
          </a:ln>
        </p:spPr>
        <p:txBody>
          <a:bodyPr/>
          <a:lstStyle/>
          <a:p>
            <a:endParaRPr lang="en-IN"/>
          </a:p>
        </p:txBody>
      </p:sp>
      <p:pic>
        <p:nvPicPr>
          <p:cNvPr id="29" name="Image 4" descr="preencoded.png"/>
          <p:cNvPicPr>
            <a:picLocks noChangeAspect="1"/>
          </p:cNvPicPr>
          <p:nvPr/>
        </p:nvPicPr>
        <p:blipFill>
          <a:blip r:embed="rId7"/>
          <a:stretch>
            <a:fillRect/>
          </a:stretch>
        </p:blipFill>
        <p:spPr>
          <a:xfrm>
            <a:off x="3310128" y="3063240"/>
            <a:ext cx="329184" cy="329184"/>
          </a:xfrm>
          <a:prstGeom prst="rect">
            <a:avLst/>
          </a:prstGeom>
        </p:spPr>
      </p:pic>
      <p:sp>
        <p:nvSpPr>
          <p:cNvPr id="30" name="Text 23"/>
          <p:cNvSpPr/>
          <p:nvPr/>
        </p:nvSpPr>
        <p:spPr>
          <a:xfrm>
            <a:off x="3694176" y="3090672"/>
            <a:ext cx="219456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Financial News</a:t>
            </a:r>
            <a:endParaRPr lang="en-US" sz="1200" dirty="0"/>
          </a:p>
        </p:txBody>
      </p:sp>
      <p:sp>
        <p:nvSpPr>
          <p:cNvPr id="31" name="Text 24"/>
          <p:cNvSpPr/>
          <p:nvPr/>
        </p:nvSpPr>
        <p:spPr>
          <a:xfrm>
            <a:off x="3355848" y="3520440"/>
            <a:ext cx="2514600" cy="1234440"/>
          </a:xfrm>
          <a:prstGeom prst="rect">
            <a:avLst/>
          </a:prstGeom>
          <a:noFill/>
          <a:ln/>
        </p:spPr>
        <p:txBody>
          <a:bodyPr wrap="square" rtlCol="0" anchor="ctr"/>
          <a:lstStyle/>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Live news via NewsData.io API</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Filter by country &amp; content type</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Sort by relevancy / date</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Paginated 3×3 article grid</a:t>
            </a:r>
            <a:endParaRPr lang="en-US" sz="1000" dirty="0"/>
          </a:p>
        </p:txBody>
      </p:sp>
      <p:sp>
        <p:nvSpPr>
          <p:cNvPr id="32" name="Shape 25"/>
          <p:cNvSpPr/>
          <p:nvPr/>
        </p:nvSpPr>
        <p:spPr>
          <a:xfrm>
            <a:off x="6163056" y="3017520"/>
            <a:ext cx="2788920" cy="182880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33" name="Shape 26"/>
          <p:cNvSpPr/>
          <p:nvPr/>
        </p:nvSpPr>
        <p:spPr>
          <a:xfrm>
            <a:off x="6163056" y="3017520"/>
            <a:ext cx="2788920" cy="438912"/>
          </a:xfrm>
          <a:prstGeom prst="rect">
            <a:avLst/>
          </a:prstGeom>
          <a:solidFill>
            <a:srgbClr val="64748B"/>
          </a:solidFill>
          <a:ln w="12700">
            <a:solidFill>
              <a:srgbClr val="64748B"/>
            </a:solidFill>
            <a:prstDash val="solid"/>
          </a:ln>
        </p:spPr>
        <p:txBody>
          <a:bodyPr/>
          <a:lstStyle/>
          <a:p>
            <a:endParaRPr lang="en-IN"/>
          </a:p>
        </p:txBody>
      </p:sp>
      <p:pic>
        <p:nvPicPr>
          <p:cNvPr id="34" name="Image 5" descr="preencoded.png"/>
          <p:cNvPicPr>
            <a:picLocks noChangeAspect="1"/>
          </p:cNvPicPr>
          <p:nvPr/>
        </p:nvPicPr>
        <p:blipFill>
          <a:blip r:embed="rId8"/>
          <a:stretch>
            <a:fillRect/>
          </a:stretch>
        </p:blipFill>
        <p:spPr>
          <a:xfrm>
            <a:off x="6254496" y="3063240"/>
            <a:ext cx="329184" cy="329184"/>
          </a:xfrm>
          <a:prstGeom prst="rect">
            <a:avLst/>
          </a:prstGeom>
        </p:spPr>
      </p:pic>
      <p:sp>
        <p:nvSpPr>
          <p:cNvPr id="35" name="Text 27"/>
          <p:cNvSpPr/>
          <p:nvPr/>
        </p:nvSpPr>
        <p:spPr>
          <a:xfrm>
            <a:off x="6638544" y="3090672"/>
            <a:ext cx="219456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Settings</a:t>
            </a:r>
            <a:endParaRPr lang="en-US" sz="1200" dirty="0"/>
          </a:p>
        </p:txBody>
      </p:sp>
      <p:sp>
        <p:nvSpPr>
          <p:cNvPr id="36" name="Text 28"/>
          <p:cNvSpPr/>
          <p:nvPr/>
        </p:nvSpPr>
        <p:spPr>
          <a:xfrm>
            <a:off x="6300216" y="3520440"/>
            <a:ext cx="2514600" cy="1234440"/>
          </a:xfrm>
          <a:prstGeom prst="rect">
            <a:avLst/>
          </a:prstGeom>
          <a:noFill/>
          <a:ln/>
        </p:spPr>
        <p:txBody>
          <a:bodyPr wrap="square" rtlCol="0" anchor="ctr"/>
          <a:lstStyle/>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Update profile &amp; email</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Select currency &amp; theme</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Enable/disable notifications</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Danger zone: delete account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342900" y="285750"/>
            <a:ext cx="47625" cy="381000"/>
          </a:xfrm>
          <a:prstGeom prst="rect">
            <a:avLst/>
          </a:prstGeom>
          <a:solidFill>
            <a:srgbClr val="02C39A"/>
          </a:solidFill>
          <a:ln>
            <a:noFill/>
          </a:ln>
        </p:spPr>
        <p:txBody>
          <a:bodyPr/>
          <a:lstStyle/>
          <a:p>
            <a:endParaRPr lang="en-IN" sz="1350"/>
          </a:p>
        </p:txBody>
      </p:sp>
      <p:sp>
        <p:nvSpPr>
          <p:cNvPr id="11" name="S11"/>
          <p:cNvSpPr/>
          <p:nvPr/>
        </p:nvSpPr>
        <p:spPr>
          <a:xfrm>
            <a:off x="495300" y="266700"/>
            <a:ext cx="5715000" cy="419100"/>
          </a:xfrm>
          <a:prstGeom prst="rect">
            <a:avLst/>
          </a:prstGeom>
          <a:noFill/>
          <a:ln>
            <a:noFill/>
          </a:ln>
        </p:spPr>
        <p:txBody>
          <a:bodyPr wrap="square" lIns="34290" tIns="20574" rIns="34290" bIns="20574" anchor="ctr"/>
          <a:lstStyle/>
          <a:p>
            <a:pPr algn="l">
              <a:buNone/>
            </a:pPr>
            <a:r>
              <a:rPr lang="en-US" sz="2400" b="1" dirty="0">
                <a:solidFill>
                  <a:srgbClr val="065A82"/>
                </a:solidFill>
                <a:latin typeface="Calibri"/>
              </a:rPr>
              <a:t>Feature 1: Transaction Management</a:t>
            </a:r>
          </a:p>
        </p:txBody>
      </p:sp>
      <p:sp>
        <p:nvSpPr>
          <p:cNvPr id="12" name="S12"/>
          <p:cNvSpPr/>
          <p:nvPr/>
        </p:nvSpPr>
        <p:spPr>
          <a:xfrm>
            <a:off x="495300" y="742950"/>
            <a:ext cx="8191500" cy="304800"/>
          </a:xfrm>
          <a:prstGeom prst="rect">
            <a:avLst/>
          </a:prstGeom>
          <a:noFill/>
          <a:ln>
            <a:noFill/>
          </a:ln>
        </p:spPr>
        <p:txBody>
          <a:bodyPr wrap="square" lIns="34290" tIns="20574" rIns="34290" bIns="20574" anchor="ctr"/>
          <a:lstStyle/>
          <a:p>
            <a:pPr algn="l">
              <a:buNone/>
            </a:pPr>
            <a:r>
              <a:rPr lang="en-US" sz="1125" dirty="0">
                <a:solidFill>
                  <a:srgbClr val="1A2B3C">
                    <a:alpha val="70000"/>
                  </a:srgbClr>
                </a:solidFill>
                <a:latin typeface="Calibri"/>
              </a:rPr>
              <a:t>Complete CRUD operations with intelligent search, filtering, and voice input</a:t>
            </a:r>
          </a:p>
        </p:txBody>
      </p:sp>
      <p:sp>
        <p:nvSpPr>
          <p:cNvPr id="20" name="S20"/>
          <p:cNvSpPr/>
          <p:nvPr/>
        </p:nvSpPr>
        <p:spPr>
          <a:xfrm>
            <a:off x="342900" y="1190625"/>
            <a:ext cx="1885950" cy="228600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sz="1350"/>
          </a:p>
        </p:txBody>
      </p:sp>
      <p:sp>
        <p:nvSpPr>
          <p:cNvPr id="21" name="S21"/>
          <p:cNvSpPr/>
          <p:nvPr/>
        </p:nvSpPr>
        <p:spPr>
          <a:xfrm>
            <a:off x="1076325" y="1381125"/>
            <a:ext cx="419100" cy="419100"/>
          </a:xfrm>
          <a:prstGeom prst="ellipse">
            <a:avLst/>
          </a:prstGeom>
          <a:solidFill>
            <a:srgbClr val="02C39A"/>
          </a:solidFill>
          <a:ln>
            <a:noFill/>
          </a:ln>
        </p:spPr>
        <p:txBody>
          <a:bodyPr wrap="square" lIns="34290" tIns="20574" rIns="34290" bIns="20574" anchor="ctr"/>
          <a:lstStyle/>
          <a:p>
            <a:pPr algn="ctr">
              <a:buNone/>
            </a:pPr>
            <a:r>
              <a:rPr lang="en-US" sz="1350" b="1" dirty="0">
                <a:solidFill>
                  <a:srgbClr val="FFFFFF"/>
                </a:solidFill>
                <a:latin typeface="Calibri"/>
              </a:rPr>
              <a:t>+</a:t>
            </a:r>
          </a:p>
        </p:txBody>
      </p:sp>
      <p:sp>
        <p:nvSpPr>
          <p:cNvPr id="22" name="S22"/>
          <p:cNvSpPr/>
          <p:nvPr/>
        </p:nvSpPr>
        <p:spPr>
          <a:xfrm>
            <a:off x="438150" y="1905000"/>
            <a:ext cx="1695450" cy="361950"/>
          </a:xfrm>
          <a:prstGeom prst="rect">
            <a:avLst/>
          </a:prstGeom>
          <a:noFill/>
          <a:ln>
            <a:noFill/>
          </a:ln>
        </p:spPr>
        <p:txBody>
          <a:bodyPr wrap="square" lIns="34290" tIns="20574" rIns="34290" bIns="20574" anchor="ctr"/>
          <a:lstStyle/>
          <a:p>
            <a:pPr algn="ctr">
              <a:buNone/>
            </a:pPr>
            <a:r>
              <a:rPr lang="en-US" sz="1200" b="1" dirty="0">
                <a:solidFill>
                  <a:srgbClr val="065A82"/>
                </a:solidFill>
                <a:latin typeface="Calibri"/>
              </a:rPr>
              <a:t>Add / Edit / Delete</a:t>
            </a:r>
          </a:p>
        </p:txBody>
      </p:sp>
      <p:sp>
        <p:nvSpPr>
          <p:cNvPr id="23" name="S23"/>
          <p:cNvSpPr/>
          <p:nvPr/>
        </p:nvSpPr>
        <p:spPr>
          <a:xfrm>
            <a:off x="438150" y="2333625"/>
            <a:ext cx="1695450" cy="952500"/>
          </a:xfrm>
          <a:prstGeom prst="rect">
            <a:avLst/>
          </a:prstGeom>
          <a:noFill/>
          <a:ln>
            <a:noFill/>
          </a:ln>
        </p:spPr>
        <p:txBody>
          <a:bodyPr wrap="square" lIns="34290" tIns="20574" rIns="34290" bIns="20574" anchor="t"/>
          <a:lstStyle/>
          <a:p>
            <a:pPr algn="ctr">
              <a:buNone/>
            </a:pPr>
            <a:r>
              <a:rPr lang="en-US" sz="1050" dirty="0">
                <a:solidFill>
                  <a:srgbClr val="1A2B3C">
                    <a:alpha val="80000"/>
                  </a:srgbClr>
                </a:solidFill>
                <a:latin typeface="Calibri"/>
              </a:rPr>
              <a:t>Full CRUD for income &amp; expense transactions with category tagging</a:t>
            </a:r>
          </a:p>
        </p:txBody>
      </p:sp>
      <p:sp>
        <p:nvSpPr>
          <p:cNvPr id="24" name="S24"/>
          <p:cNvSpPr/>
          <p:nvPr/>
        </p:nvSpPr>
        <p:spPr>
          <a:xfrm>
            <a:off x="2438400" y="1190625"/>
            <a:ext cx="1885950" cy="228600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sz="1350"/>
          </a:p>
        </p:txBody>
      </p:sp>
      <p:sp>
        <p:nvSpPr>
          <p:cNvPr id="25" name="S25"/>
          <p:cNvSpPr/>
          <p:nvPr/>
        </p:nvSpPr>
        <p:spPr>
          <a:xfrm>
            <a:off x="3171825" y="1381125"/>
            <a:ext cx="419100" cy="419100"/>
          </a:xfrm>
          <a:prstGeom prst="ellipse">
            <a:avLst/>
          </a:prstGeom>
          <a:solidFill>
            <a:srgbClr val="02C39A"/>
          </a:solidFill>
          <a:ln>
            <a:noFill/>
          </a:ln>
        </p:spPr>
        <p:txBody>
          <a:bodyPr wrap="square" lIns="34290" tIns="20574" rIns="34290" bIns="20574" anchor="ctr"/>
          <a:lstStyle/>
          <a:p>
            <a:pPr algn="ctr">
              <a:buNone/>
            </a:pPr>
            <a:r>
              <a:rPr lang="en-US" sz="1350" b="1" dirty="0">
                <a:solidFill>
                  <a:srgbClr val="FFFFFF"/>
                </a:solidFill>
                <a:latin typeface="Calibri"/>
              </a:rPr>
              <a:t>M</a:t>
            </a:r>
          </a:p>
        </p:txBody>
      </p:sp>
      <p:sp>
        <p:nvSpPr>
          <p:cNvPr id="26" name="S26"/>
          <p:cNvSpPr/>
          <p:nvPr/>
        </p:nvSpPr>
        <p:spPr>
          <a:xfrm>
            <a:off x="2533650" y="1905000"/>
            <a:ext cx="1695450" cy="361950"/>
          </a:xfrm>
          <a:prstGeom prst="rect">
            <a:avLst/>
          </a:prstGeom>
          <a:noFill/>
          <a:ln>
            <a:noFill/>
          </a:ln>
        </p:spPr>
        <p:txBody>
          <a:bodyPr wrap="square" lIns="34290" tIns="20574" rIns="34290" bIns="20574" anchor="ctr"/>
          <a:lstStyle/>
          <a:p>
            <a:pPr algn="ctr">
              <a:buNone/>
            </a:pPr>
            <a:r>
              <a:rPr lang="en-US" sz="1200" b="1" dirty="0">
                <a:solidFill>
                  <a:srgbClr val="065A82"/>
                </a:solidFill>
                <a:latin typeface="Calibri"/>
              </a:rPr>
              <a:t>Voice Input</a:t>
            </a:r>
          </a:p>
        </p:txBody>
      </p:sp>
      <p:sp>
        <p:nvSpPr>
          <p:cNvPr id="27" name="S27"/>
          <p:cNvSpPr/>
          <p:nvPr/>
        </p:nvSpPr>
        <p:spPr>
          <a:xfrm>
            <a:off x="2533650" y="2333625"/>
            <a:ext cx="1695450" cy="952500"/>
          </a:xfrm>
          <a:prstGeom prst="rect">
            <a:avLst/>
          </a:prstGeom>
          <a:noFill/>
          <a:ln>
            <a:noFill/>
          </a:ln>
        </p:spPr>
        <p:txBody>
          <a:bodyPr wrap="square" lIns="34290" tIns="20574" rIns="34290" bIns="20574" anchor="t"/>
          <a:lstStyle/>
          <a:p>
            <a:pPr algn="ctr">
              <a:buNone/>
            </a:pPr>
            <a:r>
              <a:rPr lang="en-US" sz="1050" dirty="0">
                <a:solidFill>
                  <a:srgbClr val="1A2B3C">
                    <a:alpha val="80000"/>
                  </a:srgbClr>
                </a:solidFill>
                <a:latin typeface="Calibri"/>
              </a:rPr>
              <a:t>Whisper ASR converts spoken descriptions into structured transactions</a:t>
            </a:r>
          </a:p>
        </p:txBody>
      </p:sp>
      <p:sp>
        <p:nvSpPr>
          <p:cNvPr id="28" name="S28"/>
          <p:cNvSpPr/>
          <p:nvPr/>
        </p:nvSpPr>
        <p:spPr>
          <a:xfrm>
            <a:off x="4533900" y="1190625"/>
            <a:ext cx="1885950" cy="228600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sz="1350"/>
          </a:p>
        </p:txBody>
      </p:sp>
      <p:sp>
        <p:nvSpPr>
          <p:cNvPr id="29" name="S29"/>
          <p:cNvSpPr/>
          <p:nvPr/>
        </p:nvSpPr>
        <p:spPr>
          <a:xfrm>
            <a:off x="5267325" y="1381125"/>
            <a:ext cx="419100" cy="419100"/>
          </a:xfrm>
          <a:prstGeom prst="ellipse">
            <a:avLst/>
          </a:prstGeom>
          <a:solidFill>
            <a:srgbClr val="02C39A"/>
          </a:solidFill>
          <a:ln>
            <a:noFill/>
          </a:ln>
        </p:spPr>
        <p:txBody>
          <a:bodyPr wrap="square" lIns="34290" tIns="20574" rIns="34290" bIns="20574" anchor="ctr"/>
          <a:lstStyle/>
          <a:p>
            <a:pPr algn="ctr">
              <a:buNone/>
            </a:pPr>
            <a:r>
              <a:rPr lang="en-US" sz="1350" b="1" dirty="0">
                <a:solidFill>
                  <a:srgbClr val="FFFFFF"/>
                </a:solidFill>
                <a:latin typeface="Calibri"/>
              </a:rPr>
              <a:t>S</a:t>
            </a:r>
          </a:p>
        </p:txBody>
      </p:sp>
      <p:sp>
        <p:nvSpPr>
          <p:cNvPr id="30" name="S30"/>
          <p:cNvSpPr/>
          <p:nvPr/>
        </p:nvSpPr>
        <p:spPr>
          <a:xfrm>
            <a:off x="4629150" y="1905000"/>
            <a:ext cx="1695450" cy="361950"/>
          </a:xfrm>
          <a:prstGeom prst="rect">
            <a:avLst/>
          </a:prstGeom>
          <a:noFill/>
          <a:ln>
            <a:noFill/>
          </a:ln>
        </p:spPr>
        <p:txBody>
          <a:bodyPr wrap="square" lIns="34290" tIns="20574" rIns="34290" bIns="20574" anchor="ctr"/>
          <a:lstStyle/>
          <a:p>
            <a:pPr algn="ctr">
              <a:buNone/>
            </a:pPr>
            <a:r>
              <a:rPr lang="en-US" sz="1200" b="1" dirty="0">
                <a:solidFill>
                  <a:srgbClr val="065A82"/>
                </a:solidFill>
                <a:latin typeface="Calibri"/>
              </a:rPr>
              <a:t>Search &amp; Filter</a:t>
            </a:r>
          </a:p>
        </p:txBody>
      </p:sp>
      <p:sp>
        <p:nvSpPr>
          <p:cNvPr id="31" name="S31"/>
          <p:cNvSpPr/>
          <p:nvPr/>
        </p:nvSpPr>
        <p:spPr>
          <a:xfrm>
            <a:off x="4629150" y="2333625"/>
            <a:ext cx="1695450" cy="952500"/>
          </a:xfrm>
          <a:prstGeom prst="rect">
            <a:avLst/>
          </a:prstGeom>
          <a:noFill/>
          <a:ln>
            <a:noFill/>
          </a:ln>
        </p:spPr>
        <p:txBody>
          <a:bodyPr wrap="square" lIns="34290" tIns="20574" rIns="34290" bIns="20574" anchor="t"/>
          <a:lstStyle/>
          <a:p>
            <a:pPr algn="ctr">
              <a:buNone/>
            </a:pPr>
            <a:r>
              <a:rPr lang="en-US" sz="1050" dirty="0">
                <a:solidFill>
                  <a:srgbClr val="1A2B3C">
                    <a:alpha val="80000"/>
                  </a:srgbClr>
                </a:solidFill>
                <a:latin typeface="Calibri"/>
              </a:rPr>
              <a:t>Filter by date range, category, and transaction type instantly</a:t>
            </a:r>
          </a:p>
        </p:txBody>
      </p:sp>
      <p:sp>
        <p:nvSpPr>
          <p:cNvPr id="32" name="S32"/>
          <p:cNvSpPr/>
          <p:nvPr/>
        </p:nvSpPr>
        <p:spPr>
          <a:xfrm>
            <a:off x="6629400" y="1190625"/>
            <a:ext cx="1885950" cy="228600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sz="1350"/>
          </a:p>
        </p:txBody>
      </p:sp>
      <p:sp>
        <p:nvSpPr>
          <p:cNvPr id="33" name="S33"/>
          <p:cNvSpPr/>
          <p:nvPr/>
        </p:nvSpPr>
        <p:spPr>
          <a:xfrm>
            <a:off x="7362825" y="1381125"/>
            <a:ext cx="419100" cy="419100"/>
          </a:xfrm>
          <a:prstGeom prst="ellipse">
            <a:avLst/>
          </a:prstGeom>
          <a:solidFill>
            <a:srgbClr val="02C39A"/>
          </a:solidFill>
          <a:ln>
            <a:noFill/>
          </a:ln>
        </p:spPr>
        <p:txBody>
          <a:bodyPr wrap="square" lIns="34290" tIns="20574" rIns="34290" bIns="20574" anchor="ctr"/>
          <a:lstStyle/>
          <a:p>
            <a:pPr algn="ctr">
              <a:buNone/>
            </a:pPr>
            <a:r>
              <a:rPr lang="en-US" sz="1350" b="1" dirty="0">
                <a:solidFill>
                  <a:srgbClr val="FFFFFF"/>
                </a:solidFill>
                <a:latin typeface="Calibri"/>
              </a:rPr>
              <a:t>X</a:t>
            </a:r>
          </a:p>
        </p:txBody>
      </p:sp>
      <p:sp>
        <p:nvSpPr>
          <p:cNvPr id="34" name="S34"/>
          <p:cNvSpPr/>
          <p:nvPr/>
        </p:nvSpPr>
        <p:spPr>
          <a:xfrm>
            <a:off x="6724650" y="1905000"/>
            <a:ext cx="1695450" cy="361950"/>
          </a:xfrm>
          <a:prstGeom prst="rect">
            <a:avLst/>
          </a:prstGeom>
          <a:noFill/>
          <a:ln>
            <a:noFill/>
          </a:ln>
        </p:spPr>
        <p:txBody>
          <a:bodyPr wrap="square" lIns="34290" tIns="20574" rIns="34290" bIns="20574" anchor="ctr"/>
          <a:lstStyle/>
          <a:p>
            <a:pPr algn="ctr">
              <a:buNone/>
            </a:pPr>
            <a:r>
              <a:rPr lang="en-US" sz="1200" b="1" dirty="0">
                <a:solidFill>
                  <a:srgbClr val="065A82"/>
                </a:solidFill>
                <a:latin typeface="Calibri"/>
              </a:rPr>
              <a:t>Bulk Operations</a:t>
            </a:r>
          </a:p>
        </p:txBody>
      </p:sp>
      <p:sp>
        <p:nvSpPr>
          <p:cNvPr id="35" name="S35"/>
          <p:cNvSpPr/>
          <p:nvPr/>
        </p:nvSpPr>
        <p:spPr>
          <a:xfrm>
            <a:off x="6724650" y="2333625"/>
            <a:ext cx="1695450" cy="952500"/>
          </a:xfrm>
          <a:prstGeom prst="rect">
            <a:avLst/>
          </a:prstGeom>
          <a:noFill/>
          <a:ln>
            <a:noFill/>
          </a:ln>
        </p:spPr>
        <p:txBody>
          <a:bodyPr wrap="square" lIns="34290" tIns="20574" rIns="34290" bIns="20574" anchor="t"/>
          <a:lstStyle/>
          <a:p>
            <a:pPr algn="ctr">
              <a:buNone/>
            </a:pPr>
            <a:r>
              <a:rPr lang="en-US" sz="1050" dirty="0">
                <a:solidFill>
                  <a:srgbClr val="1A2B3C">
                    <a:alpha val="80000"/>
                  </a:srgbClr>
                </a:solidFill>
                <a:latin typeface="Calibri"/>
              </a:rPr>
              <a:t>Select multiple transactions for batch delete with confirmation</a:t>
            </a:r>
          </a:p>
        </p:txBody>
      </p:sp>
      <p:sp>
        <p:nvSpPr>
          <p:cNvPr id="40" name="S40"/>
          <p:cNvSpPr/>
          <p:nvPr/>
        </p:nvSpPr>
        <p:spPr>
          <a:xfrm>
            <a:off x="342900" y="3762375"/>
            <a:ext cx="8458200" cy="762000"/>
          </a:xfrm>
          <a:prstGeom prst="roundRect">
            <a:avLst/>
          </a:prstGeom>
          <a:solidFill>
            <a:srgbClr val="065A82"/>
          </a:solidFill>
          <a:ln>
            <a:noFill/>
          </a:ln>
          <a:effectLst>
            <a:outerShdw blurRad="38100" dist="25400" dir="5400000" algn="t" rotWithShape="0">
              <a:srgbClr val="000000">
                <a:alpha val="12000"/>
              </a:srgbClr>
            </a:outerShdw>
          </a:effectLst>
        </p:spPr>
        <p:txBody>
          <a:bodyPr wrap="square" lIns="34290" tIns="20574" rIns="34290" bIns="20574" anchor="ctr"/>
          <a:lstStyle/>
          <a:p>
            <a:pPr algn="ctr">
              <a:buNone/>
            </a:pPr>
            <a:r>
              <a:rPr lang="en-US" sz="1125" b="1" dirty="0">
                <a:solidFill>
                  <a:srgbClr val="02C39A"/>
                </a:solidFill>
                <a:latin typeface="Calibri"/>
              </a:rPr>
              <a:t>Real-time Firestore Sync</a:t>
            </a:r>
          </a:p>
          <a:p>
            <a:pPr algn="ctr">
              <a:buNone/>
            </a:pPr>
            <a:r>
              <a:rPr lang="en-US" sz="1050" dirty="0">
                <a:solidFill>
                  <a:srgbClr val="F0F8FF"/>
                </a:solidFill>
                <a:latin typeface="Calibri"/>
              </a:rPr>
              <a:t>All transactions sync instantly via Firestore onSnapshot — no manual refresh needed</a:t>
            </a:r>
          </a:p>
        </p:txBody>
      </p:sp>
      <p:sp>
        <p:nvSpPr>
          <p:cNvPr id="50" name="S50"/>
          <p:cNvSpPr/>
          <p:nvPr/>
        </p:nvSpPr>
        <p:spPr>
          <a:xfrm>
            <a:off x="342900" y="4762500"/>
            <a:ext cx="8458200" cy="19050"/>
          </a:xfrm>
          <a:prstGeom prst="rect">
            <a:avLst/>
          </a:prstGeom>
          <a:solidFill>
            <a:srgbClr val="02C39A"/>
          </a:solidFill>
          <a:ln>
            <a:noFill/>
          </a:ln>
        </p:spPr>
        <p:txBody>
          <a:bodyPr/>
          <a:lstStyle/>
          <a:p>
            <a:endParaRPr lang="en-IN" sz="1350"/>
          </a:p>
        </p:txBody>
      </p:sp>
    </p:spTree>
    <p:extLst>
      <p:ext uri="{BB962C8B-B14F-4D97-AF65-F5344CB8AC3E}">
        <p14:creationId xmlns:p14="http://schemas.microsoft.com/office/powerpoint/2010/main" val="49267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58BDB-5512-0EF6-C81B-9C49C8527078}"/>
            </a:ext>
          </a:extLst>
        </p:cNvPr>
        <p:cNvGrpSpPr/>
        <p:nvPr/>
      </p:nvGrpSpPr>
      <p:grpSpPr>
        <a:xfrm>
          <a:off x="0" y="0"/>
          <a:ext cx="0" cy="0"/>
          <a:chOff x="0" y="0"/>
          <a:chExt cx="0" cy="0"/>
        </a:xfrm>
      </p:grpSpPr>
      <p:sp>
        <p:nvSpPr>
          <p:cNvPr id="10" name="S10">
            <a:extLst>
              <a:ext uri="{FF2B5EF4-FFF2-40B4-BE49-F238E27FC236}">
                <a16:creationId xmlns:a16="http://schemas.microsoft.com/office/drawing/2014/main" id="{B4E9DEB1-5C65-E9D3-7219-E2D025F328F0}"/>
              </a:ext>
            </a:extLst>
          </p:cNvPr>
          <p:cNvSpPr/>
          <p:nvPr/>
        </p:nvSpPr>
        <p:spPr>
          <a:xfrm>
            <a:off x="342900" y="285750"/>
            <a:ext cx="47625" cy="381000"/>
          </a:xfrm>
          <a:prstGeom prst="rect">
            <a:avLst/>
          </a:prstGeom>
          <a:solidFill>
            <a:srgbClr val="02C39A"/>
          </a:solidFill>
          <a:ln>
            <a:noFill/>
          </a:ln>
        </p:spPr>
        <p:txBody>
          <a:bodyPr/>
          <a:lstStyle/>
          <a:p>
            <a:endParaRPr lang="en-IN" sz="1350"/>
          </a:p>
        </p:txBody>
      </p:sp>
      <p:sp>
        <p:nvSpPr>
          <p:cNvPr id="11" name="S11">
            <a:extLst>
              <a:ext uri="{FF2B5EF4-FFF2-40B4-BE49-F238E27FC236}">
                <a16:creationId xmlns:a16="http://schemas.microsoft.com/office/drawing/2014/main" id="{1A4316D6-2E55-9B8E-D647-BB68645604A8}"/>
              </a:ext>
            </a:extLst>
          </p:cNvPr>
          <p:cNvSpPr/>
          <p:nvPr/>
        </p:nvSpPr>
        <p:spPr>
          <a:xfrm>
            <a:off x="495300" y="266700"/>
            <a:ext cx="5715000" cy="419100"/>
          </a:xfrm>
          <a:prstGeom prst="rect">
            <a:avLst/>
          </a:prstGeom>
          <a:noFill/>
          <a:ln>
            <a:noFill/>
          </a:ln>
        </p:spPr>
        <p:txBody>
          <a:bodyPr wrap="square" lIns="34290" tIns="20574" rIns="34290" bIns="20574" anchor="ctr"/>
          <a:lstStyle/>
          <a:p>
            <a:pPr algn="l">
              <a:buNone/>
            </a:pPr>
            <a:r>
              <a:rPr lang="en-US" sz="2400" b="1" dirty="0">
                <a:solidFill>
                  <a:srgbClr val="065A82"/>
                </a:solidFill>
                <a:latin typeface="Calibri"/>
              </a:rPr>
              <a:t>Feature 2: Budget Tracking</a:t>
            </a:r>
          </a:p>
        </p:txBody>
      </p:sp>
      <p:sp>
        <p:nvSpPr>
          <p:cNvPr id="12" name="S12">
            <a:extLst>
              <a:ext uri="{FF2B5EF4-FFF2-40B4-BE49-F238E27FC236}">
                <a16:creationId xmlns:a16="http://schemas.microsoft.com/office/drawing/2014/main" id="{CDEA8C55-91C1-4EAA-5325-3510F4AA1A5B}"/>
              </a:ext>
            </a:extLst>
          </p:cNvPr>
          <p:cNvSpPr/>
          <p:nvPr/>
        </p:nvSpPr>
        <p:spPr>
          <a:xfrm>
            <a:off x="495300" y="742950"/>
            <a:ext cx="8191500" cy="266700"/>
          </a:xfrm>
          <a:prstGeom prst="rect">
            <a:avLst/>
          </a:prstGeom>
          <a:noFill/>
          <a:ln>
            <a:noFill/>
          </a:ln>
        </p:spPr>
        <p:txBody>
          <a:bodyPr wrap="square" lIns="34290" tIns="20574" rIns="34290" bIns="20574" anchor="ctr"/>
          <a:lstStyle/>
          <a:p>
            <a:pPr algn="l">
              <a:buNone/>
            </a:pPr>
            <a:r>
              <a:rPr lang="en-US" sz="1125" dirty="0">
                <a:solidFill>
                  <a:srgbClr val="1A2B3C">
                    <a:alpha val="70000"/>
                  </a:srgbClr>
                </a:solidFill>
                <a:latin typeface="Calibri"/>
              </a:rPr>
              <a:t>Smart budgets with threshold-based alerts and flexible time periods</a:t>
            </a:r>
          </a:p>
        </p:txBody>
      </p:sp>
      <p:sp>
        <p:nvSpPr>
          <p:cNvPr id="20" name="S20">
            <a:extLst>
              <a:ext uri="{FF2B5EF4-FFF2-40B4-BE49-F238E27FC236}">
                <a16:creationId xmlns:a16="http://schemas.microsoft.com/office/drawing/2014/main" id="{44BDEE71-0B8D-A2B9-4A38-AAB4FC72CA39}"/>
              </a:ext>
            </a:extLst>
          </p:cNvPr>
          <p:cNvSpPr/>
          <p:nvPr/>
        </p:nvSpPr>
        <p:spPr>
          <a:xfrm>
            <a:off x="342900" y="1143000"/>
            <a:ext cx="4191000" cy="300990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sz="1350" dirty="0"/>
          </a:p>
        </p:txBody>
      </p:sp>
      <p:sp>
        <p:nvSpPr>
          <p:cNvPr id="21" name="S21">
            <a:extLst>
              <a:ext uri="{FF2B5EF4-FFF2-40B4-BE49-F238E27FC236}">
                <a16:creationId xmlns:a16="http://schemas.microsoft.com/office/drawing/2014/main" id="{07F8EE71-11F5-C2CF-21C9-D6269E7833F6}"/>
              </a:ext>
            </a:extLst>
          </p:cNvPr>
          <p:cNvSpPr/>
          <p:nvPr/>
        </p:nvSpPr>
        <p:spPr>
          <a:xfrm>
            <a:off x="342900" y="1143000"/>
            <a:ext cx="4191000" cy="476250"/>
          </a:xfrm>
          <a:prstGeom prst="roundRect">
            <a:avLst/>
          </a:prstGeom>
          <a:solidFill>
            <a:srgbClr val="065A82"/>
          </a:solidFill>
          <a:ln>
            <a:noFill/>
          </a:ln>
        </p:spPr>
        <p:txBody>
          <a:bodyPr wrap="square" lIns="34290" tIns="20574" rIns="34290" bIns="20574" anchor="ctr"/>
          <a:lstStyle/>
          <a:p>
            <a:pPr algn="l">
              <a:buNone/>
            </a:pPr>
            <a:r>
              <a:rPr lang="en-US" sz="1200" b="1" dirty="0">
                <a:solidFill>
                  <a:srgbClr val="FFFFFF"/>
                </a:solidFill>
                <a:latin typeface="Calibri"/>
              </a:rPr>
              <a:t>  Groceries Budget</a:t>
            </a:r>
            <a:r>
              <a:rPr lang="en-US" sz="1050" dirty="0">
                <a:solidFill>
                  <a:srgbClr val="02C39A"/>
                </a:solidFill>
                <a:latin typeface="Calibri"/>
              </a:rPr>
              <a:t>    Monthly</a:t>
            </a:r>
          </a:p>
        </p:txBody>
      </p:sp>
      <p:sp>
        <p:nvSpPr>
          <p:cNvPr id="22" name="S22">
            <a:extLst>
              <a:ext uri="{FF2B5EF4-FFF2-40B4-BE49-F238E27FC236}">
                <a16:creationId xmlns:a16="http://schemas.microsoft.com/office/drawing/2014/main" id="{6CC9112E-38A6-10A1-0B99-C1D060BF0DAA}"/>
              </a:ext>
            </a:extLst>
          </p:cNvPr>
          <p:cNvSpPr/>
          <p:nvPr/>
        </p:nvSpPr>
        <p:spPr>
          <a:xfrm>
            <a:off x="533400" y="1714500"/>
            <a:ext cx="3810000" cy="285750"/>
          </a:xfrm>
          <a:prstGeom prst="rect">
            <a:avLst/>
          </a:prstGeom>
          <a:noFill/>
          <a:ln>
            <a:noFill/>
          </a:ln>
        </p:spPr>
        <p:txBody>
          <a:bodyPr wrap="square" lIns="34290" tIns="20574" rIns="34290" bIns="20574" anchor="ctr"/>
          <a:lstStyle/>
          <a:p>
            <a:pPr algn="l">
              <a:buNone/>
            </a:pPr>
            <a:r>
              <a:rPr lang="en-US" sz="1650" b="1" dirty="0">
                <a:solidFill>
                  <a:srgbClr val="065A82"/>
                </a:solidFill>
                <a:latin typeface="Calibri"/>
              </a:rPr>
              <a:t>$340</a:t>
            </a:r>
            <a:r>
              <a:rPr lang="en-US" sz="1050" dirty="0">
                <a:solidFill>
                  <a:srgbClr val="1A2B3C">
                    <a:alpha val="60000"/>
                  </a:srgbClr>
                </a:solidFill>
                <a:latin typeface="Calibri"/>
              </a:rPr>
              <a:t> / $500 budget</a:t>
            </a:r>
          </a:p>
        </p:txBody>
      </p:sp>
      <p:sp>
        <p:nvSpPr>
          <p:cNvPr id="23" name="S23">
            <a:extLst>
              <a:ext uri="{FF2B5EF4-FFF2-40B4-BE49-F238E27FC236}">
                <a16:creationId xmlns:a16="http://schemas.microsoft.com/office/drawing/2014/main" id="{6B06F32F-55DA-0999-F18D-E132BFDE6AC5}"/>
              </a:ext>
            </a:extLst>
          </p:cNvPr>
          <p:cNvSpPr/>
          <p:nvPr/>
        </p:nvSpPr>
        <p:spPr>
          <a:xfrm>
            <a:off x="533400" y="2143125"/>
            <a:ext cx="3810000" cy="152400"/>
          </a:xfrm>
          <a:prstGeom prst="roundRect">
            <a:avLst/>
          </a:prstGeom>
          <a:solidFill>
            <a:srgbClr val="E0E0E0"/>
          </a:solidFill>
          <a:ln>
            <a:noFill/>
          </a:ln>
        </p:spPr>
        <p:txBody>
          <a:bodyPr/>
          <a:lstStyle/>
          <a:p>
            <a:endParaRPr lang="en-IN" sz="1350"/>
          </a:p>
        </p:txBody>
      </p:sp>
      <p:sp>
        <p:nvSpPr>
          <p:cNvPr id="24" name="S24">
            <a:extLst>
              <a:ext uri="{FF2B5EF4-FFF2-40B4-BE49-F238E27FC236}">
                <a16:creationId xmlns:a16="http://schemas.microsoft.com/office/drawing/2014/main" id="{29337BD8-4266-6E9F-19AB-F0DF71C1EC23}"/>
              </a:ext>
            </a:extLst>
          </p:cNvPr>
          <p:cNvSpPr/>
          <p:nvPr/>
        </p:nvSpPr>
        <p:spPr>
          <a:xfrm>
            <a:off x="533400" y="2143125"/>
            <a:ext cx="2590800" cy="152400"/>
          </a:xfrm>
          <a:prstGeom prst="roundRect">
            <a:avLst/>
          </a:prstGeom>
          <a:solidFill>
            <a:srgbClr val="02C39A"/>
          </a:solidFill>
          <a:ln>
            <a:noFill/>
          </a:ln>
        </p:spPr>
        <p:txBody>
          <a:bodyPr/>
          <a:lstStyle/>
          <a:p>
            <a:endParaRPr lang="en-IN" sz="1350"/>
          </a:p>
        </p:txBody>
      </p:sp>
      <p:sp>
        <p:nvSpPr>
          <p:cNvPr id="25" name="S25">
            <a:extLst>
              <a:ext uri="{FF2B5EF4-FFF2-40B4-BE49-F238E27FC236}">
                <a16:creationId xmlns:a16="http://schemas.microsoft.com/office/drawing/2014/main" id="{852C20C7-47AE-4409-FA7C-05E2B29CE5A4}"/>
              </a:ext>
            </a:extLst>
          </p:cNvPr>
          <p:cNvSpPr/>
          <p:nvPr/>
        </p:nvSpPr>
        <p:spPr>
          <a:xfrm>
            <a:off x="533400" y="2362200"/>
            <a:ext cx="3810000" cy="209550"/>
          </a:xfrm>
          <a:prstGeom prst="rect">
            <a:avLst/>
          </a:prstGeom>
          <a:noFill/>
          <a:ln>
            <a:noFill/>
          </a:ln>
        </p:spPr>
        <p:txBody>
          <a:bodyPr wrap="square" lIns="34290" tIns="20574" rIns="34290" bIns="20574" anchor="ctr"/>
          <a:lstStyle/>
          <a:p>
            <a:pPr algn="r">
              <a:buNone/>
            </a:pPr>
            <a:r>
              <a:rPr lang="en-US" sz="900" b="1" dirty="0">
                <a:solidFill>
                  <a:srgbClr val="02C39A"/>
                </a:solidFill>
                <a:latin typeface="Calibri"/>
              </a:rPr>
              <a:t>68% used</a:t>
            </a:r>
          </a:p>
        </p:txBody>
      </p:sp>
      <p:sp>
        <p:nvSpPr>
          <p:cNvPr id="26" name="S26">
            <a:extLst>
              <a:ext uri="{FF2B5EF4-FFF2-40B4-BE49-F238E27FC236}">
                <a16:creationId xmlns:a16="http://schemas.microsoft.com/office/drawing/2014/main" id="{46C305D0-1A41-2986-2CB5-61D4CED33F59}"/>
              </a:ext>
            </a:extLst>
          </p:cNvPr>
          <p:cNvSpPr/>
          <p:nvPr/>
        </p:nvSpPr>
        <p:spPr>
          <a:xfrm>
            <a:off x="581025" y="2743200"/>
            <a:ext cx="171450" cy="171450"/>
          </a:xfrm>
          <a:prstGeom prst="ellipse">
            <a:avLst/>
          </a:prstGeom>
          <a:solidFill>
            <a:srgbClr val="48B8D0"/>
          </a:solidFill>
          <a:ln>
            <a:noFill/>
          </a:ln>
        </p:spPr>
        <p:txBody>
          <a:bodyPr wrap="square" lIns="34290" tIns="20574" rIns="34290" bIns="20574" anchor="ctr"/>
          <a:lstStyle/>
          <a:p>
            <a:pPr algn="ctr">
              <a:buNone/>
            </a:pPr>
            <a:r>
              <a:rPr lang="en-US" sz="675" b="1" dirty="0">
                <a:solidFill>
                  <a:srgbClr val="FFFFFF"/>
                </a:solidFill>
                <a:latin typeface="Calibri"/>
              </a:rPr>
              <a:t>!</a:t>
            </a:r>
          </a:p>
        </p:txBody>
      </p:sp>
      <p:sp>
        <p:nvSpPr>
          <p:cNvPr id="30" name="S30">
            <a:extLst>
              <a:ext uri="{FF2B5EF4-FFF2-40B4-BE49-F238E27FC236}">
                <a16:creationId xmlns:a16="http://schemas.microsoft.com/office/drawing/2014/main" id="{921133AB-A44D-45BF-B6B3-CB4033F2950A}"/>
              </a:ext>
            </a:extLst>
          </p:cNvPr>
          <p:cNvSpPr/>
          <p:nvPr/>
        </p:nvSpPr>
        <p:spPr>
          <a:xfrm>
            <a:off x="838200" y="2714625"/>
            <a:ext cx="3524250" cy="228600"/>
          </a:xfrm>
          <a:prstGeom prst="rect">
            <a:avLst/>
          </a:prstGeom>
          <a:noFill/>
          <a:ln>
            <a:noFill/>
          </a:ln>
        </p:spPr>
        <p:txBody>
          <a:bodyPr wrap="square" lIns="34290" tIns="20574" rIns="34290" bIns="20574" anchor="ctr"/>
          <a:lstStyle/>
          <a:p>
            <a:pPr algn="l">
              <a:buNone/>
            </a:pPr>
            <a:r>
              <a:rPr lang="en-US" sz="1050" b="1" dirty="0">
                <a:solidFill>
                  <a:srgbClr val="1A2B3C"/>
                </a:solidFill>
                <a:latin typeface="Calibri"/>
              </a:rPr>
              <a:t>50% — Info Alert</a:t>
            </a:r>
          </a:p>
        </p:txBody>
      </p:sp>
      <p:sp>
        <p:nvSpPr>
          <p:cNvPr id="27" name="S27">
            <a:extLst>
              <a:ext uri="{FF2B5EF4-FFF2-40B4-BE49-F238E27FC236}">
                <a16:creationId xmlns:a16="http://schemas.microsoft.com/office/drawing/2014/main" id="{15BEBC23-9DAB-C51D-66F8-AB02E38262EA}"/>
              </a:ext>
            </a:extLst>
          </p:cNvPr>
          <p:cNvSpPr/>
          <p:nvPr/>
        </p:nvSpPr>
        <p:spPr>
          <a:xfrm>
            <a:off x="581025" y="3028950"/>
            <a:ext cx="171450" cy="171450"/>
          </a:xfrm>
          <a:prstGeom prst="ellipse">
            <a:avLst/>
          </a:prstGeom>
          <a:solidFill>
            <a:srgbClr val="F4A261"/>
          </a:solidFill>
          <a:ln>
            <a:noFill/>
          </a:ln>
        </p:spPr>
        <p:txBody>
          <a:bodyPr wrap="square" lIns="34290" tIns="20574" rIns="34290" bIns="20574" anchor="ctr"/>
          <a:lstStyle/>
          <a:p>
            <a:pPr algn="ctr">
              <a:buNone/>
            </a:pPr>
            <a:r>
              <a:rPr lang="en-US" sz="675" b="1" dirty="0">
                <a:solidFill>
                  <a:srgbClr val="FFFFFF"/>
                </a:solidFill>
                <a:latin typeface="Calibri"/>
              </a:rPr>
              <a:t>!</a:t>
            </a:r>
          </a:p>
        </p:txBody>
      </p:sp>
      <p:sp>
        <p:nvSpPr>
          <p:cNvPr id="31" name="S31">
            <a:extLst>
              <a:ext uri="{FF2B5EF4-FFF2-40B4-BE49-F238E27FC236}">
                <a16:creationId xmlns:a16="http://schemas.microsoft.com/office/drawing/2014/main" id="{C7713942-9707-0BA3-1B88-176B91470F0F}"/>
              </a:ext>
            </a:extLst>
          </p:cNvPr>
          <p:cNvSpPr/>
          <p:nvPr/>
        </p:nvSpPr>
        <p:spPr>
          <a:xfrm>
            <a:off x="838200" y="3000375"/>
            <a:ext cx="3524250" cy="228600"/>
          </a:xfrm>
          <a:prstGeom prst="rect">
            <a:avLst/>
          </a:prstGeom>
          <a:noFill/>
          <a:ln>
            <a:noFill/>
          </a:ln>
        </p:spPr>
        <p:txBody>
          <a:bodyPr wrap="square" lIns="34290" tIns="20574" rIns="34290" bIns="20574" anchor="ctr"/>
          <a:lstStyle/>
          <a:p>
            <a:pPr algn="l">
              <a:buNone/>
            </a:pPr>
            <a:r>
              <a:rPr lang="en-US" sz="1050" b="1" dirty="0">
                <a:solidFill>
                  <a:srgbClr val="1A2B3C"/>
                </a:solidFill>
                <a:latin typeface="Calibri"/>
              </a:rPr>
              <a:t>75% — Warning Alert</a:t>
            </a:r>
          </a:p>
        </p:txBody>
      </p:sp>
      <p:sp>
        <p:nvSpPr>
          <p:cNvPr id="28" name="S28">
            <a:extLst>
              <a:ext uri="{FF2B5EF4-FFF2-40B4-BE49-F238E27FC236}">
                <a16:creationId xmlns:a16="http://schemas.microsoft.com/office/drawing/2014/main" id="{F27E9484-346F-648B-A702-B9813B5AE5C9}"/>
              </a:ext>
            </a:extLst>
          </p:cNvPr>
          <p:cNvSpPr/>
          <p:nvPr/>
        </p:nvSpPr>
        <p:spPr>
          <a:xfrm>
            <a:off x="581025" y="3314700"/>
            <a:ext cx="171450" cy="171450"/>
          </a:xfrm>
          <a:prstGeom prst="ellipse">
            <a:avLst/>
          </a:prstGeom>
          <a:solidFill>
            <a:srgbClr val="E76F51"/>
          </a:solidFill>
          <a:ln>
            <a:noFill/>
          </a:ln>
        </p:spPr>
        <p:txBody>
          <a:bodyPr wrap="square" lIns="34290" tIns="20574" rIns="34290" bIns="20574" anchor="ctr"/>
          <a:lstStyle/>
          <a:p>
            <a:pPr algn="ctr">
              <a:buNone/>
            </a:pPr>
            <a:r>
              <a:rPr lang="en-US" sz="675" b="1" dirty="0">
                <a:solidFill>
                  <a:srgbClr val="FFFFFF"/>
                </a:solidFill>
                <a:latin typeface="Calibri"/>
              </a:rPr>
              <a:t>!</a:t>
            </a:r>
          </a:p>
        </p:txBody>
      </p:sp>
      <p:sp>
        <p:nvSpPr>
          <p:cNvPr id="32" name="S32">
            <a:extLst>
              <a:ext uri="{FF2B5EF4-FFF2-40B4-BE49-F238E27FC236}">
                <a16:creationId xmlns:a16="http://schemas.microsoft.com/office/drawing/2014/main" id="{67EF448F-2B50-118B-DB94-B58239CCCF2B}"/>
              </a:ext>
            </a:extLst>
          </p:cNvPr>
          <p:cNvSpPr/>
          <p:nvPr/>
        </p:nvSpPr>
        <p:spPr>
          <a:xfrm>
            <a:off x="838200" y="3286125"/>
            <a:ext cx="3524250" cy="228600"/>
          </a:xfrm>
          <a:prstGeom prst="rect">
            <a:avLst/>
          </a:prstGeom>
          <a:noFill/>
          <a:ln>
            <a:noFill/>
          </a:ln>
        </p:spPr>
        <p:txBody>
          <a:bodyPr wrap="square" lIns="34290" tIns="20574" rIns="34290" bIns="20574" anchor="ctr"/>
          <a:lstStyle/>
          <a:p>
            <a:pPr algn="l">
              <a:buNone/>
            </a:pPr>
            <a:r>
              <a:rPr lang="en-US" sz="1050" b="1" dirty="0">
                <a:solidFill>
                  <a:srgbClr val="1A2B3C"/>
                </a:solidFill>
                <a:latin typeface="Calibri"/>
              </a:rPr>
              <a:t>90% — Critical Alert</a:t>
            </a:r>
          </a:p>
        </p:txBody>
      </p:sp>
      <p:sp>
        <p:nvSpPr>
          <p:cNvPr id="40" name="S40">
            <a:extLst>
              <a:ext uri="{FF2B5EF4-FFF2-40B4-BE49-F238E27FC236}">
                <a16:creationId xmlns:a16="http://schemas.microsoft.com/office/drawing/2014/main" id="{92E250B2-EAE7-45E3-B8EF-857AA50E6891}"/>
              </a:ext>
            </a:extLst>
          </p:cNvPr>
          <p:cNvSpPr/>
          <p:nvPr/>
        </p:nvSpPr>
        <p:spPr>
          <a:xfrm>
            <a:off x="4857750" y="1143000"/>
            <a:ext cx="3905250" cy="523875"/>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sz="1350"/>
          </a:p>
        </p:txBody>
      </p:sp>
      <p:sp>
        <p:nvSpPr>
          <p:cNvPr id="41" name="S41">
            <a:extLst>
              <a:ext uri="{FF2B5EF4-FFF2-40B4-BE49-F238E27FC236}">
                <a16:creationId xmlns:a16="http://schemas.microsoft.com/office/drawing/2014/main" id="{C03A092B-7F89-72C4-2272-1D17DBB7AB66}"/>
              </a:ext>
            </a:extLst>
          </p:cNvPr>
          <p:cNvSpPr/>
          <p:nvPr/>
        </p:nvSpPr>
        <p:spPr>
          <a:xfrm>
            <a:off x="4857750" y="1181100"/>
            <a:ext cx="47625" cy="447675"/>
          </a:xfrm>
          <a:prstGeom prst="rect">
            <a:avLst/>
          </a:prstGeom>
          <a:solidFill>
            <a:srgbClr val="02C39A"/>
          </a:solidFill>
          <a:ln>
            <a:noFill/>
          </a:ln>
        </p:spPr>
        <p:txBody>
          <a:bodyPr/>
          <a:lstStyle/>
          <a:p>
            <a:endParaRPr lang="en-IN" sz="1350"/>
          </a:p>
        </p:txBody>
      </p:sp>
      <p:sp>
        <p:nvSpPr>
          <p:cNvPr id="42" name="S42">
            <a:extLst>
              <a:ext uri="{FF2B5EF4-FFF2-40B4-BE49-F238E27FC236}">
                <a16:creationId xmlns:a16="http://schemas.microsoft.com/office/drawing/2014/main" id="{CB94A677-A7C5-E497-C2D7-8F9D4DE0D536}"/>
              </a:ext>
            </a:extLst>
          </p:cNvPr>
          <p:cNvSpPr/>
          <p:nvPr/>
        </p:nvSpPr>
        <p:spPr>
          <a:xfrm>
            <a:off x="5000625" y="1190625"/>
            <a:ext cx="3667125" cy="428625"/>
          </a:xfrm>
          <a:prstGeom prst="rect">
            <a:avLst/>
          </a:prstGeom>
          <a:noFill/>
          <a:ln>
            <a:noFill/>
          </a:ln>
        </p:spPr>
        <p:txBody>
          <a:bodyPr wrap="square" lIns="34290" tIns="20574" rIns="34290" bIns="20574" anchor="t"/>
          <a:lstStyle/>
          <a:p>
            <a:pPr algn="l">
              <a:buNone/>
            </a:pPr>
            <a:r>
              <a:rPr lang="en-US" sz="1125" b="1" dirty="0">
                <a:solidFill>
                  <a:srgbClr val="065A82"/>
                </a:solidFill>
                <a:latin typeface="Calibri"/>
              </a:rPr>
              <a:t>Flexible Periods</a:t>
            </a:r>
          </a:p>
          <a:p>
            <a:pPr algn="l">
              <a:buNone/>
            </a:pPr>
            <a:r>
              <a:rPr lang="en-US" sz="975" dirty="0">
                <a:solidFill>
                  <a:srgbClr val="1A2B3C">
                    <a:alpha val="75000"/>
                  </a:srgbClr>
                </a:solidFill>
                <a:latin typeface="Calibri"/>
              </a:rPr>
              <a:t>Weekly, Monthly, or Yearly budget cycles</a:t>
            </a:r>
          </a:p>
        </p:txBody>
      </p:sp>
      <p:sp>
        <p:nvSpPr>
          <p:cNvPr id="43" name="S43">
            <a:extLst>
              <a:ext uri="{FF2B5EF4-FFF2-40B4-BE49-F238E27FC236}">
                <a16:creationId xmlns:a16="http://schemas.microsoft.com/office/drawing/2014/main" id="{C2435789-C2AB-2BF3-E8DD-5EF93605004D}"/>
              </a:ext>
            </a:extLst>
          </p:cNvPr>
          <p:cNvSpPr/>
          <p:nvPr/>
        </p:nvSpPr>
        <p:spPr>
          <a:xfrm>
            <a:off x="4857750" y="1762125"/>
            <a:ext cx="3905250" cy="523875"/>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sz="1350"/>
          </a:p>
        </p:txBody>
      </p:sp>
      <p:sp>
        <p:nvSpPr>
          <p:cNvPr id="44" name="S44">
            <a:extLst>
              <a:ext uri="{FF2B5EF4-FFF2-40B4-BE49-F238E27FC236}">
                <a16:creationId xmlns:a16="http://schemas.microsoft.com/office/drawing/2014/main" id="{C8F7036C-B6E8-FAD4-2297-991E7FAC8A2E}"/>
              </a:ext>
            </a:extLst>
          </p:cNvPr>
          <p:cNvSpPr/>
          <p:nvPr/>
        </p:nvSpPr>
        <p:spPr>
          <a:xfrm>
            <a:off x="4857750" y="1800225"/>
            <a:ext cx="47625" cy="447675"/>
          </a:xfrm>
          <a:prstGeom prst="rect">
            <a:avLst/>
          </a:prstGeom>
          <a:solidFill>
            <a:srgbClr val="02C39A"/>
          </a:solidFill>
          <a:ln>
            <a:noFill/>
          </a:ln>
        </p:spPr>
        <p:txBody>
          <a:bodyPr/>
          <a:lstStyle/>
          <a:p>
            <a:endParaRPr lang="en-IN" sz="1350"/>
          </a:p>
        </p:txBody>
      </p:sp>
      <p:sp>
        <p:nvSpPr>
          <p:cNvPr id="45" name="S45">
            <a:extLst>
              <a:ext uri="{FF2B5EF4-FFF2-40B4-BE49-F238E27FC236}">
                <a16:creationId xmlns:a16="http://schemas.microsoft.com/office/drawing/2014/main" id="{C490C579-4D92-EBD8-72B7-10AF099E1733}"/>
              </a:ext>
            </a:extLst>
          </p:cNvPr>
          <p:cNvSpPr/>
          <p:nvPr/>
        </p:nvSpPr>
        <p:spPr>
          <a:xfrm>
            <a:off x="5000625" y="1809750"/>
            <a:ext cx="3667125" cy="428625"/>
          </a:xfrm>
          <a:prstGeom prst="rect">
            <a:avLst/>
          </a:prstGeom>
          <a:noFill/>
          <a:ln>
            <a:noFill/>
          </a:ln>
        </p:spPr>
        <p:txBody>
          <a:bodyPr wrap="square" lIns="34290" tIns="20574" rIns="34290" bIns="20574" anchor="t"/>
          <a:lstStyle/>
          <a:p>
            <a:pPr algn="l">
              <a:buNone/>
            </a:pPr>
            <a:r>
              <a:rPr lang="en-US" sz="1125" b="1" dirty="0">
                <a:solidFill>
                  <a:srgbClr val="065A82"/>
                </a:solidFill>
                <a:latin typeface="Calibri"/>
              </a:rPr>
              <a:t>Smart Notifications</a:t>
            </a:r>
          </a:p>
          <a:p>
            <a:pPr algn="l">
              <a:buNone/>
            </a:pPr>
            <a:r>
              <a:rPr lang="en-US" sz="975" dirty="0">
                <a:solidFill>
                  <a:srgbClr val="1A2B3C">
                    <a:alpha val="75000"/>
                  </a:srgbClr>
                </a:solidFill>
                <a:latin typeface="Calibri"/>
              </a:rPr>
              <a:t>In-app alerts when approaching limits</a:t>
            </a:r>
          </a:p>
        </p:txBody>
      </p:sp>
      <p:sp>
        <p:nvSpPr>
          <p:cNvPr id="46" name="S46">
            <a:extLst>
              <a:ext uri="{FF2B5EF4-FFF2-40B4-BE49-F238E27FC236}">
                <a16:creationId xmlns:a16="http://schemas.microsoft.com/office/drawing/2014/main" id="{F39A313F-B717-1019-ECD5-8CCB8A12394F}"/>
              </a:ext>
            </a:extLst>
          </p:cNvPr>
          <p:cNvSpPr/>
          <p:nvPr/>
        </p:nvSpPr>
        <p:spPr>
          <a:xfrm>
            <a:off x="4857750" y="2381250"/>
            <a:ext cx="3905250" cy="523875"/>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sz="1350"/>
          </a:p>
        </p:txBody>
      </p:sp>
      <p:sp>
        <p:nvSpPr>
          <p:cNvPr id="47" name="S47">
            <a:extLst>
              <a:ext uri="{FF2B5EF4-FFF2-40B4-BE49-F238E27FC236}">
                <a16:creationId xmlns:a16="http://schemas.microsoft.com/office/drawing/2014/main" id="{5F6BDE49-B056-78FC-7625-8653A44E12CE}"/>
              </a:ext>
            </a:extLst>
          </p:cNvPr>
          <p:cNvSpPr/>
          <p:nvPr/>
        </p:nvSpPr>
        <p:spPr>
          <a:xfrm>
            <a:off x="4857750" y="2419350"/>
            <a:ext cx="47625" cy="447675"/>
          </a:xfrm>
          <a:prstGeom prst="rect">
            <a:avLst/>
          </a:prstGeom>
          <a:solidFill>
            <a:srgbClr val="02C39A"/>
          </a:solidFill>
          <a:ln>
            <a:noFill/>
          </a:ln>
        </p:spPr>
        <p:txBody>
          <a:bodyPr/>
          <a:lstStyle/>
          <a:p>
            <a:endParaRPr lang="en-IN" sz="1350"/>
          </a:p>
        </p:txBody>
      </p:sp>
      <p:sp>
        <p:nvSpPr>
          <p:cNvPr id="48" name="S48">
            <a:extLst>
              <a:ext uri="{FF2B5EF4-FFF2-40B4-BE49-F238E27FC236}">
                <a16:creationId xmlns:a16="http://schemas.microsoft.com/office/drawing/2014/main" id="{A61B2F77-2B0D-2863-44B0-44AA78240B8E}"/>
              </a:ext>
            </a:extLst>
          </p:cNvPr>
          <p:cNvSpPr/>
          <p:nvPr/>
        </p:nvSpPr>
        <p:spPr>
          <a:xfrm>
            <a:off x="5000625" y="2428875"/>
            <a:ext cx="3667125" cy="428625"/>
          </a:xfrm>
          <a:prstGeom prst="rect">
            <a:avLst/>
          </a:prstGeom>
          <a:noFill/>
          <a:ln>
            <a:noFill/>
          </a:ln>
        </p:spPr>
        <p:txBody>
          <a:bodyPr wrap="square" lIns="34290" tIns="20574" rIns="34290" bIns="20574" anchor="t"/>
          <a:lstStyle/>
          <a:p>
            <a:pPr algn="l">
              <a:buNone/>
            </a:pPr>
            <a:r>
              <a:rPr lang="en-US" sz="1125" b="1" dirty="0">
                <a:solidFill>
                  <a:srgbClr val="065A82"/>
                </a:solidFill>
                <a:latin typeface="Calibri"/>
              </a:rPr>
              <a:t>Category Tracking</a:t>
            </a:r>
          </a:p>
          <a:p>
            <a:pPr algn="l">
              <a:buNone/>
            </a:pPr>
            <a:r>
              <a:rPr lang="en-US" sz="975" dirty="0">
                <a:solidFill>
                  <a:srgbClr val="1A2B3C">
                    <a:alpha val="75000"/>
                  </a:srgbClr>
                </a:solidFill>
                <a:latin typeface="Calibri"/>
              </a:rPr>
              <a:t>Per-category budgets with progress bars</a:t>
            </a:r>
          </a:p>
        </p:txBody>
      </p:sp>
      <p:sp>
        <p:nvSpPr>
          <p:cNvPr id="49" name="S49">
            <a:extLst>
              <a:ext uri="{FF2B5EF4-FFF2-40B4-BE49-F238E27FC236}">
                <a16:creationId xmlns:a16="http://schemas.microsoft.com/office/drawing/2014/main" id="{CEBA364E-5C7C-B0B2-0697-EC4FA08531E4}"/>
              </a:ext>
            </a:extLst>
          </p:cNvPr>
          <p:cNvSpPr/>
          <p:nvPr/>
        </p:nvSpPr>
        <p:spPr>
          <a:xfrm>
            <a:off x="4857750" y="3000375"/>
            <a:ext cx="3905250" cy="523875"/>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sz="1350"/>
          </a:p>
        </p:txBody>
      </p:sp>
      <p:sp>
        <p:nvSpPr>
          <p:cNvPr id="50" name="S50">
            <a:extLst>
              <a:ext uri="{FF2B5EF4-FFF2-40B4-BE49-F238E27FC236}">
                <a16:creationId xmlns:a16="http://schemas.microsoft.com/office/drawing/2014/main" id="{0644292F-4723-4A3B-39D1-7ABA34D17041}"/>
              </a:ext>
            </a:extLst>
          </p:cNvPr>
          <p:cNvSpPr/>
          <p:nvPr/>
        </p:nvSpPr>
        <p:spPr>
          <a:xfrm>
            <a:off x="4857750" y="3038475"/>
            <a:ext cx="47625" cy="447675"/>
          </a:xfrm>
          <a:prstGeom prst="rect">
            <a:avLst/>
          </a:prstGeom>
          <a:solidFill>
            <a:srgbClr val="02C39A"/>
          </a:solidFill>
          <a:ln>
            <a:noFill/>
          </a:ln>
        </p:spPr>
        <p:txBody>
          <a:bodyPr/>
          <a:lstStyle/>
          <a:p>
            <a:endParaRPr lang="en-IN" sz="1350"/>
          </a:p>
        </p:txBody>
      </p:sp>
      <p:sp>
        <p:nvSpPr>
          <p:cNvPr id="51" name="S51">
            <a:extLst>
              <a:ext uri="{FF2B5EF4-FFF2-40B4-BE49-F238E27FC236}">
                <a16:creationId xmlns:a16="http://schemas.microsoft.com/office/drawing/2014/main" id="{B41C89BE-0CDF-FA16-0FA3-13D6F9310A75}"/>
              </a:ext>
            </a:extLst>
          </p:cNvPr>
          <p:cNvSpPr/>
          <p:nvPr/>
        </p:nvSpPr>
        <p:spPr>
          <a:xfrm>
            <a:off x="5000625" y="3048000"/>
            <a:ext cx="3667125" cy="428625"/>
          </a:xfrm>
          <a:prstGeom prst="rect">
            <a:avLst/>
          </a:prstGeom>
          <a:noFill/>
          <a:ln>
            <a:noFill/>
          </a:ln>
        </p:spPr>
        <p:txBody>
          <a:bodyPr wrap="square" lIns="34290" tIns="20574" rIns="34290" bIns="20574" anchor="t"/>
          <a:lstStyle/>
          <a:p>
            <a:pPr algn="l">
              <a:buNone/>
            </a:pPr>
            <a:r>
              <a:rPr lang="en-US" sz="1125" b="1" dirty="0">
                <a:solidFill>
                  <a:srgbClr val="065A82"/>
                </a:solidFill>
                <a:latin typeface="Calibri"/>
              </a:rPr>
              <a:t>Real-time Updates</a:t>
            </a:r>
          </a:p>
          <a:p>
            <a:pPr algn="l">
              <a:buNone/>
            </a:pPr>
            <a:r>
              <a:rPr lang="en-US" sz="975" dirty="0">
                <a:solidFill>
                  <a:srgbClr val="1A2B3C">
                    <a:alpha val="75000"/>
                  </a:srgbClr>
                </a:solidFill>
                <a:latin typeface="Calibri"/>
              </a:rPr>
              <a:t>Budget usage updates as transactions sync</a:t>
            </a:r>
          </a:p>
        </p:txBody>
      </p:sp>
      <p:sp>
        <p:nvSpPr>
          <p:cNvPr id="60" name="S60">
            <a:extLst>
              <a:ext uri="{FF2B5EF4-FFF2-40B4-BE49-F238E27FC236}">
                <a16:creationId xmlns:a16="http://schemas.microsoft.com/office/drawing/2014/main" id="{466CF8A1-6811-521A-007A-898392740ECF}"/>
              </a:ext>
            </a:extLst>
          </p:cNvPr>
          <p:cNvSpPr/>
          <p:nvPr/>
        </p:nvSpPr>
        <p:spPr>
          <a:xfrm>
            <a:off x="342900" y="4762500"/>
            <a:ext cx="8458200" cy="19050"/>
          </a:xfrm>
          <a:prstGeom prst="rect">
            <a:avLst/>
          </a:prstGeom>
          <a:solidFill>
            <a:srgbClr val="02C39A"/>
          </a:solidFill>
          <a:ln>
            <a:noFill/>
          </a:ln>
        </p:spPr>
        <p:txBody>
          <a:bodyPr/>
          <a:lstStyle/>
          <a:p>
            <a:endParaRPr lang="en-IN" sz="1350"/>
          </a:p>
        </p:txBody>
      </p:sp>
    </p:spTree>
    <p:extLst>
      <p:ext uri="{BB962C8B-B14F-4D97-AF65-F5344CB8AC3E}">
        <p14:creationId xmlns:p14="http://schemas.microsoft.com/office/powerpoint/2010/main" val="1204909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342900" y="285750"/>
            <a:ext cx="47625" cy="381000"/>
          </a:xfrm>
          <a:prstGeom prst="rect">
            <a:avLst/>
          </a:prstGeom>
          <a:solidFill>
            <a:srgbClr val="02C39A"/>
          </a:solidFill>
          <a:ln>
            <a:noFill/>
          </a:ln>
        </p:spPr>
        <p:txBody>
          <a:bodyPr/>
          <a:lstStyle/>
          <a:p>
            <a:endParaRPr lang="en-IN"/>
          </a:p>
        </p:txBody>
      </p:sp>
      <p:sp>
        <p:nvSpPr>
          <p:cNvPr id="11" name="S11"/>
          <p:cNvSpPr/>
          <p:nvPr/>
        </p:nvSpPr>
        <p:spPr>
          <a:xfrm>
            <a:off x="495300" y="266700"/>
            <a:ext cx="5715000" cy="419100"/>
          </a:xfrm>
          <a:prstGeom prst="rect">
            <a:avLst/>
          </a:prstGeom>
          <a:noFill/>
          <a:ln>
            <a:noFill/>
          </a:ln>
        </p:spPr>
        <p:txBody>
          <a:bodyPr wrap="square" lIns="27432" tIns="13716" rIns="27432" bIns="13716" anchor="ctr"/>
          <a:lstStyle/>
          <a:p>
            <a:pPr algn="l">
              <a:buNone/>
            </a:pPr>
            <a:r>
              <a:rPr lang="en-US" sz="2400" b="1" dirty="0">
                <a:solidFill>
                  <a:srgbClr val="065A82"/>
                </a:solidFill>
                <a:latin typeface="Calibri"/>
              </a:rPr>
              <a:t>Feature 3: AI-Powered Insights</a:t>
            </a:r>
          </a:p>
        </p:txBody>
      </p:sp>
      <p:sp>
        <p:nvSpPr>
          <p:cNvPr id="12" name="S12"/>
          <p:cNvSpPr/>
          <p:nvPr/>
        </p:nvSpPr>
        <p:spPr>
          <a:xfrm>
            <a:off x="495300" y="742950"/>
            <a:ext cx="8191500" cy="247650"/>
          </a:xfrm>
          <a:prstGeom prst="rect">
            <a:avLst/>
          </a:prstGeom>
          <a:noFill/>
          <a:ln>
            <a:noFill/>
          </a:ln>
        </p:spPr>
        <p:txBody>
          <a:bodyPr wrap="square" lIns="27432" tIns="13716" rIns="27432" bIns="13716" anchor="ctr"/>
          <a:lstStyle/>
          <a:p>
            <a:pPr algn="l">
              <a:buNone/>
            </a:pPr>
            <a:r>
              <a:rPr lang="en-US" sz="1050" dirty="0">
                <a:solidFill>
                  <a:srgbClr val="1A2B3C">
                    <a:alpha val="70000"/>
                  </a:srgbClr>
                </a:solidFill>
                <a:latin typeface="Calibri"/>
              </a:rPr>
              <a:t>8 intelligent analytics powered by Hugging Face Qwen2.5-7B</a:t>
            </a:r>
          </a:p>
        </p:txBody>
      </p:sp>
      <p:sp>
        <p:nvSpPr>
          <p:cNvPr id="20" name="S20"/>
          <p:cNvSpPr/>
          <p:nvPr/>
        </p:nvSpPr>
        <p:spPr>
          <a:xfrm>
            <a:off x="342900" y="1095375"/>
            <a:ext cx="1952625" cy="16192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21" name="S21"/>
          <p:cNvSpPr/>
          <p:nvPr/>
        </p:nvSpPr>
        <p:spPr>
          <a:xfrm>
            <a:off x="1147763" y="1238250"/>
            <a:ext cx="342900" cy="342900"/>
          </a:xfrm>
          <a:prstGeom prst="ellipse">
            <a:avLst/>
          </a:prstGeom>
          <a:solidFill>
            <a:srgbClr val="065A82"/>
          </a:solidFill>
          <a:ln>
            <a:noFill/>
          </a:ln>
        </p:spPr>
        <p:txBody>
          <a:bodyPr wrap="square" lIns="27432" tIns="13716" rIns="27432" bIns="13716" anchor="ctr"/>
          <a:lstStyle/>
          <a:p>
            <a:pPr algn="ctr">
              <a:buNone/>
            </a:pPr>
            <a:r>
              <a:rPr lang="en-US" sz="1200" b="1" dirty="0">
                <a:solidFill>
                  <a:srgbClr val="FFFFFF"/>
                </a:solidFill>
                <a:latin typeface="Calibri"/>
              </a:rPr>
              <a:t>!</a:t>
            </a:r>
          </a:p>
        </p:txBody>
      </p:sp>
      <p:sp>
        <p:nvSpPr>
          <p:cNvPr id="22" name="S22"/>
          <p:cNvSpPr/>
          <p:nvPr/>
        </p:nvSpPr>
        <p:spPr>
          <a:xfrm>
            <a:off x="419100" y="1666875"/>
            <a:ext cx="1800225" cy="904875"/>
          </a:xfrm>
          <a:prstGeom prst="rect">
            <a:avLst/>
          </a:prstGeom>
          <a:noFill/>
          <a:ln>
            <a:noFill/>
          </a:ln>
        </p:spPr>
        <p:txBody>
          <a:bodyPr wrap="square" lIns="27432" tIns="13716" rIns="27432" bIns="13716" anchor="t"/>
          <a:lstStyle/>
          <a:p>
            <a:pPr algn="ctr">
              <a:buNone/>
            </a:pPr>
            <a:r>
              <a:rPr lang="en-US" sz="1050" b="1" dirty="0">
                <a:solidFill>
                  <a:srgbClr val="065A82"/>
                </a:solidFill>
                <a:latin typeface="Calibri"/>
              </a:rPr>
              <a:t>Anomaly Detection</a:t>
            </a:r>
          </a:p>
          <a:p>
            <a:pPr algn="ctr">
              <a:buNone/>
            </a:pPr>
            <a:r>
              <a:rPr lang="en-US" sz="900" dirty="0">
                <a:solidFill>
                  <a:srgbClr val="1A2B3C">
                    <a:alpha val="75000"/>
                  </a:srgbClr>
                </a:solidFill>
                <a:latin typeface="Calibri"/>
              </a:rPr>
              <a:t>Flags unusual spending patterns automatically</a:t>
            </a:r>
          </a:p>
        </p:txBody>
      </p:sp>
      <p:sp>
        <p:nvSpPr>
          <p:cNvPr id="23" name="S23"/>
          <p:cNvSpPr/>
          <p:nvPr/>
        </p:nvSpPr>
        <p:spPr>
          <a:xfrm>
            <a:off x="2466975" y="1095375"/>
            <a:ext cx="1952625" cy="16192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24" name="S24"/>
          <p:cNvSpPr/>
          <p:nvPr/>
        </p:nvSpPr>
        <p:spPr>
          <a:xfrm>
            <a:off x="3271838" y="1238250"/>
            <a:ext cx="342900" cy="342900"/>
          </a:xfrm>
          <a:prstGeom prst="ellipse">
            <a:avLst/>
          </a:prstGeom>
          <a:solidFill>
            <a:srgbClr val="065A82"/>
          </a:solidFill>
          <a:ln>
            <a:noFill/>
          </a:ln>
        </p:spPr>
        <p:txBody>
          <a:bodyPr wrap="square" lIns="27432" tIns="13716" rIns="27432" bIns="13716" anchor="ctr"/>
          <a:lstStyle/>
          <a:p>
            <a:pPr algn="ctr">
              <a:buNone/>
            </a:pPr>
            <a:r>
              <a:rPr lang="en-US" sz="1200" b="1" dirty="0">
                <a:solidFill>
                  <a:srgbClr val="FFFFFF"/>
                </a:solidFill>
                <a:latin typeface="Calibri"/>
              </a:rPr>
              <a:t>R</a:t>
            </a:r>
          </a:p>
        </p:txBody>
      </p:sp>
      <p:sp>
        <p:nvSpPr>
          <p:cNvPr id="25" name="S25"/>
          <p:cNvSpPr/>
          <p:nvPr/>
        </p:nvSpPr>
        <p:spPr>
          <a:xfrm>
            <a:off x="2543175" y="1666875"/>
            <a:ext cx="1800225" cy="904875"/>
          </a:xfrm>
          <a:prstGeom prst="rect">
            <a:avLst/>
          </a:prstGeom>
          <a:noFill/>
          <a:ln>
            <a:noFill/>
          </a:ln>
        </p:spPr>
        <p:txBody>
          <a:bodyPr wrap="square" lIns="27432" tIns="13716" rIns="27432" bIns="13716" anchor="t"/>
          <a:lstStyle/>
          <a:p>
            <a:pPr algn="ctr">
              <a:buNone/>
            </a:pPr>
            <a:r>
              <a:rPr lang="en-US" sz="1050" b="1" dirty="0">
                <a:solidFill>
                  <a:srgbClr val="065A82"/>
                </a:solidFill>
                <a:latin typeface="Calibri"/>
              </a:rPr>
              <a:t>Recurring Expenses</a:t>
            </a:r>
          </a:p>
          <a:p>
            <a:pPr algn="ctr">
              <a:buNone/>
            </a:pPr>
            <a:r>
              <a:rPr lang="en-US" sz="900" dirty="0">
                <a:solidFill>
                  <a:srgbClr val="1A2B3C">
                    <a:alpha val="75000"/>
                  </a:srgbClr>
                </a:solidFill>
                <a:latin typeface="Calibri"/>
              </a:rPr>
              <a:t>Identifies repeated charges across months</a:t>
            </a:r>
          </a:p>
        </p:txBody>
      </p:sp>
      <p:sp>
        <p:nvSpPr>
          <p:cNvPr id="26" name="S26"/>
          <p:cNvSpPr/>
          <p:nvPr/>
        </p:nvSpPr>
        <p:spPr>
          <a:xfrm>
            <a:off x="4591050" y="1095375"/>
            <a:ext cx="1952625" cy="16192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27" name="S27"/>
          <p:cNvSpPr/>
          <p:nvPr/>
        </p:nvSpPr>
        <p:spPr>
          <a:xfrm>
            <a:off x="5395913" y="1238250"/>
            <a:ext cx="342900" cy="342900"/>
          </a:xfrm>
          <a:prstGeom prst="ellipse">
            <a:avLst/>
          </a:prstGeom>
          <a:solidFill>
            <a:srgbClr val="065A82"/>
          </a:solidFill>
          <a:ln>
            <a:noFill/>
          </a:ln>
        </p:spPr>
        <p:txBody>
          <a:bodyPr wrap="square" lIns="27432" tIns="13716" rIns="27432" bIns="13716" anchor="ctr"/>
          <a:lstStyle/>
          <a:p>
            <a:pPr algn="ctr">
              <a:buNone/>
            </a:pPr>
            <a:r>
              <a:rPr lang="en-US" sz="1200" b="1" dirty="0">
                <a:solidFill>
                  <a:srgbClr val="FFFFFF"/>
                </a:solidFill>
                <a:latin typeface="Calibri"/>
              </a:rPr>
              <a:t>W</a:t>
            </a:r>
          </a:p>
        </p:txBody>
      </p:sp>
      <p:sp>
        <p:nvSpPr>
          <p:cNvPr id="28" name="S28"/>
          <p:cNvSpPr/>
          <p:nvPr/>
        </p:nvSpPr>
        <p:spPr>
          <a:xfrm>
            <a:off x="4667250" y="1666875"/>
            <a:ext cx="1800225" cy="904875"/>
          </a:xfrm>
          <a:prstGeom prst="rect">
            <a:avLst/>
          </a:prstGeom>
          <a:noFill/>
          <a:ln>
            <a:noFill/>
          </a:ln>
        </p:spPr>
        <p:txBody>
          <a:bodyPr wrap="square" lIns="27432" tIns="13716" rIns="27432" bIns="13716" anchor="t"/>
          <a:lstStyle/>
          <a:p>
            <a:pPr algn="ctr">
              <a:buNone/>
            </a:pPr>
            <a:r>
              <a:rPr lang="en-US" sz="1050" b="1" dirty="0">
                <a:solidFill>
                  <a:srgbClr val="065A82"/>
                </a:solidFill>
                <a:latin typeface="Calibri"/>
              </a:rPr>
              <a:t>Weekday vs Weekend</a:t>
            </a:r>
          </a:p>
          <a:p>
            <a:pPr algn="ctr">
              <a:buNone/>
            </a:pPr>
            <a:r>
              <a:rPr lang="en-US" sz="900" dirty="0">
                <a:solidFill>
                  <a:srgbClr val="1A2B3C">
                    <a:alpha val="75000"/>
                  </a:srgbClr>
                </a:solidFill>
                <a:latin typeface="Calibri"/>
              </a:rPr>
              <a:t>Compares spending habits by day type</a:t>
            </a:r>
          </a:p>
        </p:txBody>
      </p:sp>
      <p:sp>
        <p:nvSpPr>
          <p:cNvPr id="29" name="S29"/>
          <p:cNvSpPr/>
          <p:nvPr/>
        </p:nvSpPr>
        <p:spPr>
          <a:xfrm>
            <a:off x="6715125" y="1095375"/>
            <a:ext cx="1952625" cy="16192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30" name="S30"/>
          <p:cNvSpPr/>
          <p:nvPr/>
        </p:nvSpPr>
        <p:spPr>
          <a:xfrm>
            <a:off x="7519988" y="1238250"/>
            <a:ext cx="342900" cy="342900"/>
          </a:xfrm>
          <a:prstGeom prst="ellipse">
            <a:avLst/>
          </a:prstGeom>
          <a:solidFill>
            <a:srgbClr val="065A82"/>
          </a:solidFill>
          <a:ln>
            <a:noFill/>
          </a:ln>
        </p:spPr>
        <p:txBody>
          <a:bodyPr wrap="square" lIns="27432" tIns="13716" rIns="27432" bIns="13716" anchor="ctr"/>
          <a:lstStyle/>
          <a:p>
            <a:pPr algn="ctr">
              <a:buNone/>
            </a:pPr>
            <a:r>
              <a:rPr lang="en-US" sz="1200" b="1" dirty="0">
                <a:solidFill>
                  <a:srgbClr val="FFFFFF"/>
                </a:solidFill>
                <a:latin typeface="Calibri"/>
              </a:rPr>
              <a:t>T</a:t>
            </a:r>
          </a:p>
        </p:txBody>
      </p:sp>
      <p:sp>
        <p:nvSpPr>
          <p:cNvPr id="31" name="S31"/>
          <p:cNvSpPr/>
          <p:nvPr/>
        </p:nvSpPr>
        <p:spPr>
          <a:xfrm>
            <a:off x="6791325" y="1666875"/>
            <a:ext cx="1800225" cy="904875"/>
          </a:xfrm>
          <a:prstGeom prst="rect">
            <a:avLst/>
          </a:prstGeom>
          <a:noFill/>
          <a:ln>
            <a:noFill/>
          </a:ln>
        </p:spPr>
        <p:txBody>
          <a:bodyPr wrap="square" lIns="27432" tIns="13716" rIns="27432" bIns="13716" anchor="t"/>
          <a:lstStyle/>
          <a:p>
            <a:pPr algn="ctr">
              <a:buNone/>
            </a:pPr>
            <a:r>
              <a:rPr lang="en-US" sz="1050" b="1" dirty="0">
                <a:solidFill>
                  <a:srgbClr val="065A82"/>
                </a:solidFill>
                <a:latin typeface="Calibri"/>
              </a:rPr>
              <a:t>MoM Trend (6-mo)</a:t>
            </a:r>
          </a:p>
          <a:p>
            <a:pPr algn="ctr">
              <a:buNone/>
            </a:pPr>
            <a:r>
              <a:rPr lang="en-US" sz="900" dirty="0">
                <a:solidFill>
                  <a:srgbClr val="1A2B3C">
                    <a:alpha val="75000"/>
                  </a:srgbClr>
                </a:solidFill>
                <a:latin typeface="Calibri"/>
              </a:rPr>
              <a:t>Month-over-month spending trajectory</a:t>
            </a:r>
          </a:p>
        </p:txBody>
      </p:sp>
      <p:sp>
        <p:nvSpPr>
          <p:cNvPr id="32" name="S32"/>
          <p:cNvSpPr/>
          <p:nvPr/>
        </p:nvSpPr>
        <p:spPr>
          <a:xfrm>
            <a:off x="342900" y="2886075"/>
            <a:ext cx="1952625" cy="16192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33" name="S33"/>
          <p:cNvSpPr/>
          <p:nvPr/>
        </p:nvSpPr>
        <p:spPr>
          <a:xfrm>
            <a:off x="1147763" y="3028950"/>
            <a:ext cx="342900" cy="342900"/>
          </a:xfrm>
          <a:prstGeom prst="ellipse">
            <a:avLst/>
          </a:prstGeom>
          <a:solidFill>
            <a:srgbClr val="065A82"/>
          </a:solidFill>
          <a:ln>
            <a:noFill/>
          </a:ln>
        </p:spPr>
        <p:txBody>
          <a:bodyPr wrap="square" lIns="27432" tIns="13716" rIns="27432" bIns="13716" anchor="ctr"/>
          <a:lstStyle/>
          <a:p>
            <a:pPr algn="ctr">
              <a:buNone/>
            </a:pPr>
            <a:r>
              <a:rPr lang="en-US" sz="1200" b="1" dirty="0">
                <a:solidFill>
                  <a:srgbClr val="FFFFFF"/>
                </a:solidFill>
                <a:latin typeface="Calibri"/>
              </a:rPr>
              <a:t>S</a:t>
            </a:r>
          </a:p>
        </p:txBody>
      </p:sp>
      <p:sp>
        <p:nvSpPr>
          <p:cNvPr id="34" name="S34"/>
          <p:cNvSpPr/>
          <p:nvPr/>
        </p:nvSpPr>
        <p:spPr>
          <a:xfrm>
            <a:off x="419100" y="3457575"/>
            <a:ext cx="1800225" cy="904875"/>
          </a:xfrm>
          <a:prstGeom prst="rect">
            <a:avLst/>
          </a:prstGeom>
          <a:noFill/>
          <a:ln>
            <a:noFill/>
          </a:ln>
        </p:spPr>
        <p:txBody>
          <a:bodyPr wrap="square" lIns="27432" tIns="13716" rIns="27432" bIns="13716" anchor="t"/>
          <a:lstStyle/>
          <a:p>
            <a:pPr algn="ctr">
              <a:buNone/>
            </a:pPr>
            <a:r>
              <a:rPr lang="en-US" sz="1050" b="1" dirty="0">
                <a:solidFill>
                  <a:srgbClr val="065A82"/>
                </a:solidFill>
                <a:latin typeface="Calibri"/>
              </a:rPr>
              <a:t>Savings Rate</a:t>
            </a:r>
          </a:p>
          <a:p>
            <a:pPr algn="ctr">
              <a:buNone/>
            </a:pPr>
            <a:r>
              <a:rPr lang="en-US" sz="900" dirty="0">
                <a:solidFill>
                  <a:srgbClr val="1A2B3C">
                    <a:alpha val="75000"/>
                  </a:srgbClr>
                </a:solidFill>
                <a:latin typeface="Calibri"/>
              </a:rPr>
              <a:t>Tracks income vs expense savings ratio</a:t>
            </a:r>
          </a:p>
        </p:txBody>
      </p:sp>
      <p:sp>
        <p:nvSpPr>
          <p:cNvPr id="35" name="S35"/>
          <p:cNvSpPr/>
          <p:nvPr/>
        </p:nvSpPr>
        <p:spPr>
          <a:xfrm>
            <a:off x="2466975" y="2886075"/>
            <a:ext cx="1952625" cy="16192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36" name="S36"/>
          <p:cNvSpPr/>
          <p:nvPr/>
        </p:nvSpPr>
        <p:spPr>
          <a:xfrm>
            <a:off x="3271838" y="3028950"/>
            <a:ext cx="342900" cy="342900"/>
          </a:xfrm>
          <a:prstGeom prst="ellipse">
            <a:avLst/>
          </a:prstGeom>
          <a:solidFill>
            <a:srgbClr val="065A82"/>
          </a:solidFill>
          <a:ln>
            <a:noFill/>
          </a:ln>
        </p:spPr>
        <p:txBody>
          <a:bodyPr wrap="square" lIns="27432" tIns="13716" rIns="27432" bIns="13716" anchor="ctr"/>
          <a:lstStyle/>
          <a:p>
            <a:pPr algn="ctr">
              <a:buNone/>
            </a:pPr>
            <a:r>
              <a:rPr lang="en-US" sz="1200" b="1" dirty="0">
                <a:solidFill>
                  <a:srgbClr val="FFFFFF"/>
                </a:solidFill>
                <a:latin typeface="Calibri"/>
              </a:rPr>
              <a:t>P</a:t>
            </a:r>
          </a:p>
        </p:txBody>
      </p:sp>
      <p:sp>
        <p:nvSpPr>
          <p:cNvPr id="37" name="S37"/>
          <p:cNvSpPr/>
          <p:nvPr/>
        </p:nvSpPr>
        <p:spPr>
          <a:xfrm>
            <a:off x="2543175" y="3457575"/>
            <a:ext cx="1800225" cy="904875"/>
          </a:xfrm>
          <a:prstGeom prst="rect">
            <a:avLst/>
          </a:prstGeom>
          <a:noFill/>
          <a:ln>
            <a:noFill/>
          </a:ln>
        </p:spPr>
        <p:txBody>
          <a:bodyPr wrap="square" lIns="27432" tIns="13716" rIns="27432" bIns="13716" anchor="t"/>
          <a:lstStyle/>
          <a:p>
            <a:pPr algn="ctr">
              <a:buNone/>
            </a:pPr>
            <a:r>
              <a:rPr lang="en-US" sz="1050" b="1" dirty="0">
                <a:solidFill>
                  <a:srgbClr val="065A82"/>
                </a:solidFill>
                <a:latin typeface="Calibri"/>
              </a:rPr>
              <a:t>Month-End Projection</a:t>
            </a:r>
          </a:p>
          <a:p>
            <a:pPr algn="ctr">
              <a:buNone/>
            </a:pPr>
            <a:r>
              <a:rPr lang="en-US" sz="900" dirty="0">
                <a:solidFill>
                  <a:srgbClr val="1A2B3C">
                    <a:alpha val="75000"/>
                  </a:srgbClr>
                </a:solidFill>
                <a:latin typeface="Calibri"/>
              </a:rPr>
              <a:t>Predicts end-of-month spend total</a:t>
            </a:r>
          </a:p>
        </p:txBody>
      </p:sp>
      <p:sp>
        <p:nvSpPr>
          <p:cNvPr id="38" name="S38"/>
          <p:cNvSpPr/>
          <p:nvPr/>
        </p:nvSpPr>
        <p:spPr>
          <a:xfrm>
            <a:off x="4591050" y="2886075"/>
            <a:ext cx="1952625" cy="16192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39" name="S39"/>
          <p:cNvSpPr/>
          <p:nvPr/>
        </p:nvSpPr>
        <p:spPr>
          <a:xfrm>
            <a:off x="5395913" y="3028950"/>
            <a:ext cx="342900" cy="342900"/>
          </a:xfrm>
          <a:prstGeom prst="ellipse">
            <a:avLst/>
          </a:prstGeom>
          <a:solidFill>
            <a:srgbClr val="065A82"/>
          </a:solidFill>
          <a:ln>
            <a:noFill/>
          </a:ln>
        </p:spPr>
        <p:txBody>
          <a:bodyPr wrap="square" lIns="27432" tIns="13716" rIns="27432" bIns="13716" anchor="ctr"/>
          <a:lstStyle/>
          <a:p>
            <a:pPr algn="ctr">
              <a:buNone/>
            </a:pPr>
            <a:r>
              <a:rPr lang="en-US" sz="1200" b="1" dirty="0">
                <a:solidFill>
                  <a:srgbClr val="FFFFFF"/>
                </a:solidFill>
                <a:latin typeface="Calibri"/>
              </a:rPr>
              <a:t>H</a:t>
            </a:r>
          </a:p>
        </p:txBody>
      </p:sp>
      <p:sp>
        <p:nvSpPr>
          <p:cNvPr id="40" name="S40"/>
          <p:cNvSpPr/>
          <p:nvPr/>
        </p:nvSpPr>
        <p:spPr>
          <a:xfrm>
            <a:off x="4667250" y="3457575"/>
            <a:ext cx="1800225" cy="904875"/>
          </a:xfrm>
          <a:prstGeom prst="rect">
            <a:avLst/>
          </a:prstGeom>
          <a:noFill/>
          <a:ln>
            <a:noFill/>
          </a:ln>
        </p:spPr>
        <p:txBody>
          <a:bodyPr wrap="square" lIns="27432" tIns="13716" rIns="27432" bIns="13716" anchor="t"/>
          <a:lstStyle/>
          <a:p>
            <a:pPr algn="ctr">
              <a:buNone/>
            </a:pPr>
            <a:r>
              <a:rPr lang="en-US" sz="1050" b="1" dirty="0">
                <a:solidFill>
                  <a:srgbClr val="065A82"/>
                </a:solidFill>
                <a:latin typeface="Calibri"/>
              </a:rPr>
              <a:t>Budget Health</a:t>
            </a:r>
          </a:p>
          <a:p>
            <a:pPr algn="ctr">
              <a:buNone/>
            </a:pPr>
            <a:r>
              <a:rPr lang="en-US" sz="900" dirty="0">
                <a:solidFill>
                  <a:srgbClr val="1A2B3C">
                    <a:alpha val="75000"/>
                  </a:srgbClr>
                </a:solidFill>
                <a:latin typeface="Calibri"/>
              </a:rPr>
              <a:t>Overall score across all active budgets</a:t>
            </a:r>
          </a:p>
        </p:txBody>
      </p:sp>
      <p:sp>
        <p:nvSpPr>
          <p:cNvPr id="41" name="S41"/>
          <p:cNvSpPr/>
          <p:nvPr/>
        </p:nvSpPr>
        <p:spPr>
          <a:xfrm>
            <a:off x="6715125" y="2886075"/>
            <a:ext cx="1952625" cy="16192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42" name="S42"/>
          <p:cNvSpPr/>
          <p:nvPr/>
        </p:nvSpPr>
        <p:spPr>
          <a:xfrm>
            <a:off x="7519988" y="3028950"/>
            <a:ext cx="342900" cy="342900"/>
          </a:xfrm>
          <a:prstGeom prst="ellipse">
            <a:avLst/>
          </a:prstGeom>
          <a:solidFill>
            <a:srgbClr val="065A82"/>
          </a:solidFill>
          <a:ln>
            <a:noFill/>
          </a:ln>
        </p:spPr>
        <p:txBody>
          <a:bodyPr wrap="square" lIns="27432" tIns="13716" rIns="27432" bIns="13716" anchor="ctr"/>
          <a:lstStyle/>
          <a:p>
            <a:pPr algn="ctr">
              <a:buNone/>
            </a:pPr>
            <a:r>
              <a:rPr lang="en-US" sz="1200" b="1" dirty="0">
                <a:solidFill>
                  <a:srgbClr val="FFFFFF"/>
                </a:solidFill>
                <a:latin typeface="Calibri"/>
              </a:rPr>
              <a:t>C</a:t>
            </a:r>
          </a:p>
        </p:txBody>
      </p:sp>
      <p:sp>
        <p:nvSpPr>
          <p:cNvPr id="43" name="S43"/>
          <p:cNvSpPr/>
          <p:nvPr/>
        </p:nvSpPr>
        <p:spPr>
          <a:xfrm>
            <a:off x="6791325" y="3457575"/>
            <a:ext cx="1800225" cy="904875"/>
          </a:xfrm>
          <a:prstGeom prst="rect">
            <a:avLst/>
          </a:prstGeom>
          <a:noFill/>
          <a:ln>
            <a:noFill/>
          </a:ln>
        </p:spPr>
        <p:txBody>
          <a:bodyPr wrap="square" lIns="27432" tIns="13716" rIns="27432" bIns="13716" anchor="t"/>
          <a:lstStyle/>
          <a:p>
            <a:pPr algn="ctr">
              <a:buNone/>
            </a:pPr>
            <a:r>
              <a:rPr lang="en-US" sz="1050" b="1" dirty="0">
                <a:solidFill>
                  <a:srgbClr val="065A82"/>
                </a:solidFill>
                <a:latin typeface="Calibri"/>
              </a:rPr>
              <a:t>AI Chat</a:t>
            </a:r>
          </a:p>
          <a:p>
            <a:pPr algn="ctr">
              <a:buNone/>
            </a:pPr>
            <a:r>
              <a:rPr lang="en-US" sz="900" dirty="0">
                <a:solidFill>
                  <a:srgbClr val="1A2B3C">
                    <a:alpha val="75000"/>
                  </a:srgbClr>
                </a:solidFill>
                <a:latin typeface="Calibri"/>
              </a:rPr>
              <a:t>Ask Qwen follow-up financial questions</a:t>
            </a:r>
          </a:p>
        </p:txBody>
      </p:sp>
      <p:sp>
        <p:nvSpPr>
          <p:cNvPr id="60" name="S60"/>
          <p:cNvSpPr/>
          <p:nvPr/>
        </p:nvSpPr>
        <p:spPr>
          <a:xfrm>
            <a:off x="342900" y="4762500"/>
            <a:ext cx="8458200" cy="19050"/>
          </a:xfrm>
          <a:prstGeom prst="rect">
            <a:avLst/>
          </a:prstGeom>
          <a:solidFill>
            <a:srgbClr val="02C39A"/>
          </a:solidFill>
          <a:ln>
            <a:noFill/>
          </a:ln>
        </p:spPr>
        <p:txBody>
          <a:bodyPr/>
          <a:lstStyle/>
          <a:p>
            <a:endParaRPr lang="en-IN"/>
          </a:p>
        </p:txBody>
      </p:sp>
    </p:spTree>
    <p:extLst>
      <p:ext uri="{BB962C8B-B14F-4D97-AF65-F5344CB8AC3E}">
        <p14:creationId xmlns:p14="http://schemas.microsoft.com/office/powerpoint/2010/main" val="2263660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342900" y="285750"/>
            <a:ext cx="47625" cy="381000"/>
          </a:xfrm>
          <a:prstGeom prst="rect">
            <a:avLst/>
          </a:prstGeom>
          <a:solidFill>
            <a:srgbClr val="02C39A"/>
          </a:solidFill>
          <a:ln>
            <a:noFill/>
          </a:ln>
        </p:spPr>
        <p:txBody>
          <a:bodyPr/>
          <a:lstStyle/>
          <a:p>
            <a:endParaRPr lang="en-IN"/>
          </a:p>
        </p:txBody>
      </p:sp>
      <p:sp>
        <p:nvSpPr>
          <p:cNvPr id="11" name="S11"/>
          <p:cNvSpPr/>
          <p:nvPr/>
        </p:nvSpPr>
        <p:spPr>
          <a:xfrm>
            <a:off x="495300" y="266700"/>
            <a:ext cx="5715000" cy="419100"/>
          </a:xfrm>
          <a:prstGeom prst="rect">
            <a:avLst/>
          </a:prstGeom>
          <a:noFill/>
          <a:ln>
            <a:noFill/>
          </a:ln>
        </p:spPr>
        <p:txBody>
          <a:bodyPr wrap="square" lIns="34290" tIns="20574" rIns="34290" bIns="20574" anchor="ctr"/>
          <a:lstStyle/>
          <a:p>
            <a:pPr algn="l">
              <a:buNone/>
            </a:pPr>
            <a:r>
              <a:rPr lang="en-US" sz="2400" b="1" dirty="0">
                <a:solidFill>
                  <a:srgbClr val="065A82"/>
                </a:solidFill>
                <a:latin typeface="Calibri"/>
              </a:rPr>
              <a:t>Feature 4: Financial News</a:t>
            </a:r>
          </a:p>
        </p:txBody>
      </p:sp>
      <p:sp>
        <p:nvSpPr>
          <p:cNvPr id="12" name="S12"/>
          <p:cNvSpPr/>
          <p:nvPr/>
        </p:nvSpPr>
        <p:spPr>
          <a:xfrm>
            <a:off x="495300" y="742950"/>
            <a:ext cx="8191500" cy="247650"/>
          </a:xfrm>
          <a:prstGeom prst="rect">
            <a:avLst/>
          </a:prstGeom>
          <a:noFill/>
          <a:ln>
            <a:noFill/>
          </a:ln>
        </p:spPr>
        <p:txBody>
          <a:bodyPr wrap="square" lIns="34290" tIns="20574" rIns="34290" bIns="20574" anchor="ctr"/>
          <a:lstStyle/>
          <a:p>
            <a:pPr algn="l">
              <a:buNone/>
            </a:pPr>
            <a:r>
              <a:rPr lang="en-US" sz="1050" dirty="0">
                <a:solidFill>
                  <a:srgbClr val="1A2B3C">
                    <a:alpha val="70000"/>
                  </a:srgbClr>
                </a:solidFill>
                <a:latin typeface="Calibri"/>
              </a:rPr>
              <a:t>Real-time financial news powered by NewsData.io API</a:t>
            </a:r>
          </a:p>
        </p:txBody>
      </p:sp>
      <p:sp>
        <p:nvSpPr>
          <p:cNvPr id="20" name="S20"/>
          <p:cNvSpPr/>
          <p:nvPr/>
        </p:nvSpPr>
        <p:spPr>
          <a:xfrm>
            <a:off x="342900" y="1123950"/>
            <a:ext cx="4286250" cy="33337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21" name="S21"/>
          <p:cNvSpPr/>
          <p:nvPr/>
        </p:nvSpPr>
        <p:spPr>
          <a:xfrm>
            <a:off x="342900" y="1123950"/>
            <a:ext cx="4286250" cy="428625"/>
          </a:xfrm>
          <a:prstGeom prst="roundRect">
            <a:avLst/>
          </a:prstGeom>
          <a:solidFill>
            <a:srgbClr val="065A82"/>
          </a:solidFill>
          <a:ln>
            <a:noFill/>
          </a:ln>
        </p:spPr>
        <p:txBody>
          <a:bodyPr wrap="square" lIns="34290" tIns="20574" rIns="34290" bIns="20574" anchor="ctr"/>
          <a:lstStyle/>
          <a:p>
            <a:pPr algn="ctr">
              <a:buNone/>
            </a:pPr>
            <a:r>
              <a:rPr lang="en-US" sz="1200" b="1" dirty="0">
                <a:solidFill>
                  <a:srgbClr val="FFFFFF"/>
                </a:solidFill>
                <a:latin typeface="Calibri"/>
              </a:rPr>
              <a:t>Financial News Feed</a:t>
            </a:r>
          </a:p>
        </p:txBody>
      </p:sp>
      <p:sp>
        <p:nvSpPr>
          <p:cNvPr id="22" name="S22"/>
          <p:cNvSpPr/>
          <p:nvPr/>
        </p:nvSpPr>
        <p:spPr>
          <a:xfrm>
            <a:off x="476250" y="1695450"/>
            <a:ext cx="4000500" cy="457200"/>
          </a:xfrm>
          <a:prstGeom prst="rect">
            <a:avLst/>
          </a:prstGeom>
          <a:noFill/>
          <a:ln>
            <a:noFill/>
          </a:ln>
        </p:spPr>
        <p:txBody>
          <a:bodyPr wrap="square" lIns="34290" tIns="20574" rIns="34290" bIns="20574" anchor="t"/>
          <a:lstStyle/>
          <a:p>
            <a:pPr algn="l">
              <a:buNone/>
            </a:pPr>
            <a:r>
              <a:rPr lang="en-US" sz="1050" dirty="0">
                <a:solidFill>
                  <a:srgbClr val="1A2B3C"/>
                </a:solidFill>
                <a:latin typeface="Calibri"/>
              </a:rPr>
              <a:t>Markets rally as Fed signals rate pause...</a:t>
            </a:r>
          </a:p>
        </p:txBody>
      </p:sp>
      <p:sp>
        <p:nvSpPr>
          <p:cNvPr id="23" name="S23"/>
          <p:cNvSpPr/>
          <p:nvPr/>
        </p:nvSpPr>
        <p:spPr>
          <a:xfrm>
            <a:off x="476250" y="2152650"/>
            <a:ext cx="4000500" cy="9525"/>
          </a:xfrm>
          <a:prstGeom prst="rect">
            <a:avLst/>
          </a:prstGeom>
          <a:solidFill>
            <a:srgbClr val="02C39A"/>
          </a:solidFill>
          <a:ln>
            <a:noFill/>
          </a:ln>
        </p:spPr>
        <p:txBody>
          <a:bodyPr/>
          <a:lstStyle/>
          <a:p>
            <a:endParaRPr lang="en-IN"/>
          </a:p>
        </p:txBody>
      </p:sp>
      <p:sp>
        <p:nvSpPr>
          <p:cNvPr id="24" name="S24"/>
          <p:cNvSpPr/>
          <p:nvPr/>
        </p:nvSpPr>
        <p:spPr>
          <a:xfrm>
            <a:off x="476250" y="2247900"/>
            <a:ext cx="4000500" cy="457200"/>
          </a:xfrm>
          <a:prstGeom prst="rect">
            <a:avLst/>
          </a:prstGeom>
          <a:noFill/>
          <a:ln>
            <a:noFill/>
          </a:ln>
        </p:spPr>
        <p:txBody>
          <a:bodyPr wrap="square" lIns="34290" tIns="20574" rIns="34290" bIns="20574" anchor="t"/>
          <a:lstStyle/>
          <a:p>
            <a:pPr algn="l">
              <a:buNone/>
            </a:pPr>
            <a:r>
              <a:rPr lang="en-US" sz="1050" dirty="0">
                <a:solidFill>
                  <a:srgbClr val="1A2B3C"/>
                </a:solidFill>
                <a:latin typeface="Calibri"/>
              </a:rPr>
              <a:t>Tech stocks lead S&amp;P 500 gains in Q4...</a:t>
            </a:r>
          </a:p>
        </p:txBody>
      </p:sp>
      <p:sp>
        <p:nvSpPr>
          <p:cNvPr id="25" name="S25"/>
          <p:cNvSpPr/>
          <p:nvPr/>
        </p:nvSpPr>
        <p:spPr>
          <a:xfrm>
            <a:off x="476250" y="2705100"/>
            <a:ext cx="4000500" cy="9525"/>
          </a:xfrm>
          <a:prstGeom prst="rect">
            <a:avLst/>
          </a:prstGeom>
          <a:solidFill>
            <a:srgbClr val="02C39A"/>
          </a:solidFill>
          <a:ln>
            <a:noFill/>
          </a:ln>
        </p:spPr>
        <p:txBody>
          <a:bodyPr/>
          <a:lstStyle/>
          <a:p>
            <a:endParaRPr lang="en-IN"/>
          </a:p>
        </p:txBody>
      </p:sp>
      <p:sp>
        <p:nvSpPr>
          <p:cNvPr id="26" name="S26"/>
          <p:cNvSpPr/>
          <p:nvPr/>
        </p:nvSpPr>
        <p:spPr>
          <a:xfrm>
            <a:off x="476250" y="2800350"/>
            <a:ext cx="4000500" cy="457200"/>
          </a:xfrm>
          <a:prstGeom prst="rect">
            <a:avLst/>
          </a:prstGeom>
          <a:noFill/>
          <a:ln>
            <a:noFill/>
          </a:ln>
        </p:spPr>
        <p:txBody>
          <a:bodyPr wrap="square" lIns="34290" tIns="20574" rIns="34290" bIns="20574" anchor="t"/>
          <a:lstStyle/>
          <a:p>
            <a:pPr algn="l">
              <a:buNone/>
            </a:pPr>
            <a:r>
              <a:rPr lang="en-US" sz="1050" dirty="0">
                <a:solidFill>
                  <a:srgbClr val="1A2B3C"/>
                </a:solidFill>
                <a:latin typeface="Calibri"/>
              </a:rPr>
              <a:t>Global inflation trends show signs of easing...</a:t>
            </a:r>
          </a:p>
        </p:txBody>
      </p:sp>
      <p:sp>
        <p:nvSpPr>
          <p:cNvPr id="27" name="S27"/>
          <p:cNvSpPr/>
          <p:nvPr/>
        </p:nvSpPr>
        <p:spPr>
          <a:xfrm>
            <a:off x="476250" y="3257550"/>
            <a:ext cx="4000500" cy="9525"/>
          </a:xfrm>
          <a:prstGeom prst="rect">
            <a:avLst/>
          </a:prstGeom>
          <a:solidFill>
            <a:srgbClr val="02C39A"/>
          </a:solidFill>
          <a:ln>
            <a:noFill/>
          </a:ln>
        </p:spPr>
        <p:txBody>
          <a:bodyPr/>
          <a:lstStyle/>
          <a:p>
            <a:endParaRPr lang="en-IN"/>
          </a:p>
        </p:txBody>
      </p:sp>
      <p:sp>
        <p:nvSpPr>
          <p:cNvPr id="28" name="S28"/>
          <p:cNvSpPr/>
          <p:nvPr/>
        </p:nvSpPr>
        <p:spPr>
          <a:xfrm>
            <a:off x="476250" y="3352800"/>
            <a:ext cx="4000500" cy="457200"/>
          </a:xfrm>
          <a:prstGeom prst="rect">
            <a:avLst/>
          </a:prstGeom>
          <a:noFill/>
          <a:ln>
            <a:noFill/>
          </a:ln>
        </p:spPr>
        <p:txBody>
          <a:bodyPr wrap="square" lIns="34290" tIns="20574" rIns="34290" bIns="20574" anchor="t"/>
          <a:lstStyle/>
          <a:p>
            <a:pPr algn="l">
              <a:buNone/>
            </a:pPr>
            <a:r>
              <a:rPr lang="en-US" sz="1050" dirty="0">
                <a:solidFill>
                  <a:srgbClr val="1A2B3C"/>
                </a:solidFill>
                <a:latin typeface="Calibri"/>
              </a:rPr>
              <a:t>Cryptocurrency regulation update: SEC rules...</a:t>
            </a:r>
          </a:p>
        </p:txBody>
      </p:sp>
      <p:sp>
        <p:nvSpPr>
          <p:cNvPr id="30" name="S30"/>
          <p:cNvSpPr/>
          <p:nvPr/>
        </p:nvSpPr>
        <p:spPr>
          <a:xfrm>
            <a:off x="1905000" y="4095750"/>
            <a:ext cx="952500" cy="190500"/>
          </a:xfrm>
          <a:prstGeom prst="rect">
            <a:avLst/>
          </a:prstGeom>
          <a:noFill/>
          <a:ln>
            <a:noFill/>
          </a:ln>
        </p:spPr>
        <p:txBody>
          <a:bodyPr wrap="square" lIns="34290" tIns="20574" rIns="34290" bIns="20574" anchor="ctr"/>
          <a:lstStyle/>
          <a:p>
            <a:pPr algn="ctr">
              <a:buNone/>
            </a:pPr>
            <a:r>
              <a:rPr lang="en-US" sz="1350" dirty="0">
                <a:solidFill>
                  <a:srgbClr val="02C39A"/>
                </a:solidFill>
                <a:latin typeface="Calibri"/>
              </a:rPr>
              <a:t>●  ○  ○  ○</a:t>
            </a:r>
          </a:p>
        </p:txBody>
      </p:sp>
      <p:sp>
        <p:nvSpPr>
          <p:cNvPr id="40" name="S40"/>
          <p:cNvSpPr/>
          <p:nvPr/>
        </p:nvSpPr>
        <p:spPr>
          <a:xfrm>
            <a:off x="4857750" y="1123950"/>
            <a:ext cx="3905250" cy="714375"/>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41" name="S41"/>
          <p:cNvSpPr/>
          <p:nvPr/>
        </p:nvSpPr>
        <p:spPr>
          <a:xfrm>
            <a:off x="4953000" y="1285875"/>
            <a:ext cx="381000" cy="381000"/>
          </a:xfrm>
          <a:prstGeom prst="ellipse">
            <a:avLst/>
          </a:prstGeom>
          <a:solidFill>
            <a:srgbClr val="065A82"/>
          </a:solidFill>
          <a:ln>
            <a:noFill/>
          </a:ln>
        </p:spPr>
        <p:txBody>
          <a:bodyPr wrap="square" lIns="34290" tIns="20574" rIns="34290" bIns="20574" anchor="ctr"/>
          <a:lstStyle/>
          <a:p>
            <a:pPr algn="ctr">
              <a:buNone/>
            </a:pPr>
            <a:r>
              <a:rPr lang="en-US" sz="1200" b="1" dirty="0">
                <a:solidFill>
                  <a:srgbClr val="FFFFFF"/>
                </a:solidFill>
                <a:latin typeface="Calibri"/>
              </a:rPr>
              <a:t>F</a:t>
            </a:r>
          </a:p>
        </p:txBody>
      </p:sp>
      <p:sp>
        <p:nvSpPr>
          <p:cNvPr id="42" name="S42"/>
          <p:cNvSpPr/>
          <p:nvPr/>
        </p:nvSpPr>
        <p:spPr>
          <a:xfrm>
            <a:off x="5429250" y="1171575"/>
            <a:ext cx="3238500" cy="619125"/>
          </a:xfrm>
          <a:prstGeom prst="rect">
            <a:avLst/>
          </a:prstGeom>
          <a:noFill/>
          <a:ln>
            <a:noFill/>
          </a:ln>
        </p:spPr>
        <p:txBody>
          <a:bodyPr wrap="square" lIns="34290" tIns="20574" rIns="34290" bIns="20574" anchor="t"/>
          <a:lstStyle/>
          <a:p>
            <a:pPr algn="l">
              <a:buNone/>
            </a:pPr>
            <a:r>
              <a:rPr lang="en-US" sz="1125" b="1" dirty="0">
                <a:solidFill>
                  <a:srgbClr val="065A82"/>
                </a:solidFill>
                <a:latin typeface="Calibri"/>
              </a:rPr>
              <a:t>Country Filters</a:t>
            </a:r>
          </a:p>
          <a:p>
            <a:pPr algn="l">
              <a:buNone/>
            </a:pPr>
            <a:r>
              <a:rPr lang="en-US" sz="900" dirty="0">
                <a:solidFill>
                  <a:srgbClr val="1A2B3C">
                    <a:alpha val="75000"/>
                  </a:srgbClr>
                </a:solidFill>
                <a:latin typeface="Calibri"/>
              </a:rPr>
              <a:t>Filter news by country and region to focus on relevant markets</a:t>
            </a:r>
          </a:p>
        </p:txBody>
      </p:sp>
      <p:sp>
        <p:nvSpPr>
          <p:cNvPr id="43" name="S43"/>
          <p:cNvSpPr/>
          <p:nvPr/>
        </p:nvSpPr>
        <p:spPr>
          <a:xfrm>
            <a:off x="4857750" y="1933575"/>
            <a:ext cx="3905250" cy="714375"/>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44" name="S44"/>
          <p:cNvSpPr/>
          <p:nvPr/>
        </p:nvSpPr>
        <p:spPr>
          <a:xfrm>
            <a:off x="4953000" y="2095500"/>
            <a:ext cx="381000" cy="381000"/>
          </a:xfrm>
          <a:prstGeom prst="ellipse">
            <a:avLst/>
          </a:prstGeom>
          <a:solidFill>
            <a:srgbClr val="065A82"/>
          </a:solidFill>
          <a:ln>
            <a:noFill/>
          </a:ln>
        </p:spPr>
        <p:txBody>
          <a:bodyPr wrap="square" lIns="34290" tIns="20574" rIns="34290" bIns="20574" anchor="ctr"/>
          <a:lstStyle/>
          <a:p>
            <a:pPr algn="ctr">
              <a:buNone/>
            </a:pPr>
            <a:r>
              <a:rPr lang="en-US" sz="1200" b="1" dirty="0">
                <a:solidFill>
                  <a:srgbClr val="FFFFFF"/>
                </a:solidFill>
                <a:latin typeface="Calibri"/>
              </a:rPr>
              <a:t>C</a:t>
            </a:r>
          </a:p>
        </p:txBody>
      </p:sp>
      <p:sp>
        <p:nvSpPr>
          <p:cNvPr id="45" name="S45"/>
          <p:cNvSpPr/>
          <p:nvPr/>
        </p:nvSpPr>
        <p:spPr>
          <a:xfrm>
            <a:off x="5429250" y="1981200"/>
            <a:ext cx="3238500" cy="619125"/>
          </a:xfrm>
          <a:prstGeom prst="rect">
            <a:avLst/>
          </a:prstGeom>
          <a:noFill/>
          <a:ln>
            <a:noFill/>
          </a:ln>
        </p:spPr>
        <p:txBody>
          <a:bodyPr wrap="square" lIns="34290" tIns="20574" rIns="34290" bIns="20574" anchor="t"/>
          <a:lstStyle/>
          <a:p>
            <a:pPr algn="l">
              <a:buNone/>
            </a:pPr>
            <a:r>
              <a:rPr lang="en-US" sz="1125" b="1" dirty="0">
                <a:solidFill>
                  <a:srgbClr val="065A82"/>
                </a:solidFill>
                <a:latin typeface="Calibri"/>
              </a:rPr>
              <a:t>Content Types</a:t>
            </a:r>
          </a:p>
          <a:p>
            <a:pPr algn="l">
              <a:buNone/>
            </a:pPr>
            <a:r>
              <a:rPr lang="en-US" sz="900" dirty="0">
                <a:solidFill>
                  <a:srgbClr val="1A2B3C">
                    <a:alpha val="75000"/>
                  </a:srgbClr>
                </a:solidFill>
                <a:latin typeface="Calibri"/>
              </a:rPr>
              <a:t>Choose between articles, blogs, and press releases</a:t>
            </a:r>
          </a:p>
        </p:txBody>
      </p:sp>
      <p:sp>
        <p:nvSpPr>
          <p:cNvPr id="46" name="S46"/>
          <p:cNvSpPr/>
          <p:nvPr/>
        </p:nvSpPr>
        <p:spPr>
          <a:xfrm>
            <a:off x="4857750" y="2743200"/>
            <a:ext cx="3905250" cy="714375"/>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47" name="S47"/>
          <p:cNvSpPr/>
          <p:nvPr/>
        </p:nvSpPr>
        <p:spPr>
          <a:xfrm>
            <a:off x="4953000" y="2905125"/>
            <a:ext cx="381000" cy="381000"/>
          </a:xfrm>
          <a:prstGeom prst="ellipse">
            <a:avLst/>
          </a:prstGeom>
          <a:solidFill>
            <a:srgbClr val="065A82"/>
          </a:solidFill>
          <a:ln>
            <a:noFill/>
          </a:ln>
        </p:spPr>
        <p:txBody>
          <a:bodyPr wrap="square" lIns="34290" tIns="20574" rIns="34290" bIns="20574" anchor="ctr"/>
          <a:lstStyle/>
          <a:p>
            <a:pPr algn="ctr">
              <a:buNone/>
            </a:pPr>
            <a:r>
              <a:rPr lang="en-US" sz="1200" b="1" dirty="0">
                <a:solidFill>
                  <a:srgbClr val="FFFFFF"/>
                </a:solidFill>
                <a:latin typeface="Calibri"/>
              </a:rPr>
              <a:t>S</a:t>
            </a:r>
          </a:p>
        </p:txBody>
      </p:sp>
      <p:sp>
        <p:nvSpPr>
          <p:cNvPr id="48" name="S48"/>
          <p:cNvSpPr/>
          <p:nvPr/>
        </p:nvSpPr>
        <p:spPr>
          <a:xfrm>
            <a:off x="5429250" y="2790825"/>
            <a:ext cx="3238500" cy="619125"/>
          </a:xfrm>
          <a:prstGeom prst="rect">
            <a:avLst/>
          </a:prstGeom>
          <a:noFill/>
          <a:ln>
            <a:noFill/>
          </a:ln>
        </p:spPr>
        <p:txBody>
          <a:bodyPr wrap="square" lIns="34290" tIns="20574" rIns="34290" bIns="20574" anchor="t"/>
          <a:lstStyle/>
          <a:p>
            <a:pPr algn="l">
              <a:buNone/>
            </a:pPr>
            <a:r>
              <a:rPr lang="en-US" sz="1125" b="1" dirty="0">
                <a:solidFill>
                  <a:srgbClr val="065A82"/>
                </a:solidFill>
                <a:latin typeface="Calibri"/>
              </a:rPr>
              <a:t>Relevance Scoring</a:t>
            </a:r>
          </a:p>
          <a:p>
            <a:pPr algn="l">
              <a:buNone/>
            </a:pPr>
            <a:r>
              <a:rPr lang="en-US" sz="900" dirty="0">
                <a:solidFill>
                  <a:srgbClr val="1A2B3C">
                    <a:alpha val="75000"/>
                  </a:srgbClr>
                </a:solidFill>
                <a:latin typeface="Calibri"/>
              </a:rPr>
              <a:t>AI-ranked results ensure the most relevant news appears first</a:t>
            </a:r>
          </a:p>
        </p:txBody>
      </p:sp>
      <p:sp>
        <p:nvSpPr>
          <p:cNvPr id="49" name="S49"/>
          <p:cNvSpPr/>
          <p:nvPr/>
        </p:nvSpPr>
        <p:spPr>
          <a:xfrm>
            <a:off x="4857750" y="3552825"/>
            <a:ext cx="3905250" cy="714375"/>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50" name="S50"/>
          <p:cNvSpPr/>
          <p:nvPr/>
        </p:nvSpPr>
        <p:spPr>
          <a:xfrm>
            <a:off x="4953000" y="3714750"/>
            <a:ext cx="381000" cy="381000"/>
          </a:xfrm>
          <a:prstGeom prst="ellipse">
            <a:avLst/>
          </a:prstGeom>
          <a:solidFill>
            <a:srgbClr val="065A82"/>
          </a:solidFill>
          <a:ln>
            <a:noFill/>
          </a:ln>
        </p:spPr>
        <p:txBody>
          <a:bodyPr wrap="square" lIns="34290" tIns="20574" rIns="34290" bIns="20574" anchor="ctr"/>
          <a:lstStyle/>
          <a:p>
            <a:pPr algn="ctr">
              <a:buNone/>
            </a:pPr>
            <a:r>
              <a:rPr lang="en-US" sz="1200" b="1" dirty="0">
                <a:solidFill>
                  <a:srgbClr val="FFFFFF"/>
                </a:solidFill>
                <a:latin typeface="Calibri"/>
              </a:rPr>
              <a:t>P</a:t>
            </a:r>
          </a:p>
        </p:txBody>
      </p:sp>
      <p:sp>
        <p:nvSpPr>
          <p:cNvPr id="51" name="S51"/>
          <p:cNvSpPr/>
          <p:nvPr/>
        </p:nvSpPr>
        <p:spPr>
          <a:xfrm>
            <a:off x="5429250" y="3600450"/>
            <a:ext cx="3238500" cy="619125"/>
          </a:xfrm>
          <a:prstGeom prst="rect">
            <a:avLst/>
          </a:prstGeom>
          <a:noFill/>
          <a:ln>
            <a:noFill/>
          </a:ln>
        </p:spPr>
        <p:txBody>
          <a:bodyPr wrap="square" lIns="34290" tIns="20574" rIns="34290" bIns="20574" anchor="t"/>
          <a:lstStyle/>
          <a:p>
            <a:pPr algn="l">
              <a:buNone/>
            </a:pPr>
            <a:r>
              <a:rPr lang="en-US" sz="1125" b="1" dirty="0">
                <a:solidFill>
                  <a:srgbClr val="065A82"/>
                </a:solidFill>
                <a:latin typeface="Calibri"/>
              </a:rPr>
              <a:t>Pagination</a:t>
            </a:r>
          </a:p>
          <a:p>
            <a:pPr algn="l">
              <a:buNone/>
            </a:pPr>
            <a:r>
              <a:rPr lang="en-US" sz="900" dirty="0">
                <a:solidFill>
                  <a:srgbClr val="1A2B3C">
                    <a:alpha val="75000"/>
                  </a:srgbClr>
                </a:solidFill>
                <a:latin typeface="Calibri"/>
              </a:rPr>
              <a:t>Browse through large result sets with smooth page navigation</a:t>
            </a:r>
          </a:p>
        </p:txBody>
      </p:sp>
      <p:sp>
        <p:nvSpPr>
          <p:cNvPr id="60" name="S60"/>
          <p:cNvSpPr/>
          <p:nvPr/>
        </p:nvSpPr>
        <p:spPr>
          <a:xfrm>
            <a:off x="342900" y="4762500"/>
            <a:ext cx="8458200" cy="19050"/>
          </a:xfrm>
          <a:prstGeom prst="rect">
            <a:avLst/>
          </a:prstGeom>
          <a:solidFill>
            <a:srgbClr val="02C39A"/>
          </a:solidFill>
          <a:ln>
            <a:noFill/>
          </a:ln>
        </p:spPr>
        <p:txBody>
          <a:bodyPr/>
          <a:lstStyle/>
          <a:p>
            <a:endParaRPr lang="en-IN"/>
          </a:p>
        </p:txBody>
      </p:sp>
    </p:spTree>
    <p:extLst>
      <p:ext uri="{BB962C8B-B14F-4D97-AF65-F5344CB8AC3E}">
        <p14:creationId xmlns:p14="http://schemas.microsoft.com/office/powerpoint/2010/main" val="1318947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342900" y="285750"/>
            <a:ext cx="47625" cy="381000"/>
          </a:xfrm>
          <a:prstGeom prst="rect">
            <a:avLst/>
          </a:prstGeom>
          <a:solidFill>
            <a:srgbClr val="02C39A"/>
          </a:solidFill>
          <a:ln>
            <a:noFill/>
          </a:ln>
        </p:spPr>
        <p:txBody>
          <a:bodyPr/>
          <a:lstStyle/>
          <a:p>
            <a:endParaRPr lang="en-IN"/>
          </a:p>
        </p:txBody>
      </p:sp>
      <p:sp>
        <p:nvSpPr>
          <p:cNvPr id="11" name="S11"/>
          <p:cNvSpPr/>
          <p:nvPr/>
        </p:nvSpPr>
        <p:spPr>
          <a:xfrm>
            <a:off x="495300" y="266700"/>
            <a:ext cx="5715000" cy="419100"/>
          </a:xfrm>
          <a:prstGeom prst="rect">
            <a:avLst/>
          </a:prstGeom>
          <a:noFill/>
          <a:ln>
            <a:noFill/>
          </a:ln>
        </p:spPr>
        <p:txBody>
          <a:bodyPr wrap="square" lIns="34290" tIns="20574" rIns="34290" bIns="20574" anchor="ctr"/>
          <a:lstStyle/>
          <a:p>
            <a:pPr algn="l">
              <a:buNone/>
            </a:pPr>
            <a:r>
              <a:rPr lang="en-US" sz="2400" b="1" dirty="0">
                <a:solidFill>
                  <a:srgbClr val="065A82"/>
                </a:solidFill>
                <a:latin typeface="Calibri"/>
              </a:rPr>
              <a:t>AI Integration Deep-Dive</a:t>
            </a:r>
          </a:p>
        </p:txBody>
      </p:sp>
      <p:sp>
        <p:nvSpPr>
          <p:cNvPr id="12" name="S12"/>
          <p:cNvSpPr/>
          <p:nvPr/>
        </p:nvSpPr>
        <p:spPr>
          <a:xfrm>
            <a:off x="495300" y="742950"/>
            <a:ext cx="8191500" cy="247650"/>
          </a:xfrm>
          <a:prstGeom prst="rect">
            <a:avLst/>
          </a:prstGeom>
          <a:noFill/>
          <a:ln>
            <a:noFill/>
          </a:ln>
        </p:spPr>
        <p:txBody>
          <a:bodyPr wrap="square" lIns="34290" tIns="20574" rIns="34290" bIns="20574" anchor="ctr"/>
          <a:lstStyle/>
          <a:p>
            <a:pPr algn="l">
              <a:buNone/>
            </a:pPr>
            <a:r>
              <a:rPr lang="en-US" sz="1050" dirty="0">
                <a:solidFill>
                  <a:srgbClr val="1A2B3C">
                    <a:alpha val="70000"/>
                  </a:srgbClr>
                </a:solidFill>
                <a:latin typeface="Calibri"/>
              </a:rPr>
              <a:t>Hugging Face Qwen2.5-7B + Whisper ASR — three distinct use cases</a:t>
            </a:r>
          </a:p>
        </p:txBody>
      </p:sp>
      <p:sp>
        <p:nvSpPr>
          <p:cNvPr id="20" name="S20"/>
          <p:cNvSpPr/>
          <p:nvPr/>
        </p:nvSpPr>
        <p:spPr>
          <a:xfrm>
            <a:off x="342900" y="1123950"/>
            <a:ext cx="2667000" cy="21907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21" name="S21"/>
          <p:cNvSpPr/>
          <p:nvPr/>
        </p:nvSpPr>
        <p:spPr>
          <a:xfrm>
            <a:off x="1466850" y="1266825"/>
            <a:ext cx="419100" cy="419100"/>
          </a:xfrm>
          <a:prstGeom prst="ellipse">
            <a:avLst/>
          </a:prstGeom>
          <a:solidFill>
            <a:srgbClr val="065A82"/>
          </a:solidFill>
          <a:ln>
            <a:noFill/>
          </a:ln>
        </p:spPr>
        <p:txBody>
          <a:bodyPr wrap="square" lIns="34290" tIns="20574" rIns="34290" bIns="20574" anchor="ctr"/>
          <a:lstStyle/>
          <a:p>
            <a:pPr algn="ctr">
              <a:buNone/>
            </a:pPr>
            <a:r>
              <a:rPr lang="en-US" sz="1650" b="1" dirty="0">
                <a:solidFill>
                  <a:srgbClr val="FFFFFF"/>
                </a:solidFill>
                <a:latin typeface="Calibri"/>
              </a:rPr>
              <a:t>1</a:t>
            </a:r>
          </a:p>
        </p:txBody>
      </p:sp>
      <p:sp>
        <p:nvSpPr>
          <p:cNvPr id="22" name="S22"/>
          <p:cNvSpPr/>
          <p:nvPr/>
        </p:nvSpPr>
        <p:spPr>
          <a:xfrm>
            <a:off x="438150" y="1771650"/>
            <a:ext cx="2476500" cy="428625"/>
          </a:xfrm>
          <a:prstGeom prst="rect">
            <a:avLst/>
          </a:prstGeom>
          <a:noFill/>
          <a:ln>
            <a:noFill/>
          </a:ln>
        </p:spPr>
        <p:txBody>
          <a:bodyPr wrap="square" lIns="34290" tIns="20574" rIns="34290" bIns="20574" anchor="ctr"/>
          <a:lstStyle/>
          <a:p>
            <a:pPr algn="ctr">
              <a:buNone/>
            </a:pPr>
            <a:r>
              <a:rPr lang="en-US" sz="1200" b="1" dirty="0">
                <a:solidFill>
                  <a:srgbClr val="065A82"/>
                </a:solidFill>
                <a:latin typeface="Calibri"/>
              </a:rPr>
              <a:t>Financial Insights
Summary + Tips</a:t>
            </a:r>
          </a:p>
        </p:txBody>
      </p:sp>
      <p:sp>
        <p:nvSpPr>
          <p:cNvPr id="23" name="S23"/>
          <p:cNvSpPr/>
          <p:nvPr/>
        </p:nvSpPr>
        <p:spPr>
          <a:xfrm>
            <a:off x="457200" y="2247900"/>
            <a:ext cx="2438400" cy="952500"/>
          </a:xfrm>
          <a:prstGeom prst="rect">
            <a:avLst/>
          </a:prstGeom>
          <a:noFill/>
          <a:ln>
            <a:noFill/>
          </a:ln>
        </p:spPr>
        <p:txBody>
          <a:bodyPr wrap="square" lIns="34290" tIns="20574" rIns="34290" bIns="20574" anchor="t"/>
          <a:lstStyle/>
          <a:p>
            <a:pPr algn="ctr">
              <a:buNone/>
            </a:pPr>
            <a:r>
              <a:rPr lang="en-US" sz="900" dirty="0">
                <a:solidFill>
                  <a:srgbClr val="1A2B3C">
                    <a:alpha val="80000"/>
                  </a:srgbClr>
                </a:solidFill>
                <a:latin typeface="Calibri"/>
              </a:rPr>
              <a:t>Transaction data is serialized into a structured prompt. Qwen analyzes patterns and returns actionable tips, anomaly flags, and savings recommendations.</a:t>
            </a:r>
          </a:p>
        </p:txBody>
      </p:sp>
      <p:sp>
        <p:nvSpPr>
          <p:cNvPr id="24" name="S24"/>
          <p:cNvSpPr/>
          <p:nvPr/>
        </p:nvSpPr>
        <p:spPr>
          <a:xfrm>
            <a:off x="3219450" y="1123950"/>
            <a:ext cx="2667000" cy="21907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25" name="S25"/>
          <p:cNvSpPr/>
          <p:nvPr/>
        </p:nvSpPr>
        <p:spPr>
          <a:xfrm>
            <a:off x="4343400" y="1266825"/>
            <a:ext cx="419100" cy="419100"/>
          </a:xfrm>
          <a:prstGeom prst="ellipse">
            <a:avLst/>
          </a:prstGeom>
          <a:solidFill>
            <a:srgbClr val="0A7EAD"/>
          </a:solidFill>
          <a:ln>
            <a:noFill/>
          </a:ln>
        </p:spPr>
        <p:txBody>
          <a:bodyPr wrap="square" lIns="34290" tIns="20574" rIns="34290" bIns="20574" anchor="ctr"/>
          <a:lstStyle/>
          <a:p>
            <a:pPr algn="ctr">
              <a:buNone/>
            </a:pPr>
            <a:r>
              <a:rPr lang="en-US" sz="1650" b="1" dirty="0">
                <a:solidFill>
                  <a:srgbClr val="FFFFFF"/>
                </a:solidFill>
                <a:latin typeface="Calibri"/>
              </a:rPr>
              <a:t>2</a:t>
            </a:r>
          </a:p>
        </p:txBody>
      </p:sp>
      <p:sp>
        <p:nvSpPr>
          <p:cNvPr id="26" name="S26"/>
          <p:cNvSpPr/>
          <p:nvPr/>
        </p:nvSpPr>
        <p:spPr>
          <a:xfrm>
            <a:off x="3314700" y="1771650"/>
            <a:ext cx="2476500" cy="428625"/>
          </a:xfrm>
          <a:prstGeom prst="rect">
            <a:avLst/>
          </a:prstGeom>
          <a:noFill/>
          <a:ln>
            <a:noFill/>
          </a:ln>
        </p:spPr>
        <p:txBody>
          <a:bodyPr wrap="square" lIns="34290" tIns="20574" rIns="34290" bIns="20574" anchor="ctr"/>
          <a:lstStyle/>
          <a:p>
            <a:pPr algn="ctr">
              <a:buNone/>
            </a:pPr>
            <a:r>
              <a:rPr lang="en-US" sz="1200" b="1" dirty="0">
                <a:solidFill>
                  <a:srgbClr val="065A82"/>
                </a:solidFill>
                <a:latin typeface="Calibri"/>
              </a:rPr>
              <a:t>Follow-up
Q&amp;A Chat</a:t>
            </a:r>
          </a:p>
        </p:txBody>
      </p:sp>
      <p:sp>
        <p:nvSpPr>
          <p:cNvPr id="27" name="S27"/>
          <p:cNvSpPr/>
          <p:nvPr/>
        </p:nvSpPr>
        <p:spPr>
          <a:xfrm>
            <a:off x="3333750" y="2247900"/>
            <a:ext cx="2438400" cy="952500"/>
          </a:xfrm>
          <a:prstGeom prst="rect">
            <a:avLst/>
          </a:prstGeom>
          <a:noFill/>
          <a:ln>
            <a:noFill/>
          </a:ln>
        </p:spPr>
        <p:txBody>
          <a:bodyPr wrap="square" lIns="34290" tIns="20574" rIns="34290" bIns="20574" anchor="t"/>
          <a:lstStyle/>
          <a:p>
            <a:pPr algn="ctr">
              <a:buNone/>
            </a:pPr>
            <a:r>
              <a:rPr lang="en-US" sz="900" dirty="0">
                <a:solidFill>
                  <a:srgbClr val="1A2B3C">
                    <a:alpha val="80000"/>
                  </a:srgbClr>
                </a:solidFill>
                <a:latin typeface="Calibri"/>
              </a:rPr>
              <a:t>Users can ask clarifying questions about their finances. Context from the insights page is passed to maintain conversational continuity.</a:t>
            </a:r>
          </a:p>
        </p:txBody>
      </p:sp>
      <p:sp>
        <p:nvSpPr>
          <p:cNvPr id="28" name="S28"/>
          <p:cNvSpPr/>
          <p:nvPr/>
        </p:nvSpPr>
        <p:spPr>
          <a:xfrm>
            <a:off x="6096000" y="1123950"/>
            <a:ext cx="2667000" cy="2190750"/>
          </a:xfrm>
          <a:prstGeom prst="roundRect">
            <a:avLst/>
          </a:prstGeom>
          <a:solidFill>
            <a:srgbClr val="FFFFFF"/>
          </a:solidFill>
          <a:ln>
            <a:noFill/>
          </a:ln>
          <a:effectLst>
            <a:outerShdw blurRad="38100" dist="25400" dir="5400000" algn="t" rotWithShape="0">
              <a:srgbClr val="000000">
                <a:alpha val="12000"/>
              </a:srgbClr>
            </a:outerShdw>
          </a:effectLst>
        </p:spPr>
        <p:txBody>
          <a:bodyPr/>
          <a:lstStyle/>
          <a:p>
            <a:endParaRPr lang="en-IN"/>
          </a:p>
        </p:txBody>
      </p:sp>
      <p:sp>
        <p:nvSpPr>
          <p:cNvPr id="29" name="S29"/>
          <p:cNvSpPr/>
          <p:nvPr/>
        </p:nvSpPr>
        <p:spPr>
          <a:xfrm>
            <a:off x="7219950" y="1266825"/>
            <a:ext cx="419100" cy="419100"/>
          </a:xfrm>
          <a:prstGeom prst="ellipse">
            <a:avLst/>
          </a:prstGeom>
          <a:solidFill>
            <a:srgbClr val="065A82"/>
          </a:solidFill>
          <a:ln>
            <a:noFill/>
          </a:ln>
        </p:spPr>
        <p:txBody>
          <a:bodyPr wrap="square" lIns="34290" tIns="20574" rIns="34290" bIns="20574" anchor="ctr"/>
          <a:lstStyle/>
          <a:p>
            <a:pPr algn="ctr">
              <a:buNone/>
            </a:pPr>
            <a:r>
              <a:rPr lang="en-US" sz="1650" b="1" dirty="0">
                <a:solidFill>
                  <a:srgbClr val="FFFFFF"/>
                </a:solidFill>
                <a:latin typeface="Calibri"/>
              </a:rPr>
              <a:t>3</a:t>
            </a:r>
          </a:p>
        </p:txBody>
      </p:sp>
      <p:sp>
        <p:nvSpPr>
          <p:cNvPr id="30" name="S30"/>
          <p:cNvSpPr/>
          <p:nvPr/>
        </p:nvSpPr>
        <p:spPr>
          <a:xfrm>
            <a:off x="6191250" y="1771650"/>
            <a:ext cx="2476500" cy="428625"/>
          </a:xfrm>
          <a:prstGeom prst="rect">
            <a:avLst/>
          </a:prstGeom>
          <a:noFill/>
          <a:ln>
            <a:noFill/>
          </a:ln>
        </p:spPr>
        <p:txBody>
          <a:bodyPr wrap="square" lIns="34290" tIns="20574" rIns="34290" bIns="20574" anchor="ctr"/>
          <a:lstStyle/>
          <a:p>
            <a:pPr algn="ctr">
              <a:buNone/>
            </a:pPr>
            <a:r>
              <a:rPr lang="en-US" sz="1200" b="1" dirty="0">
                <a:solidFill>
                  <a:srgbClr val="065A82"/>
                </a:solidFill>
                <a:latin typeface="Calibri"/>
              </a:rPr>
              <a:t>Voice-to-Transaction
via Whisper</a:t>
            </a:r>
          </a:p>
        </p:txBody>
      </p:sp>
      <p:sp>
        <p:nvSpPr>
          <p:cNvPr id="31" name="S31"/>
          <p:cNvSpPr/>
          <p:nvPr/>
        </p:nvSpPr>
        <p:spPr>
          <a:xfrm>
            <a:off x="6210300" y="2247900"/>
            <a:ext cx="2438400" cy="952500"/>
          </a:xfrm>
          <a:prstGeom prst="rect">
            <a:avLst/>
          </a:prstGeom>
          <a:noFill/>
          <a:ln>
            <a:noFill/>
          </a:ln>
        </p:spPr>
        <p:txBody>
          <a:bodyPr wrap="square" lIns="34290" tIns="20574" rIns="34290" bIns="20574" anchor="t"/>
          <a:lstStyle/>
          <a:p>
            <a:pPr algn="ctr">
              <a:buNone/>
            </a:pPr>
            <a:r>
              <a:rPr lang="en-US" sz="900" dirty="0">
                <a:solidFill>
                  <a:srgbClr val="1A2B3C">
                    <a:alpha val="80000"/>
                  </a:srgbClr>
                </a:solidFill>
                <a:latin typeface="Calibri"/>
              </a:rPr>
              <a:t>Spoken input is transcribed by Whisper ASR, then parsed into structured transaction fields (amount, category, date) automatically.</a:t>
            </a:r>
          </a:p>
        </p:txBody>
      </p:sp>
      <p:sp>
        <p:nvSpPr>
          <p:cNvPr id="40" name="S40"/>
          <p:cNvSpPr/>
          <p:nvPr/>
        </p:nvSpPr>
        <p:spPr>
          <a:xfrm>
            <a:off x="342900" y="3524250"/>
            <a:ext cx="8458200" cy="952500"/>
          </a:xfrm>
          <a:prstGeom prst="roundRect">
            <a:avLst/>
          </a:prstGeom>
          <a:solidFill>
            <a:srgbClr val="065A82"/>
          </a:solidFill>
          <a:ln>
            <a:noFill/>
          </a:ln>
          <a:effectLst>
            <a:outerShdw blurRad="38100" dist="25400" dir="5400000" algn="t" rotWithShape="0">
              <a:srgbClr val="000000">
                <a:alpha val="12000"/>
              </a:srgbClr>
            </a:outerShdw>
          </a:effectLst>
        </p:spPr>
        <p:txBody>
          <a:bodyPr wrap="square" lIns="34290" tIns="20574" rIns="34290" bIns="20574" anchor="t"/>
          <a:lstStyle/>
          <a:p>
            <a:pPr algn="l">
              <a:buNone/>
            </a:pPr>
            <a:r>
              <a:rPr lang="en-US" sz="1200" b="1" dirty="0">
                <a:solidFill>
                  <a:srgbClr val="02C39A"/>
                </a:solidFill>
                <a:latin typeface="Calibri"/>
              </a:rPr>
              <a:t>Prompt Engineering Approach</a:t>
            </a:r>
          </a:p>
          <a:p>
            <a:pPr algn="l">
              <a:buNone/>
            </a:pPr>
            <a:r>
              <a:rPr lang="en-US" sz="1050" dirty="0">
                <a:solidFill>
                  <a:srgbClr val="F0F8FF"/>
                </a:solidFill>
                <a:latin typeface="Calibri"/>
              </a:rPr>
              <a:t>Structured system prompts with user financial data serialized as context. The LLM receives categorized transaction summaries, budget status, and spending patterns. Responses are parsed for actionable insights with confidence scoring.</a:t>
            </a:r>
          </a:p>
        </p:txBody>
      </p:sp>
      <p:sp>
        <p:nvSpPr>
          <p:cNvPr id="50" name="S50"/>
          <p:cNvSpPr/>
          <p:nvPr/>
        </p:nvSpPr>
        <p:spPr>
          <a:xfrm>
            <a:off x="342900" y="4762500"/>
            <a:ext cx="8458200" cy="19050"/>
          </a:xfrm>
          <a:prstGeom prst="rect">
            <a:avLst/>
          </a:prstGeom>
          <a:solidFill>
            <a:srgbClr val="02C39A"/>
          </a:solidFill>
          <a:ln>
            <a:noFill/>
          </a:ln>
        </p:spPr>
        <p:txBody>
          <a:bodyPr/>
          <a:lstStyle/>
          <a:p>
            <a:endParaRPr lang="en-IN"/>
          </a:p>
        </p:txBody>
      </p:sp>
    </p:spTree>
    <p:extLst>
      <p:ext uri="{BB962C8B-B14F-4D97-AF65-F5344CB8AC3E}">
        <p14:creationId xmlns:p14="http://schemas.microsoft.com/office/powerpoint/2010/main" val="263797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0E1C"/>
          </a:solidFill>
          <a:ln w="12700">
            <a:solidFill>
              <a:srgbClr val="060E1C"/>
            </a:solidFill>
            <a:prstDash val="solid"/>
          </a:ln>
        </p:spPr>
        <p:txBody>
          <a:bodyPr/>
          <a:lstStyle/>
          <a:p>
            <a:endParaRPr lang="en-IN"/>
          </a:p>
        </p:txBody>
      </p:sp>
      <p:sp>
        <p:nvSpPr>
          <p:cNvPr id="3" name="Text 1"/>
          <p:cNvSpPr/>
          <p:nvPr/>
        </p:nvSpPr>
        <p:spPr>
          <a:xfrm>
            <a:off x="457200" y="109728"/>
            <a:ext cx="777240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Cloud Computing Features Used</a:t>
            </a:r>
            <a:endParaRPr lang="en-US" sz="2400" dirty="0"/>
          </a:p>
        </p:txBody>
      </p:sp>
      <p:sp>
        <p:nvSpPr>
          <p:cNvPr id="4" name="Text 2"/>
          <p:cNvSpPr/>
          <p:nvPr/>
        </p:nvSpPr>
        <p:spPr>
          <a:xfrm>
            <a:off x="457200" y="594360"/>
            <a:ext cx="7772400" cy="201168"/>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How this project leverages Google Firebase's cloud platform</a:t>
            </a:r>
            <a:endParaRPr lang="en-US" sz="1100" dirty="0"/>
          </a:p>
        </p:txBody>
      </p:sp>
      <p:sp>
        <p:nvSpPr>
          <p:cNvPr id="5" name="Shape 3"/>
          <p:cNvSpPr/>
          <p:nvPr/>
        </p:nvSpPr>
        <p:spPr>
          <a:xfrm>
            <a:off x="0" y="4892040"/>
            <a:ext cx="9144000" cy="251460"/>
          </a:xfrm>
          <a:prstGeom prst="rect">
            <a:avLst/>
          </a:prstGeom>
          <a:solidFill>
            <a:srgbClr val="060E1C"/>
          </a:solidFill>
          <a:ln w="12700">
            <a:solidFill>
              <a:srgbClr val="060E1C"/>
            </a:solidFill>
            <a:prstDash val="solid"/>
          </a:ln>
        </p:spPr>
        <p:txBody>
          <a:bodyPr/>
          <a:lstStyle/>
          <a:p>
            <a:endParaRPr lang="en-IN"/>
          </a:p>
        </p:txBody>
      </p:sp>
      <p:sp>
        <p:nvSpPr>
          <p:cNvPr id="6" name="Text 4"/>
          <p:cNvSpPr/>
          <p:nvPr/>
        </p:nvSpPr>
        <p:spPr>
          <a:xfrm>
            <a:off x="274320" y="4901184"/>
            <a:ext cx="8595360" cy="182880"/>
          </a:xfrm>
          <a:prstGeom prst="rect">
            <a:avLst/>
          </a:prstGeom>
          <a:noFill/>
          <a:ln/>
        </p:spPr>
        <p:txBody>
          <a:bodyPr wrap="square" lIns="0" tIns="0" rIns="0" bIns="0" rtlCol="0" anchor="ctr"/>
          <a:lstStyle/>
          <a:p>
            <a:pPr marL="0" indent="0">
              <a:buNone/>
            </a:pPr>
            <a:r>
              <a:rPr lang="en-US" sz="800" dirty="0">
                <a:solidFill>
                  <a:srgbClr val="94A3B8"/>
                </a:solidFill>
              </a:rPr>
              <a:t>Fintracker — Cloud-Based Personal Finance Management System  |  Cloud Computing &amp; AI Services</a:t>
            </a:r>
            <a:endParaRPr lang="en-US" sz="800" dirty="0"/>
          </a:p>
        </p:txBody>
      </p:sp>
      <p:sp>
        <p:nvSpPr>
          <p:cNvPr id="7" name="Shape 5"/>
          <p:cNvSpPr/>
          <p:nvPr/>
        </p:nvSpPr>
        <p:spPr>
          <a:xfrm>
            <a:off x="274320" y="914400"/>
            <a:ext cx="2807208" cy="1828800"/>
          </a:xfrm>
          <a:prstGeom prst="rect">
            <a:avLst/>
          </a:prstGeom>
          <a:solidFill>
            <a:srgbClr val="0F2744"/>
          </a:solidFill>
          <a:ln w="19050">
            <a:solidFill>
              <a:srgbClr val="2563EB"/>
            </a:solidFill>
            <a:prstDash val="solid"/>
          </a:ln>
        </p:spPr>
        <p:txBody>
          <a:bodyPr/>
          <a:lstStyle/>
          <a:p>
            <a:endParaRPr lang="en-IN"/>
          </a:p>
        </p:txBody>
      </p:sp>
      <p:sp>
        <p:nvSpPr>
          <p:cNvPr id="8" name="Shape 6"/>
          <p:cNvSpPr/>
          <p:nvPr/>
        </p:nvSpPr>
        <p:spPr>
          <a:xfrm>
            <a:off x="274320" y="914400"/>
            <a:ext cx="2807208" cy="91440"/>
          </a:xfrm>
          <a:prstGeom prst="rect">
            <a:avLst/>
          </a:prstGeom>
          <a:solidFill>
            <a:srgbClr val="2563EB"/>
          </a:solidFill>
          <a:ln w="12700">
            <a:solidFill>
              <a:srgbClr val="2563EB"/>
            </a:solidFill>
            <a:prstDash val="solid"/>
          </a:ln>
        </p:spPr>
        <p:txBody>
          <a:bodyPr/>
          <a:lstStyle/>
          <a:p>
            <a:endParaRPr lang="en-IN"/>
          </a:p>
        </p:txBody>
      </p:sp>
      <p:sp>
        <p:nvSpPr>
          <p:cNvPr id="9" name="Shape 7"/>
          <p:cNvSpPr/>
          <p:nvPr/>
        </p:nvSpPr>
        <p:spPr>
          <a:xfrm>
            <a:off x="384048" y="1078992"/>
            <a:ext cx="384048" cy="384048"/>
          </a:xfrm>
          <a:prstGeom prst="ellipse">
            <a:avLst/>
          </a:prstGeom>
          <a:solidFill>
            <a:srgbClr val="2563EB"/>
          </a:solidFill>
          <a:ln w="12700">
            <a:solidFill>
              <a:srgbClr val="2563EB"/>
            </a:solidFill>
            <a:prstDash val="solid"/>
          </a:ln>
        </p:spPr>
        <p:txBody>
          <a:bodyPr/>
          <a:lstStyle/>
          <a:p>
            <a:endParaRPr lang="en-IN"/>
          </a:p>
        </p:txBody>
      </p:sp>
      <p:pic>
        <p:nvPicPr>
          <p:cNvPr id="10" name="Image 0" descr="preencoded.png"/>
          <p:cNvPicPr>
            <a:picLocks noChangeAspect="1"/>
          </p:cNvPicPr>
          <p:nvPr/>
        </p:nvPicPr>
        <p:blipFill>
          <a:blip r:embed="rId3"/>
          <a:stretch>
            <a:fillRect/>
          </a:stretch>
        </p:blipFill>
        <p:spPr>
          <a:xfrm>
            <a:off x="411480" y="1097280"/>
            <a:ext cx="329184" cy="329184"/>
          </a:xfrm>
          <a:prstGeom prst="rect">
            <a:avLst/>
          </a:prstGeom>
        </p:spPr>
      </p:pic>
      <p:sp>
        <p:nvSpPr>
          <p:cNvPr id="11" name="Text 8"/>
          <p:cNvSpPr/>
          <p:nvPr/>
        </p:nvSpPr>
        <p:spPr>
          <a:xfrm>
            <a:off x="841248" y="1097280"/>
            <a:ext cx="21031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IaaS / PaaS — Firebase Platform</a:t>
            </a:r>
            <a:endParaRPr lang="en-US" sz="1050" dirty="0"/>
          </a:p>
        </p:txBody>
      </p:sp>
      <p:sp>
        <p:nvSpPr>
          <p:cNvPr id="12" name="Text 9"/>
          <p:cNvSpPr/>
          <p:nvPr/>
        </p:nvSpPr>
        <p:spPr>
          <a:xfrm>
            <a:off x="384048" y="1627632"/>
            <a:ext cx="2578608" cy="1051560"/>
          </a:xfrm>
          <a:prstGeom prst="rect">
            <a:avLst/>
          </a:prstGeom>
          <a:noFill/>
          <a:ln/>
        </p:spPr>
        <p:txBody>
          <a:bodyPr wrap="square" lIns="25400" tIns="25400" rIns="25400" bIns="25400" rtlCol="0" anchor="ctr"/>
          <a:lstStyle/>
          <a:p>
            <a:pPr marL="0" indent="0">
              <a:buNone/>
            </a:pPr>
            <a:r>
              <a:rPr lang="en-US" sz="950" dirty="0">
                <a:solidFill>
                  <a:srgbClr val="60A5FA"/>
                </a:solidFill>
                <a:latin typeface="Calibri" pitchFamily="34" charset="0"/>
                <a:ea typeface="Calibri" pitchFamily="34" charset="-122"/>
                <a:cs typeface="Calibri" pitchFamily="34" charset="-120"/>
              </a:rPr>
              <a:t>Firebase is a PaaS offering by Google Cloud. We don't manage any servers, OS, or hardware. Google handles all infrastructure.</a:t>
            </a:r>
            <a:endParaRPr lang="en-US" sz="950" dirty="0"/>
          </a:p>
        </p:txBody>
      </p:sp>
      <p:sp>
        <p:nvSpPr>
          <p:cNvPr id="13" name="Shape 10"/>
          <p:cNvSpPr/>
          <p:nvPr/>
        </p:nvSpPr>
        <p:spPr>
          <a:xfrm>
            <a:off x="3218688" y="914400"/>
            <a:ext cx="2807208" cy="1828800"/>
          </a:xfrm>
          <a:prstGeom prst="rect">
            <a:avLst/>
          </a:prstGeom>
          <a:solidFill>
            <a:srgbClr val="0F2744"/>
          </a:solidFill>
          <a:ln w="19050">
            <a:solidFill>
              <a:srgbClr val="059669"/>
            </a:solidFill>
            <a:prstDash val="solid"/>
          </a:ln>
        </p:spPr>
        <p:txBody>
          <a:bodyPr/>
          <a:lstStyle/>
          <a:p>
            <a:endParaRPr lang="en-IN"/>
          </a:p>
        </p:txBody>
      </p:sp>
      <p:sp>
        <p:nvSpPr>
          <p:cNvPr id="14" name="Shape 11"/>
          <p:cNvSpPr/>
          <p:nvPr/>
        </p:nvSpPr>
        <p:spPr>
          <a:xfrm>
            <a:off x="3218688" y="914400"/>
            <a:ext cx="2807208" cy="91440"/>
          </a:xfrm>
          <a:prstGeom prst="rect">
            <a:avLst/>
          </a:prstGeom>
          <a:solidFill>
            <a:srgbClr val="059669"/>
          </a:solidFill>
          <a:ln w="12700">
            <a:solidFill>
              <a:srgbClr val="059669"/>
            </a:solidFill>
            <a:prstDash val="solid"/>
          </a:ln>
        </p:spPr>
        <p:txBody>
          <a:bodyPr/>
          <a:lstStyle/>
          <a:p>
            <a:endParaRPr lang="en-IN"/>
          </a:p>
        </p:txBody>
      </p:sp>
      <p:sp>
        <p:nvSpPr>
          <p:cNvPr id="15" name="Shape 12"/>
          <p:cNvSpPr/>
          <p:nvPr/>
        </p:nvSpPr>
        <p:spPr>
          <a:xfrm>
            <a:off x="3328416" y="1078992"/>
            <a:ext cx="384048" cy="384048"/>
          </a:xfrm>
          <a:prstGeom prst="ellipse">
            <a:avLst/>
          </a:prstGeom>
          <a:solidFill>
            <a:srgbClr val="059669"/>
          </a:solidFill>
          <a:ln w="12700">
            <a:solidFill>
              <a:srgbClr val="059669"/>
            </a:solidFill>
            <a:prstDash val="solid"/>
          </a:ln>
        </p:spPr>
        <p:txBody>
          <a:bodyPr/>
          <a:lstStyle/>
          <a:p>
            <a:endParaRPr lang="en-IN"/>
          </a:p>
        </p:txBody>
      </p:sp>
      <p:pic>
        <p:nvPicPr>
          <p:cNvPr id="16" name="Image 1" descr="preencoded.png"/>
          <p:cNvPicPr>
            <a:picLocks noChangeAspect="1"/>
          </p:cNvPicPr>
          <p:nvPr/>
        </p:nvPicPr>
        <p:blipFill>
          <a:blip r:embed="rId4"/>
          <a:stretch>
            <a:fillRect/>
          </a:stretch>
        </p:blipFill>
        <p:spPr>
          <a:xfrm>
            <a:off x="3355848" y="1097280"/>
            <a:ext cx="329184" cy="329184"/>
          </a:xfrm>
          <a:prstGeom prst="rect">
            <a:avLst/>
          </a:prstGeom>
        </p:spPr>
      </p:pic>
      <p:sp>
        <p:nvSpPr>
          <p:cNvPr id="17" name="Text 13"/>
          <p:cNvSpPr/>
          <p:nvPr/>
        </p:nvSpPr>
        <p:spPr>
          <a:xfrm>
            <a:off x="3785616" y="1097280"/>
            <a:ext cx="21031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Cloud Identity &amp; Access (IAM)</a:t>
            </a:r>
            <a:endParaRPr lang="en-US" sz="1050" dirty="0"/>
          </a:p>
        </p:txBody>
      </p:sp>
      <p:sp>
        <p:nvSpPr>
          <p:cNvPr id="18" name="Text 14"/>
          <p:cNvSpPr/>
          <p:nvPr/>
        </p:nvSpPr>
        <p:spPr>
          <a:xfrm>
            <a:off x="3328416" y="1627632"/>
            <a:ext cx="2578608" cy="1051560"/>
          </a:xfrm>
          <a:prstGeom prst="rect">
            <a:avLst/>
          </a:prstGeom>
          <a:noFill/>
          <a:ln/>
        </p:spPr>
        <p:txBody>
          <a:bodyPr wrap="square" lIns="25400" tIns="25400" rIns="25400" bIns="25400" rtlCol="0" anchor="ctr"/>
          <a:lstStyle/>
          <a:p>
            <a:pPr marL="0" indent="0">
              <a:buNone/>
            </a:pPr>
            <a:r>
              <a:rPr lang="en-US" sz="950" dirty="0">
                <a:solidFill>
                  <a:srgbClr val="60A5FA"/>
                </a:solidFill>
                <a:latin typeface="Calibri" pitchFamily="34" charset="0"/>
                <a:ea typeface="Calibri" pitchFamily="34" charset="-122"/>
                <a:cs typeface="Calibri" pitchFamily="34" charset="-120"/>
              </a:rPr>
              <a:t>Firebase Authentication provides cloud-based user identity management. Security rules enforce per-user data access at the database level.</a:t>
            </a:r>
            <a:endParaRPr lang="en-US" sz="950" dirty="0"/>
          </a:p>
        </p:txBody>
      </p:sp>
      <p:sp>
        <p:nvSpPr>
          <p:cNvPr id="19" name="Shape 15"/>
          <p:cNvSpPr/>
          <p:nvPr/>
        </p:nvSpPr>
        <p:spPr>
          <a:xfrm>
            <a:off x="6163056" y="914400"/>
            <a:ext cx="2807208" cy="1828800"/>
          </a:xfrm>
          <a:prstGeom prst="rect">
            <a:avLst/>
          </a:prstGeom>
          <a:solidFill>
            <a:srgbClr val="0F2744"/>
          </a:solidFill>
          <a:ln w="19050">
            <a:solidFill>
              <a:srgbClr val="7C3AED"/>
            </a:solidFill>
            <a:prstDash val="solid"/>
          </a:ln>
        </p:spPr>
        <p:txBody>
          <a:bodyPr/>
          <a:lstStyle/>
          <a:p>
            <a:endParaRPr lang="en-IN"/>
          </a:p>
        </p:txBody>
      </p:sp>
      <p:sp>
        <p:nvSpPr>
          <p:cNvPr id="20" name="Shape 16"/>
          <p:cNvSpPr/>
          <p:nvPr/>
        </p:nvSpPr>
        <p:spPr>
          <a:xfrm>
            <a:off x="6163056" y="914400"/>
            <a:ext cx="2807208" cy="91440"/>
          </a:xfrm>
          <a:prstGeom prst="rect">
            <a:avLst/>
          </a:prstGeom>
          <a:solidFill>
            <a:srgbClr val="7C3AED"/>
          </a:solidFill>
          <a:ln w="12700">
            <a:solidFill>
              <a:srgbClr val="7C3AED"/>
            </a:solidFill>
            <a:prstDash val="solid"/>
          </a:ln>
        </p:spPr>
        <p:txBody>
          <a:bodyPr/>
          <a:lstStyle/>
          <a:p>
            <a:endParaRPr lang="en-IN"/>
          </a:p>
        </p:txBody>
      </p:sp>
      <p:sp>
        <p:nvSpPr>
          <p:cNvPr id="21" name="Shape 17"/>
          <p:cNvSpPr/>
          <p:nvPr/>
        </p:nvSpPr>
        <p:spPr>
          <a:xfrm>
            <a:off x="6272784" y="1078992"/>
            <a:ext cx="384048" cy="384048"/>
          </a:xfrm>
          <a:prstGeom prst="ellipse">
            <a:avLst/>
          </a:prstGeom>
          <a:solidFill>
            <a:srgbClr val="7C3AED"/>
          </a:solidFill>
          <a:ln w="12700">
            <a:solidFill>
              <a:srgbClr val="7C3AED"/>
            </a:solidFill>
            <a:prstDash val="solid"/>
          </a:ln>
        </p:spPr>
        <p:txBody>
          <a:bodyPr/>
          <a:lstStyle/>
          <a:p>
            <a:endParaRPr lang="en-IN"/>
          </a:p>
        </p:txBody>
      </p:sp>
      <p:pic>
        <p:nvPicPr>
          <p:cNvPr id="22" name="Image 2" descr="preencoded.png"/>
          <p:cNvPicPr>
            <a:picLocks noChangeAspect="1"/>
          </p:cNvPicPr>
          <p:nvPr/>
        </p:nvPicPr>
        <p:blipFill>
          <a:blip r:embed="rId5"/>
          <a:stretch>
            <a:fillRect/>
          </a:stretch>
        </p:blipFill>
        <p:spPr>
          <a:xfrm>
            <a:off x="6300216" y="1097280"/>
            <a:ext cx="329184" cy="329184"/>
          </a:xfrm>
          <a:prstGeom prst="rect">
            <a:avLst/>
          </a:prstGeom>
        </p:spPr>
      </p:pic>
      <p:sp>
        <p:nvSpPr>
          <p:cNvPr id="23" name="Text 18"/>
          <p:cNvSpPr/>
          <p:nvPr/>
        </p:nvSpPr>
        <p:spPr>
          <a:xfrm>
            <a:off x="6729984" y="1097280"/>
            <a:ext cx="21031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NoSQL Cloud Database — Firestore</a:t>
            </a:r>
            <a:endParaRPr lang="en-US" sz="1050" dirty="0"/>
          </a:p>
        </p:txBody>
      </p:sp>
      <p:sp>
        <p:nvSpPr>
          <p:cNvPr id="24" name="Text 19"/>
          <p:cNvSpPr/>
          <p:nvPr/>
        </p:nvSpPr>
        <p:spPr>
          <a:xfrm>
            <a:off x="6272784" y="1627632"/>
            <a:ext cx="2578608" cy="1051560"/>
          </a:xfrm>
          <a:prstGeom prst="rect">
            <a:avLst/>
          </a:prstGeom>
          <a:noFill/>
          <a:ln/>
        </p:spPr>
        <p:txBody>
          <a:bodyPr wrap="square" lIns="25400" tIns="25400" rIns="25400" bIns="25400" rtlCol="0" anchor="ctr"/>
          <a:lstStyle/>
          <a:p>
            <a:pPr marL="0" indent="0">
              <a:buNone/>
            </a:pPr>
            <a:r>
              <a:rPr lang="en-US" sz="950" dirty="0">
                <a:solidFill>
                  <a:srgbClr val="60A5FA"/>
                </a:solidFill>
                <a:latin typeface="Calibri" pitchFamily="34" charset="0"/>
                <a:ea typeface="Calibri" pitchFamily="34" charset="-122"/>
                <a:cs typeface="Calibri" pitchFamily="34" charset="-120"/>
              </a:rPr>
              <a:t>Firestore is a serverless, scalable, globally-distributed NoSQL database. All user data (transactions, budgets) is stored in the cloud with real-time sync.</a:t>
            </a:r>
            <a:endParaRPr lang="en-US" sz="950" dirty="0"/>
          </a:p>
        </p:txBody>
      </p:sp>
      <p:sp>
        <p:nvSpPr>
          <p:cNvPr id="25" name="Shape 20"/>
          <p:cNvSpPr/>
          <p:nvPr/>
        </p:nvSpPr>
        <p:spPr>
          <a:xfrm>
            <a:off x="274320" y="2880360"/>
            <a:ext cx="2807208" cy="1828800"/>
          </a:xfrm>
          <a:prstGeom prst="rect">
            <a:avLst/>
          </a:prstGeom>
          <a:solidFill>
            <a:srgbClr val="0F2744"/>
          </a:solidFill>
          <a:ln w="19050">
            <a:solidFill>
              <a:srgbClr val="DC2626"/>
            </a:solidFill>
            <a:prstDash val="solid"/>
          </a:ln>
        </p:spPr>
        <p:txBody>
          <a:bodyPr/>
          <a:lstStyle/>
          <a:p>
            <a:endParaRPr lang="en-IN"/>
          </a:p>
        </p:txBody>
      </p:sp>
      <p:sp>
        <p:nvSpPr>
          <p:cNvPr id="26" name="Shape 21"/>
          <p:cNvSpPr/>
          <p:nvPr/>
        </p:nvSpPr>
        <p:spPr>
          <a:xfrm>
            <a:off x="274320" y="2880360"/>
            <a:ext cx="2807208" cy="91440"/>
          </a:xfrm>
          <a:prstGeom prst="rect">
            <a:avLst/>
          </a:prstGeom>
          <a:solidFill>
            <a:srgbClr val="DC2626"/>
          </a:solidFill>
          <a:ln w="12700">
            <a:solidFill>
              <a:srgbClr val="DC2626"/>
            </a:solidFill>
            <a:prstDash val="solid"/>
          </a:ln>
        </p:spPr>
        <p:txBody>
          <a:bodyPr/>
          <a:lstStyle/>
          <a:p>
            <a:endParaRPr lang="en-IN"/>
          </a:p>
        </p:txBody>
      </p:sp>
      <p:sp>
        <p:nvSpPr>
          <p:cNvPr id="27" name="Shape 22"/>
          <p:cNvSpPr/>
          <p:nvPr/>
        </p:nvSpPr>
        <p:spPr>
          <a:xfrm>
            <a:off x="384048" y="3044952"/>
            <a:ext cx="384048" cy="384048"/>
          </a:xfrm>
          <a:prstGeom prst="ellipse">
            <a:avLst/>
          </a:prstGeom>
          <a:solidFill>
            <a:srgbClr val="DC2626"/>
          </a:solidFill>
          <a:ln w="12700">
            <a:solidFill>
              <a:srgbClr val="DC2626"/>
            </a:solidFill>
            <a:prstDash val="solid"/>
          </a:ln>
        </p:spPr>
        <p:txBody>
          <a:bodyPr/>
          <a:lstStyle/>
          <a:p>
            <a:endParaRPr lang="en-IN"/>
          </a:p>
        </p:txBody>
      </p:sp>
      <p:pic>
        <p:nvPicPr>
          <p:cNvPr id="28" name="Image 3" descr="preencoded.png"/>
          <p:cNvPicPr>
            <a:picLocks noChangeAspect="1"/>
          </p:cNvPicPr>
          <p:nvPr/>
        </p:nvPicPr>
        <p:blipFill>
          <a:blip r:embed="rId6"/>
          <a:stretch>
            <a:fillRect/>
          </a:stretch>
        </p:blipFill>
        <p:spPr>
          <a:xfrm>
            <a:off x="411480" y="3063240"/>
            <a:ext cx="329184" cy="329184"/>
          </a:xfrm>
          <a:prstGeom prst="rect">
            <a:avLst/>
          </a:prstGeom>
        </p:spPr>
      </p:pic>
      <p:sp>
        <p:nvSpPr>
          <p:cNvPr id="29" name="Text 23"/>
          <p:cNvSpPr/>
          <p:nvPr/>
        </p:nvSpPr>
        <p:spPr>
          <a:xfrm>
            <a:off x="841248" y="3063240"/>
            <a:ext cx="21031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Real-Time Data Streaming</a:t>
            </a:r>
            <a:endParaRPr lang="en-US" sz="1050" dirty="0"/>
          </a:p>
        </p:txBody>
      </p:sp>
      <p:sp>
        <p:nvSpPr>
          <p:cNvPr id="30" name="Text 24"/>
          <p:cNvSpPr/>
          <p:nvPr/>
        </p:nvSpPr>
        <p:spPr>
          <a:xfrm>
            <a:off x="384048" y="3593592"/>
            <a:ext cx="2578608" cy="1051560"/>
          </a:xfrm>
          <a:prstGeom prst="rect">
            <a:avLst/>
          </a:prstGeom>
          <a:noFill/>
          <a:ln/>
        </p:spPr>
        <p:txBody>
          <a:bodyPr wrap="square" lIns="25400" tIns="25400" rIns="25400" bIns="25400" rtlCol="0" anchor="ctr"/>
          <a:lstStyle/>
          <a:p>
            <a:pPr marL="0" indent="0">
              <a:buNone/>
            </a:pPr>
            <a:r>
              <a:rPr lang="en-US" sz="950" dirty="0">
                <a:solidFill>
                  <a:srgbClr val="60A5FA"/>
                </a:solidFill>
                <a:latin typeface="Calibri" pitchFamily="34" charset="0"/>
                <a:ea typeface="Calibri" pitchFamily="34" charset="-122"/>
                <a:cs typeface="Calibri" pitchFamily="34" charset="-120"/>
              </a:rPr>
              <a:t>Firestore's onSnapshot listeners push database changes to the React UI instantly — no polling, no page refresh. This is a key cloud capability.</a:t>
            </a:r>
            <a:endParaRPr lang="en-US" sz="950" dirty="0"/>
          </a:p>
        </p:txBody>
      </p:sp>
      <p:sp>
        <p:nvSpPr>
          <p:cNvPr id="31" name="Shape 25"/>
          <p:cNvSpPr/>
          <p:nvPr/>
        </p:nvSpPr>
        <p:spPr>
          <a:xfrm>
            <a:off x="3218688" y="2880360"/>
            <a:ext cx="2807208" cy="1828800"/>
          </a:xfrm>
          <a:prstGeom prst="rect">
            <a:avLst/>
          </a:prstGeom>
          <a:solidFill>
            <a:srgbClr val="0F2744"/>
          </a:solidFill>
          <a:ln w="19050">
            <a:solidFill>
              <a:srgbClr val="D97706"/>
            </a:solidFill>
            <a:prstDash val="solid"/>
          </a:ln>
        </p:spPr>
        <p:txBody>
          <a:bodyPr/>
          <a:lstStyle/>
          <a:p>
            <a:endParaRPr lang="en-IN"/>
          </a:p>
        </p:txBody>
      </p:sp>
      <p:sp>
        <p:nvSpPr>
          <p:cNvPr id="32" name="Shape 26"/>
          <p:cNvSpPr/>
          <p:nvPr/>
        </p:nvSpPr>
        <p:spPr>
          <a:xfrm>
            <a:off x="3218688" y="2880360"/>
            <a:ext cx="2807208" cy="91440"/>
          </a:xfrm>
          <a:prstGeom prst="rect">
            <a:avLst/>
          </a:prstGeom>
          <a:solidFill>
            <a:srgbClr val="D97706"/>
          </a:solidFill>
          <a:ln w="12700">
            <a:solidFill>
              <a:srgbClr val="D97706"/>
            </a:solidFill>
            <a:prstDash val="solid"/>
          </a:ln>
        </p:spPr>
        <p:txBody>
          <a:bodyPr/>
          <a:lstStyle/>
          <a:p>
            <a:endParaRPr lang="en-IN"/>
          </a:p>
        </p:txBody>
      </p:sp>
      <p:sp>
        <p:nvSpPr>
          <p:cNvPr id="33" name="Shape 27"/>
          <p:cNvSpPr/>
          <p:nvPr/>
        </p:nvSpPr>
        <p:spPr>
          <a:xfrm>
            <a:off x="3328416" y="3044952"/>
            <a:ext cx="384048" cy="384048"/>
          </a:xfrm>
          <a:prstGeom prst="ellipse">
            <a:avLst/>
          </a:prstGeom>
          <a:solidFill>
            <a:srgbClr val="D97706"/>
          </a:solidFill>
          <a:ln w="12700">
            <a:solidFill>
              <a:srgbClr val="D97706"/>
            </a:solidFill>
            <a:prstDash val="solid"/>
          </a:ln>
        </p:spPr>
        <p:txBody>
          <a:bodyPr/>
          <a:lstStyle/>
          <a:p>
            <a:endParaRPr lang="en-IN"/>
          </a:p>
        </p:txBody>
      </p:sp>
      <p:pic>
        <p:nvPicPr>
          <p:cNvPr id="34" name="Image 4" descr="preencoded.png"/>
          <p:cNvPicPr>
            <a:picLocks noChangeAspect="1"/>
          </p:cNvPicPr>
          <p:nvPr/>
        </p:nvPicPr>
        <p:blipFill>
          <a:blip r:embed="rId7"/>
          <a:stretch>
            <a:fillRect/>
          </a:stretch>
        </p:blipFill>
        <p:spPr>
          <a:xfrm>
            <a:off x="3355848" y="3063240"/>
            <a:ext cx="329184" cy="329184"/>
          </a:xfrm>
          <a:prstGeom prst="rect">
            <a:avLst/>
          </a:prstGeom>
        </p:spPr>
      </p:pic>
      <p:sp>
        <p:nvSpPr>
          <p:cNvPr id="35" name="Text 28"/>
          <p:cNvSpPr/>
          <p:nvPr/>
        </p:nvSpPr>
        <p:spPr>
          <a:xfrm>
            <a:off x="3785616" y="3063240"/>
            <a:ext cx="21031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Serverless Architecture</a:t>
            </a:r>
            <a:endParaRPr lang="en-US" sz="1050" dirty="0"/>
          </a:p>
        </p:txBody>
      </p:sp>
      <p:sp>
        <p:nvSpPr>
          <p:cNvPr id="36" name="Text 29"/>
          <p:cNvSpPr/>
          <p:nvPr/>
        </p:nvSpPr>
        <p:spPr>
          <a:xfrm>
            <a:off x="3328416" y="3593592"/>
            <a:ext cx="2578608" cy="1051560"/>
          </a:xfrm>
          <a:prstGeom prst="rect">
            <a:avLst/>
          </a:prstGeom>
          <a:noFill/>
          <a:ln/>
        </p:spPr>
        <p:txBody>
          <a:bodyPr wrap="square" lIns="25400" tIns="25400" rIns="25400" bIns="25400" rtlCol="0" anchor="ctr"/>
          <a:lstStyle/>
          <a:p>
            <a:pPr marL="0" indent="0">
              <a:buNone/>
            </a:pPr>
            <a:r>
              <a:rPr lang="en-US" sz="950" dirty="0">
                <a:solidFill>
                  <a:srgbClr val="60A5FA"/>
                </a:solidFill>
                <a:latin typeface="Calibri" pitchFamily="34" charset="0"/>
                <a:ea typeface="Calibri" pitchFamily="34" charset="-122"/>
                <a:cs typeface="Calibri" pitchFamily="34" charset="-120"/>
              </a:rPr>
              <a:t>No backend server code is written. Firebase Functions (and Firestore rules) handle all server-side logic. The app is fully serverless.</a:t>
            </a:r>
            <a:endParaRPr lang="en-US" sz="950" dirty="0"/>
          </a:p>
        </p:txBody>
      </p:sp>
      <p:sp>
        <p:nvSpPr>
          <p:cNvPr id="37" name="Shape 30"/>
          <p:cNvSpPr/>
          <p:nvPr/>
        </p:nvSpPr>
        <p:spPr>
          <a:xfrm>
            <a:off x="6163056" y="2880360"/>
            <a:ext cx="2807208" cy="1828800"/>
          </a:xfrm>
          <a:prstGeom prst="rect">
            <a:avLst/>
          </a:prstGeom>
          <a:solidFill>
            <a:srgbClr val="0F2744"/>
          </a:solidFill>
          <a:ln w="19050">
            <a:solidFill>
              <a:srgbClr val="DB2777"/>
            </a:solidFill>
            <a:prstDash val="solid"/>
          </a:ln>
        </p:spPr>
        <p:txBody>
          <a:bodyPr/>
          <a:lstStyle/>
          <a:p>
            <a:endParaRPr lang="en-IN"/>
          </a:p>
        </p:txBody>
      </p:sp>
      <p:sp>
        <p:nvSpPr>
          <p:cNvPr id="38" name="Shape 31"/>
          <p:cNvSpPr/>
          <p:nvPr/>
        </p:nvSpPr>
        <p:spPr>
          <a:xfrm>
            <a:off x="6163056" y="2880360"/>
            <a:ext cx="2807208" cy="91440"/>
          </a:xfrm>
          <a:prstGeom prst="rect">
            <a:avLst/>
          </a:prstGeom>
          <a:solidFill>
            <a:srgbClr val="DB2777"/>
          </a:solidFill>
          <a:ln w="12700">
            <a:solidFill>
              <a:srgbClr val="DB2777"/>
            </a:solidFill>
            <a:prstDash val="solid"/>
          </a:ln>
        </p:spPr>
        <p:txBody>
          <a:bodyPr/>
          <a:lstStyle/>
          <a:p>
            <a:endParaRPr lang="en-IN"/>
          </a:p>
        </p:txBody>
      </p:sp>
      <p:sp>
        <p:nvSpPr>
          <p:cNvPr id="39" name="Shape 32"/>
          <p:cNvSpPr/>
          <p:nvPr/>
        </p:nvSpPr>
        <p:spPr>
          <a:xfrm>
            <a:off x="6272784" y="3044952"/>
            <a:ext cx="384048" cy="384048"/>
          </a:xfrm>
          <a:prstGeom prst="ellipse">
            <a:avLst/>
          </a:prstGeom>
          <a:solidFill>
            <a:srgbClr val="DB2777"/>
          </a:solidFill>
          <a:ln w="12700">
            <a:solidFill>
              <a:srgbClr val="DB2777"/>
            </a:solidFill>
            <a:prstDash val="solid"/>
          </a:ln>
        </p:spPr>
        <p:txBody>
          <a:bodyPr/>
          <a:lstStyle/>
          <a:p>
            <a:endParaRPr lang="en-IN"/>
          </a:p>
        </p:txBody>
      </p:sp>
      <p:pic>
        <p:nvPicPr>
          <p:cNvPr id="40" name="Image 5" descr="preencoded.png"/>
          <p:cNvPicPr>
            <a:picLocks noChangeAspect="1"/>
          </p:cNvPicPr>
          <p:nvPr/>
        </p:nvPicPr>
        <p:blipFill>
          <a:blip r:embed="rId8"/>
          <a:stretch>
            <a:fillRect/>
          </a:stretch>
        </p:blipFill>
        <p:spPr>
          <a:xfrm>
            <a:off x="6300216" y="3063240"/>
            <a:ext cx="329184" cy="329184"/>
          </a:xfrm>
          <a:prstGeom prst="rect">
            <a:avLst/>
          </a:prstGeom>
        </p:spPr>
      </p:pic>
      <p:sp>
        <p:nvSpPr>
          <p:cNvPr id="41" name="Text 33"/>
          <p:cNvSpPr/>
          <p:nvPr/>
        </p:nvSpPr>
        <p:spPr>
          <a:xfrm>
            <a:off x="6729984" y="3063240"/>
            <a:ext cx="21031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Cloud Hosting &amp; CDN Delivery</a:t>
            </a:r>
            <a:endParaRPr lang="en-US" sz="1050" dirty="0"/>
          </a:p>
        </p:txBody>
      </p:sp>
      <p:sp>
        <p:nvSpPr>
          <p:cNvPr id="42" name="Text 34"/>
          <p:cNvSpPr/>
          <p:nvPr/>
        </p:nvSpPr>
        <p:spPr>
          <a:xfrm>
            <a:off x="6272784" y="3593592"/>
            <a:ext cx="2578608" cy="1051560"/>
          </a:xfrm>
          <a:prstGeom prst="rect">
            <a:avLst/>
          </a:prstGeom>
          <a:noFill/>
          <a:ln/>
        </p:spPr>
        <p:txBody>
          <a:bodyPr wrap="square" lIns="25400" tIns="25400" rIns="25400" bIns="25400" rtlCol="0" anchor="ctr"/>
          <a:lstStyle/>
          <a:p>
            <a:pPr marL="0" indent="0">
              <a:buNone/>
            </a:pPr>
            <a:r>
              <a:rPr lang="en-US" sz="950" dirty="0">
                <a:solidFill>
                  <a:srgbClr val="60A5FA"/>
                </a:solidFill>
                <a:latin typeface="Calibri" pitchFamily="34" charset="0"/>
                <a:ea typeface="Calibri" pitchFamily="34" charset="-122"/>
                <a:cs typeface="Calibri" pitchFamily="34" charset="-120"/>
              </a:rPr>
              <a:t>Firebase Hosting deploys the React build to Google's global CDN. Users worldwide get fast load times via edge servers.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txBody>
          <a:bodyPr/>
          <a:lstStyle/>
          <a:p>
            <a:endParaRPr lang="en-IN"/>
          </a:p>
        </p:txBody>
      </p:sp>
      <p:sp>
        <p:nvSpPr>
          <p:cNvPr id="3" name="Text 1"/>
          <p:cNvSpPr/>
          <p:nvPr/>
        </p:nvSpPr>
        <p:spPr>
          <a:xfrm>
            <a:off x="457200" y="109728"/>
            <a:ext cx="7772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Advantages of Cloud Integration</a:t>
            </a:r>
            <a:endParaRPr lang="en-US" sz="2400" dirty="0"/>
          </a:p>
        </p:txBody>
      </p:sp>
      <p:sp>
        <p:nvSpPr>
          <p:cNvPr id="4" name="Text 2"/>
          <p:cNvSpPr/>
          <p:nvPr/>
        </p:nvSpPr>
        <p:spPr>
          <a:xfrm>
            <a:off x="457200" y="640080"/>
            <a:ext cx="7772400" cy="228600"/>
          </a:xfrm>
          <a:prstGeom prst="rect">
            <a:avLst/>
          </a:prstGeom>
          <a:noFill/>
          <a:ln/>
        </p:spPr>
        <p:txBody>
          <a:bodyPr wrap="square" lIns="0" tIns="0" rIns="0" bIns="0" rtlCol="0" anchor="t"/>
          <a:lstStyle/>
          <a:p>
            <a:pPr marL="0" indent="0">
              <a:buNone/>
            </a:pPr>
            <a:r>
              <a:rPr lang="en-US" sz="1100" dirty="0">
                <a:solidFill>
                  <a:srgbClr val="60A5FA"/>
                </a:solidFill>
                <a:latin typeface="Calibri" pitchFamily="34" charset="0"/>
                <a:ea typeface="Calibri" pitchFamily="34" charset="-122"/>
                <a:cs typeface="Calibri" pitchFamily="34" charset="-120"/>
              </a:rPr>
              <a:t>Benefits of using Firebase over traditional server-based approach</a:t>
            </a:r>
            <a:endParaRPr lang="en-US" sz="1100" dirty="0"/>
          </a:p>
        </p:txBody>
      </p:sp>
      <p:sp>
        <p:nvSpPr>
          <p:cNvPr id="5" name="Shape 3"/>
          <p:cNvSpPr/>
          <p:nvPr/>
        </p:nvSpPr>
        <p:spPr>
          <a:xfrm>
            <a:off x="0" y="4892040"/>
            <a:ext cx="9144000" cy="251460"/>
          </a:xfrm>
          <a:prstGeom prst="rect">
            <a:avLst/>
          </a:prstGeom>
          <a:solidFill>
            <a:srgbClr val="0A1628"/>
          </a:solidFill>
          <a:ln w="12700">
            <a:solidFill>
              <a:srgbClr val="0A1628"/>
            </a:solidFill>
            <a:prstDash val="solid"/>
          </a:ln>
        </p:spPr>
        <p:txBody>
          <a:bodyPr/>
          <a:lstStyle/>
          <a:p>
            <a:endParaRPr lang="en-IN"/>
          </a:p>
        </p:txBody>
      </p:sp>
      <p:sp>
        <p:nvSpPr>
          <p:cNvPr id="6" name="Text 4"/>
          <p:cNvSpPr/>
          <p:nvPr/>
        </p:nvSpPr>
        <p:spPr>
          <a:xfrm>
            <a:off x="274320" y="4896612"/>
            <a:ext cx="8595360" cy="182880"/>
          </a:xfrm>
          <a:prstGeom prst="rect">
            <a:avLst/>
          </a:prstGeom>
          <a:noFill/>
          <a:ln/>
        </p:spPr>
        <p:txBody>
          <a:bodyPr wrap="square" lIns="0" tIns="0" rIns="0" bIns="0" rtlCol="0" anchor="ctr"/>
          <a:lstStyle/>
          <a:p>
            <a:pPr marL="0" indent="0">
              <a:buNone/>
            </a:pPr>
            <a:r>
              <a:rPr lang="en-US" sz="800" dirty="0">
                <a:solidFill>
                  <a:srgbClr val="94A3B8"/>
                </a:solidFill>
              </a:rPr>
              <a:t>Fintracker — Cloud-Based Personal Finance Management System  |  Cloud Computing &amp; AI Services</a:t>
            </a:r>
            <a:endParaRPr lang="en-US" sz="800" dirty="0"/>
          </a:p>
        </p:txBody>
      </p:sp>
      <p:sp>
        <p:nvSpPr>
          <p:cNvPr id="7" name="Shape 5"/>
          <p:cNvSpPr/>
          <p:nvPr/>
        </p:nvSpPr>
        <p:spPr>
          <a:xfrm>
            <a:off x="274320" y="1051560"/>
            <a:ext cx="2788920" cy="173736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8" name="Shape 6"/>
          <p:cNvSpPr/>
          <p:nvPr/>
        </p:nvSpPr>
        <p:spPr>
          <a:xfrm>
            <a:off x="384048" y="1188720"/>
            <a:ext cx="438912" cy="438912"/>
          </a:xfrm>
          <a:prstGeom prst="ellipse">
            <a:avLst/>
          </a:prstGeom>
          <a:solidFill>
            <a:srgbClr val="3B82F6"/>
          </a:solidFill>
          <a:ln w="12700">
            <a:solidFill>
              <a:srgbClr val="3B82F6"/>
            </a:solidFill>
            <a:prstDash val="solid"/>
          </a:ln>
        </p:spPr>
        <p:txBody>
          <a:bodyPr/>
          <a:lstStyle/>
          <a:p>
            <a:endParaRPr lang="en-IN"/>
          </a:p>
        </p:txBody>
      </p:sp>
      <p:pic>
        <p:nvPicPr>
          <p:cNvPr id="9" name="Image 0" descr="preencoded.png"/>
          <p:cNvPicPr>
            <a:picLocks noChangeAspect="1"/>
          </p:cNvPicPr>
          <p:nvPr/>
        </p:nvPicPr>
        <p:blipFill>
          <a:blip r:embed="rId3"/>
          <a:stretch>
            <a:fillRect/>
          </a:stretch>
        </p:blipFill>
        <p:spPr>
          <a:xfrm>
            <a:off x="411480" y="1207008"/>
            <a:ext cx="384048" cy="384048"/>
          </a:xfrm>
          <a:prstGeom prst="rect">
            <a:avLst/>
          </a:prstGeom>
        </p:spPr>
      </p:pic>
      <p:sp>
        <p:nvSpPr>
          <p:cNvPr id="10" name="Text 7"/>
          <p:cNvSpPr/>
          <p:nvPr/>
        </p:nvSpPr>
        <p:spPr>
          <a:xfrm>
            <a:off x="914400" y="1234440"/>
            <a:ext cx="2011680" cy="347472"/>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Scalability</a:t>
            </a:r>
            <a:endParaRPr lang="en-US" sz="1200" dirty="0"/>
          </a:p>
        </p:txBody>
      </p:sp>
      <p:sp>
        <p:nvSpPr>
          <p:cNvPr id="11" name="Text 8"/>
          <p:cNvSpPr/>
          <p:nvPr/>
        </p:nvSpPr>
        <p:spPr>
          <a:xfrm>
            <a:off x="384048" y="1691640"/>
            <a:ext cx="2578608"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Firebase automatically scales to handle any number of users without any configuration changes. Works for 10 users or 10 million.</a:t>
            </a:r>
            <a:endParaRPr lang="en-US" sz="1000" dirty="0"/>
          </a:p>
        </p:txBody>
      </p:sp>
      <p:sp>
        <p:nvSpPr>
          <p:cNvPr id="12" name="Shape 9"/>
          <p:cNvSpPr/>
          <p:nvPr/>
        </p:nvSpPr>
        <p:spPr>
          <a:xfrm>
            <a:off x="3218688" y="1051560"/>
            <a:ext cx="2788920" cy="173736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13" name="Shape 10"/>
          <p:cNvSpPr/>
          <p:nvPr/>
        </p:nvSpPr>
        <p:spPr>
          <a:xfrm>
            <a:off x="3328416" y="1188720"/>
            <a:ext cx="438912" cy="438912"/>
          </a:xfrm>
          <a:prstGeom prst="ellipse">
            <a:avLst/>
          </a:prstGeom>
          <a:solidFill>
            <a:srgbClr val="10B981"/>
          </a:solidFill>
          <a:ln w="12700">
            <a:solidFill>
              <a:srgbClr val="10B981"/>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3355848" y="1207008"/>
            <a:ext cx="384048" cy="384048"/>
          </a:xfrm>
          <a:prstGeom prst="rect">
            <a:avLst/>
          </a:prstGeom>
        </p:spPr>
      </p:pic>
      <p:sp>
        <p:nvSpPr>
          <p:cNvPr id="15" name="Text 11"/>
          <p:cNvSpPr/>
          <p:nvPr/>
        </p:nvSpPr>
        <p:spPr>
          <a:xfrm>
            <a:off x="3858768" y="1234440"/>
            <a:ext cx="2011680" cy="347472"/>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Security</a:t>
            </a:r>
            <a:endParaRPr lang="en-US" sz="1200" dirty="0"/>
          </a:p>
        </p:txBody>
      </p:sp>
      <p:sp>
        <p:nvSpPr>
          <p:cNvPr id="16" name="Text 12"/>
          <p:cNvSpPr/>
          <p:nvPr/>
        </p:nvSpPr>
        <p:spPr>
          <a:xfrm>
            <a:off x="3328416" y="1691640"/>
            <a:ext cx="2578608"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Google-managed security infrastructure with SSL/TLS, DDoS protection, and fine-grained Firestore security rules.</a:t>
            </a:r>
            <a:endParaRPr lang="en-US" sz="1000" dirty="0"/>
          </a:p>
        </p:txBody>
      </p:sp>
      <p:sp>
        <p:nvSpPr>
          <p:cNvPr id="17" name="Shape 13"/>
          <p:cNvSpPr/>
          <p:nvPr/>
        </p:nvSpPr>
        <p:spPr>
          <a:xfrm>
            <a:off x="6163056" y="1051560"/>
            <a:ext cx="2788920" cy="173736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4"/>
          <p:cNvSpPr/>
          <p:nvPr/>
        </p:nvSpPr>
        <p:spPr>
          <a:xfrm>
            <a:off x="6272784" y="1188720"/>
            <a:ext cx="438912" cy="438912"/>
          </a:xfrm>
          <a:prstGeom prst="ellipse">
            <a:avLst/>
          </a:prstGeom>
          <a:solidFill>
            <a:srgbClr val="F59E0B"/>
          </a:solidFill>
          <a:ln w="12700">
            <a:solidFill>
              <a:srgbClr val="F59E0B"/>
            </a:solidFill>
            <a:prstDash val="solid"/>
          </a:ln>
        </p:spPr>
        <p:txBody>
          <a:bodyPr/>
          <a:lstStyle/>
          <a:p>
            <a:endParaRPr lang="en-IN"/>
          </a:p>
        </p:txBody>
      </p:sp>
      <p:pic>
        <p:nvPicPr>
          <p:cNvPr id="19" name="Image 2" descr="preencoded.png"/>
          <p:cNvPicPr>
            <a:picLocks noChangeAspect="1"/>
          </p:cNvPicPr>
          <p:nvPr/>
        </p:nvPicPr>
        <p:blipFill>
          <a:blip r:embed="rId5"/>
          <a:stretch>
            <a:fillRect/>
          </a:stretch>
        </p:blipFill>
        <p:spPr>
          <a:xfrm>
            <a:off x="6300216" y="1207008"/>
            <a:ext cx="384048" cy="384048"/>
          </a:xfrm>
          <a:prstGeom prst="rect">
            <a:avLst/>
          </a:prstGeom>
        </p:spPr>
      </p:pic>
      <p:sp>
        <p:nvSpPr>
          <p:cNvPr id="20" name="Text 15"/>
          <p:cNvSpPr/>
          <p:nvPr/>
        </p:nvSpPr>
        <p:spPr>
          <a:xfrm>
            <a:off x="6803136" y="1234440"/>
            <a:ext cx="2011680" cy="347472"/>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Accessibility</a:t>
            </a:r>
            <a:endParaRPr lang="en-US" sz="1200" dirty="0"/>
          </a:p>
        </p:txBody>
      </p:sp>
      <p:sp>
        <p:nvSpPr>
          <p:cNvPr id="21" name="Text 16"/>
          <p:cNvSpPr/>
          <p:nvPr/>
        </p:nvSpPr>
        <p:spPr>
          <a:xfrm>
            <a:off x="6272784" y="1691640"/>
            <a:ext cx="2578608"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Users can access their financial data from any device, any browser, anywhere in the world — all data is in the cloud.</a:t>
            </a:r>
            <a:endParaRPr lang="en-US" sz="1000" dirty="0"/>
          </a:p>
        </p:txBody>
      </p:sp>
      <p:sp>
        <p:nvSpPr>
          <p:cNvPr id="22" name="Shape 17"/>
          <p:cNvSpPr/>
          <p:nvPr/>
        </p:nvSpPr>
        <p:spPr>
          <a:xfrm>
            <a:off x="274320" y="2926080"/>
            <a:ext cx="2788920" cy="173736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23" name="Shape 18"/>
          <p:cNvSpPr/>
          <p:nvPr/>
        </p:nvSpPr>
        <p:spPr>
          <a:xfrm>
            <a:off x="384048" y="3063240"/>
            <a:ext cx="438912" cy="438912"/>
          </a:xfrm>
          <a:prstGeom prst="ellipse">
            <a:avLst/>
          </a:prstGeom>
          <a:solidFill>
            <a:srgbClr val="8B5CF6"/>
          </a:solidFill>
          <a:ln w="12700">
            <a:solidFill>
              <a:srgbClr val="8B5CF6"/>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411480" y="3081528"/>
            <a:ext cx="384048" cy="384048"/>
          </a:xfrm>
          <a:prstGeom prst="rect">
            <a:avLst/>
          </a:prstGeom>
        </p:spPr>
      </p:pic>
      <p:sp>
        <p:nvSpPr>
          <p:cNvPr id="25" name="Text 19"/>
          <p:cNvSpPr/>
          <p:nvPr/>
        </p:nvSpPr>
        <p:spPr>
          <a:xfrm>
            <a:off x="914400" y="3108960"/>
            <a:ext cx="2011680" cy="347472"/>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Real-Time Sync</a:t>
            </a:r>
            <a:endParaRPr lang="en-US" sz="1200" dirty="0"/>
          </a:p>
        </p:txBody>
      </p:sp>
      <p:sp>
        <p:nvSpPr>
          <p:cNvPr id="26" name="Text 20"/>
          <p:cNvSpPr/>
          <p:nvPr/>
        </p:nvSpPr>
        <p:spPr>
          <a:xfrm>
            <a:off x="384048" y="3566160"/>
            <a:ext cx="2578608"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Firestore's real-time listeners sync data instantly across sessions. No manual refresh needed — pure cloud streaming.</a:t>
            </a:r>
            <a:endParaRPr lang="en-US" sz="1000" dirty="0"/>
          </a:p>
        </p:txBody>
      </p:sp>
      <p:sp>
        <p:nvSpPr>
          <p:cNvPr id="27" name="Shape 21"/>
          <p:cNvSpPr/>
          <p:nvPr/>
        </p:nvSpPr>
        <p:spPr>
          <a:xfrm>
            <a:off x="3218688" y="2926080"/>
            <a:ext cx="2788920" cy="173736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28" name="Shape 22"/>
          <p:cNvSpPr/>
          <p:nvPr/>
        </p:nvSpPr>
        <p:spPr>
          <a:xfrm>
            <a:off x="3328416" y="3063240"/>
            <a:ext cx="438912" cy="438912"/>
          </a:xfrm>
          <a:prstGeom prst="ellipse">
            <a:avLst/>
          </a:prstGeom>
          <a:solidFill>
            <a:srgbClr val="EC4899"/>
          </a:solidFill>
          <a:ln w="12700">
            <a:solidFill>
              <a:srgbClr val="EC4899"/>
            </a:solidFill>
            <a:prstDash val="solid"/>
          </a:ln>
        </p:spPr>
        <p:txBody>
          <a:bodyPr/>
          <a:lstStyle/>
          <a:p>
            <a:endParaRPr lang="en-IN"/>
          </a:p>
        </p:txBody>
      </p:sp>
      <p:pic>
        <p:nvPicPr>
          <p:cNvPr id="29" name="Image 4" descr="preencoded.png"/>
          <p:cNvPicPr>
            <a:picLocks noChangeAspect="1"/>
          </p:cNvPicPr>
          <p:nvPr/>
        </p:nvPicPr>
        <p:blipFill>
          <a:blip r:embed="rId7"/>
          <a:stretch>
            <a:fillRect/>
          </a:stretch>
        </p:blipFill>
        <p:spPr>
          <a:xfrm>
            <a:off x="3355848" y="3081528"/>
            <a:ext cx="384048" cy="384048"/>
          </a:xfrm>
          <a:prstGeom prst="rect">
            <a:avLst/>
          </a:prstGeom>
        </p:spPr>
      </p:pic>
      <p:sp>
        <p:nvSpPr>
          <p:cNvPr id="30" name="Text 23"/>
          <p:cNvSpPr/>
          <p:nvPr/>
        </p:nvSpPr>
        <p:spPr>
          <a:xfrm>
            <a:off x="3858768" y="3108960"/>
            <a:ext cx="2011680" cy="347472"/>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Fast Deployment</a:t>
            </a:r>
            <a:endParaRPr lang="en-US" sz="1200" dirty="0"/>
          </a:p>
        </p:txBody>
      </p:sp>
      <p:sp>
        <p:nvSpPr>
          <p:cNvPr id="31" name="Text 24"/>
          <p:cNvSpPr/>
          <p:nvPr/>
        </p:nvSpPr>
        <p:spPr>
          <a:xfrm>
            <a:off x="3328416" y="3566160"/>
            <a:ext cx="2578608"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Firebase Hosting deploys the entire app in seconds with a single command. Rollbacks are instant. CI/CD is built-in.</a:t>
            </a:r>
            <a:endParaRPr lang="en-US" sz="1000" dirty="0"/>
          </a:p>
        </p:txBody>
      </p:sp>
      <p:sp>
        <p:nvSpPr>
          <p:cNvPr id="32" name="Shape 25"/>
          <p:cNvSpPr/>
          <p:nvPr/>
        </p:nvSpPr>
        <p:spPr>
          <a:xfrm>
            <a:off x="6163056" y="2926080"/>
            <a:ext cx="2788920" cy="1737360"/>
          </a:xfrm>
          <a:prstGeom prst="rect">
            <a:avLst/>
          </a:prstGeom>
          <a:solidFill>
            <a:srgbClr val="FFFFFF"/>
          </a:solidFill>
          <a:ln w="15240">
            <a:solidFill>
              <a:srgbClr val="DBEAFE"/>
            </a:solidFill>
            <a:prstDash val="solid"/>
          </a:ln>
          <a:effectLst>
            <a:outerShdw blurRad="101600" dist="38100" dir="8100000" algn="bl" rotWithShape="0">
              <a:srgbClr val="000000">
                <a:alpha val="12000"/>
              </a:srgbClr>
            </a:outerShdw>
          </a:effectLst>
        </p:spPr>
        <p:txBody>
          <a:bodyPr/>
          <a:lstStyle/>
          <a:p>
            <a:endParaRPr lang="en-IN"/>
          </a:p>
        </p:txBody>
      </p:sp>
      <p:sp>
        <p:nvSpPr>
          <p:cNvPr id="33" name="Shape 26"/>
          <p:cNvSpPr/>
          <p:nvPr/>
        </p:nvSpPr>
        <p:spPr>
          <a:xfrm>
            <a:off x="6272784" y="3063240"/>
            <a:ext cx="438912" cy="438912"/>
          </a:xfrm>
          <a:prstGeom prst="ellipse">
            <a:avLst/>
          </a:prstGeom>
          <a:solidFill>
            <a:srgbClr val="0A1628"/>
          </a:solidFill>
          <a:ln w="12700">
            <a:solidFill>
              <a:srgbClr val="0A1628"/>
            </a:solidFill>
            <a:prstDash val="solid"/>
          </a:ln>
        </p:spPr>
        <p:txBody>
          <a:bodyPr/>
          <a:lstStyle/>
          <a:p>
            <a:endParaRPr lang="en-IN"/>
          </a:p>
        </p:txBody>
      </p:sp>
      <p:pic>
        <p:nvPicPr>
          <p:cNvPr id="34" name="Image 5" descr="preencoded.png"/>
          <p:cNvPicPr>
            <a:picLocks noChangeAspect="1"/>
          </p:cNvPicPr>
          <p:nvPr/>
        </p:nvPicPr>
        <p:blipFill>
          <a:blip r:embed="rId8"/>
          <a:stretch>
            <a:fillRect/>
          </a:stretch>
        </p:blipFill>
        <p:spPr>
          <a:xfrm>
            <a:off x="6300216" y="3081528"/>
            <a:ext cx="384048" cy="384048"/>
          </a:xfrm>
          <a:prstGeom prst="rect">
            <a:avLst/>
          </a:prstGeom>
        </p:spPr>
      </p:pic>
      <p:sp>
        <p:nvSpPr>
          <p:cNvPr id="35" name="Text 27"/>
          <p:cNvSpPr/>
          <p:nvPr/>
        </p:nvSpPr>
        <p:spPr>
          <a:xfrm>
            <a:off x="6803136" y="3108960"/>
            <a:ext cx="2011680" cy="347472"/>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Cost-Effective</a:t>
            </a:r>
            <a:endParaRPr lang="en-US" sz="1200" dirty="0"/>
          </a:p>
        </p:txBody>
      </p:sp>
      <p:sp>
        <p:nvSpPr>
          <p:cNvPr id="36" name="Text 28"/>
          <p:cNvSpPr/>
          <p:nvPr/>
        </p:nvSpPr>
        <p:spPr>
          <a:xfrm>
            <a:off x="6272784" y="3566160"/>
            <a:ext cx="2578608" cy="1005840"/>
          </a:xfrm>
          <a:prstGeom prst="rect">
            <a:avLst/>
          </a:prstGeom>
          <a:noFill/>
          <a:ln/>
        </p:spPr>
        <p:txBody>
          <a:bodyPr wrap="square" lIns="25400" tIns="25400" rIns="25400" bIns="2540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Firebase's free Spark plan is sufficient for this project. No server costs, no database license fees — pay-per-use pricing.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10" name="TopBar"/>
          <p:cNvSpPr>
            <a:spLocks noGrp="1"/>
          </p:cNvSpPr>
          <p:nvPr/>
        </p:nvSpPr>
        <p:spPr>
          <a:xfrm>
            <a:off x="0" y="0"/>
            <a:ext cx="9144000" cy="63500"/>
          </a:xfrm>
          <a:prstGeom prst="rect">
            <a:avLst/>
          </a:prstGeom>
          <a:solidFill>
            <a:srgbClr val="0A1628"/>
          </a:solidFill>
          <a:ln>
            <a:noFill/>
          </a:ln>
        </p:spPr>
        <p:txBody>
          <a:bodyPr/>
          <a:lstStyle/>
          <a:p>
            <a:endParaRPr lang="en-US" dirty="0"/>
          </a:p>
        </p:txBody>
      </p:sp>
      <p:sp>
        <p:nvSpPr>
          <p:cNvPr id="11" name="BottomBar"/>
          <p:cNvSpPr>
            <a:spLocks noGrp="1"/>
          </p:cNvSpPr>
          <p:nvPr/>
        </p:nvSpPr>
        <p:spPr>
          <a:xfrm>
            <a:off x="0" y="4978400"/>
            <a:ext cx="9144000" cy="165100"/>
          </a:xfrm>
          <a:prstGeom prst="rect">
            <a:avLst/>
          </a:prstGeom>
          <a:solidFill>
            <a:srgbClr val="060E1C"/>
          </a:solidFill>
          <a:ln>
            <a:noFill/>
          </a:ln>
        </p:spPr>
        <p:txBody>
          <a:bodyPr/>
          <a:lstStyle/>
          <a:p>
            <a:endParaRPr lang="en-US" dirty="0"/>
          </a:p>
        </p:txBody>
      </p:sp>
      <p:sp>
        <p:nvSpPr>
          <p:cNvPr id="12" name="AccentLine"/>
          <p:cNvSpPr>
            <a:spLocks noGrp="1"/>
          </p:cNvSpPr>
          <p:nvPr/>
        </p:nvSpPr>
        <p:spPr>
          <a:xfrm>
            <a:off x="3251200" y="2921000"/>
            <a:ext cx="2540000" cy="50800"/>
          </a:xfrm>
          <a:prstGeom prst="rect">
            <a:avLst/>
          </a:prstGeom>
          <a:solidFill>
            <a:srgbClr val="2563EB"/>
          </a:solidFill>
          <a:ln>
            <a:noFill/>
          </a:ln>
        </p:spPr>
        <p:txBody>
          <a:bodyPr/>
          <a:lstStyle/>
          <a:p>
            <a:endParaRPr lang="en-US" dirty="0"/>
          </a:p>
        </p:txBody>
      </p:sp>
      <p:sp>
        <p:nvSpPr>
          <p:cNvPr id="14" name="MainTitle"/>
          <p:cNvSpPr>
            <a:spLocks noGrp="1"/>
          </p:cNvSpPr>
          <p:nvPr/>
        </p:nvSpPr>
        <p:spPr>
          <a:xfrm>
            <a:off x="457200" y="2006600"/>
            <a:ext cx="8229600" cy="990600"/>
          </a:xfrm>
          <a:prstGeom prst="rect">
            <a:avLst/>
          </a:prstGeom>
          <a:noFill/>
          <a:ln>
            <a:noFill/>
          </a:ln>
        </p:spPr>
        <p:txBody>
          <a:bodyPr anchor="ctr" anchorCtr="1"/>
          <a:lstStyle/>
          <a:p>
            <a:pPr marL="0" indent="0" algn="ctr">
              <a:buNone/>
            </a:pPr>
            <a:r>
              <a:rPr lang="en-US" sz="5400" b="1" dirty="0">
                <a:solidFill>
                  <a:srgbClr val="FFFFFF"/>
                </a:solidFill>
                <a:latin typeface="Calibri" pitchFamily="34" charset="0"/>
              </a:rPr>
              <a:t>Live Demonstration</a:t>
            </a:r>
          </a:p>
        </p:txBody>
      </p:sp>
      <p:sp>
        <p:nvSpPr>
          <p:cNvPr id="15" name="Subtitle"/>
          <p:cNvSpPr>
            <a:spLocks noGrp="1"/>
          </p:cNvSpPr>
          <p:nvPr/>
        </p:nvSpPr>
        <p:spPr>
          <a:xfrm>
            <a:off x="406400" y="3009900"/>
            <a:ext cx="8229600" cy="457200"/>
          </a:xfrm>
          <a:prstGeom prst="rect">
            <a:avLst/>
          </a:prstGeom>
          <a:noFill/>
          <a:ln>
            <a:noFill/>
          </a:ln>
        </p:spPr>
        <p:txBody>
          <a:bodyPr anchor="ctr" anchorCtr="1"/>
          <a:lstStyle/>
          <a:p>
            <a:pPr marL="0" indent="0" algn="ctr">
              <a:buNone/>
            </a:pPr>
            <a:r>
              <a:rPr lang="en-US" sz="1800" dirty="0">
                <a:solidFill>
                  <a:srgbClr val="CBD5E1"/>
                </a:solidFill>
                <a:latin typeface="Calibri" pitchFamily="34" charset="0"/>
              </a:rPr>
              <a:t>Switching to live app walkthrough</a:t>
            </a:r>
          </a:p>
        </p:txBody>
      </p:sp>
      <p:pic>
        <p:nvPicPr>
          <p:cNvPr id="16" name="Graphic 16" descr="Live demonstration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64000" y="1193800"/>
            <a:ext cx="914400" cy="914400"/>
          </a:xfrm>
          <a:prstGeom prst="rect">
            <a:avLst/>
          </a:prstGeom>
        </p:spPr>
      </p:pic>
    </p:spTree>
    <p:extLst>
      <p:ext uri="{BB962C8B-B14F-4D97-AF65-F5344CB8AC3E}">
        <p14:creationId xmlns:p14="http://schemas.microsoft.com/office/powerpoint/2010/main" val="1412738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6858000" y="3200400"/>
            <a:ext cx="3200400" cy="3200400"/>
          </a:xfrm>
          <a:prstGeom prst="ellipse">
            <a:avLst/>
          </a:prstGeom>
          <a:solidFill>
            <a:srgbClr val="1E3A5F"/>
          </a:solidFill>
          <a:ln w="12700">
            <a:solidFill>
              <a:srgbClr val="1E3A5F"/>
            </a:solidFill>
            <a:prstDash val="solid"/>
          </a:ln>
        </p:spPr>
        <p:txBody>
          <a:bodyPr/>
          <a:lstStyle/>
          <a:p>
            <a:endParaRPr lang="en-IN"/>
          </a:p>
        </p:txBody>
      </p:sp>
      <p:sp>
        <p:nvSpPr>
          <p:cNvPr id="3" name="Shape 1"/>
          <p:cNvSpPr/>
          <p:nvPr/>
        </p:nvSpPr>
        <p:spPr>
          <a:xfrm>
            <a:off x="-457200" y="-457200"/>
            <a:ext cx="2286000" cy="2286000"/>
          </a:xfrm>
          <a:prstGeom prst="ellipse">
            <a:avLst/>
          </a:prstGeom>
          <a:solidFill>
            <a:srgbClr val="1E3A5F"/>
          </a:solidFill>
          <a:ln w="12700">
            <a:solidFill>
              <a:srgbClr val="1E3A5F"/>
            </a:solidFill>
            <a:prstDash val="solid"/>
          </a:ln>
        </p:spPr>
        <p:txBody>
          <a:bodyPr/>
          <a:lstStyle/>
          <a:p>
            <a:endParaRPr lang="en-IN"/>
          </a:p>
        </p:txBody>
      </p:sp>
      <p:sp>
        <p:nvSpPr>
          <p:cNvPr id="4" name="Shape 2"/>
          <p:cNvSpPr/>
          <p:nvPr/>
        </p:nvSpPr>
        <p:spPr>
          <a:xfrm>
            <a:off x="0" y="0"/>
            <a:ext cx="9144000" cy="73152"/>
          </a:xfrm>
          <a:prstGeom prst="rect">
            <a:avLst/>
          </a:prstGeom>
          <a:solidFill>
            <a:srgbClr val="3B82F6"/>
          </a:solidFill>
          <a:ln w="12700">
            <a:solidFill>
              <a:srgbClr val="3B82F6"/>
            </a:solidFill>
            <a:prstDash val="solid"/>
          </a:ln>
        </p:spPr>
        <p:txBody>
          <a:bodyPr/>
          <a:lstStyle/>
          <a:p>
            <a:endParaRPr lang="en-IN"/>
          </a:p>
        </p:txBody>
      </p:sp>
      <p:sp>
        <p:nvSpPr>
          <p:cNvPr id="5" name="Shape 3"/>
          <p:cNvSpPr/>
          <p:nvPr/>
        </p:nvSpPr>
        <p:spPr>
          <a:xfrm>
            <a:off x="0" y="5065776"/>
            <a:ext cx="9144000" cy="73152"/>
          </a:xfrm>
          <a:prstGeom prst="rect">
            <a:avLst/>
          </a:prstGeom>
          <a:solidFill>
            <a:srgbClr val="3B82F6"/>
          </a:solidFill>
          <a:ln w="12700">
            <a:solidFill>
              <a:srgbClr val="3B82F6"/>
            </a:solidFill>
            <a:prstDash val="solid"/>
          </a:ln>
        </p:spPr>
        <p:txBody>
          <a:bodyPr/>
          <a:lstStyle/>
          <a:p>
            <a:endParaRPr lang="en-IN"/>
          </a:p>
        </p:txBody>
      </p:sp>
      <p:sp>
        <p:nvSpPr>
          <p:cNvPr id="6" name="Text 4"/>
          <p:cNvSpPr/>
          <p:nvPr/>
        </p:nvSpPr>
        <p:spPr>
          <a:xfrm>
            <a:off x="457200" y="3657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7" name="Text 5"/>
          <p:cNvSpPr/>
          <p:nvPr/>
        </p:nvSpPr>
        <p:spPr>
          <a:xfrm>
            <a:off x="457200" y="1097280"/>
            <a:ext cx="5943600" cy="320040"/>
          </a:xfrm>
          <a:prstGeom prst="rect">
            <a:avLst/>
          </a:prstGeom>
          <a:noFill/>
          <a:ln/>
        </p:spPr>
        <p:txBody>
          <a:bodyPr wrap="square" lIns="0" tIns="0" rIns="0" bIns="0" rtlCol="0" anchor="ctr"/>
          <a:lstStyle/>
          <a:p>
            <a:pPr marL="0" indent="0">
              <a:buNone/>
            </a:pPr>
            <a:r>
              <a:rPr lang="en-US" sz="1400" i="1" dirty="0">
                <a:solidFill>
                  <a:srgbClr val="60A5FA"/>
                </a:solidFill>
                <a:latin typeface="Calibri" pitchFamily="34" charset="0"/>
                <a:ea typeface="Calibri" pitchFamily="34" charset="-122"/>
                <a:cs typeface="Calibri" pitchFamily="34" charset="-120"/>
              </a:rPr>
              <a:t>What we built and what we learned:</a:t>
            </a:r>
            <a:endParaRPr lang="en-US" sz="1400" dirty="0"/>
          </a:p>
        </p:txBody>
      </p:sp>
      <p:sp>
        <p:nvSpPr>
          <p:cNvPr id="8" name="Text 6"/>
          <p:cNvSpPr/>
          <p:nvPr/>
        </p:nvSpPr>
        <p:spPr>
          <a:xfrm>
            <a:off x="457200" y="1508760"/>
            <a:ext cx="5943600" cy="3291840"/>
          </a:xfrm>
          <a:prstGeom prst="rect">
            <a:avLst/>
          </a:prstGeom>
          <a:noFill/>
          <a:ln/>
        </p:spPr>
        <p:txBody>
          <a:bodyPr wrap="square" rtlCol="0" anchor="ctr"/>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Successfully built a cloud-based personal finance management system using React + Firebase</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Firebase's cloud services (Auth, Firestore, Hosting) replaced the need for a traditional backend server</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Real-time database sync demonstrated true cloud-native data streaming capabilities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Firestore security rules ensured per-user data isolation — a core cloud security principle</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The application demonstrates IaaS/PaaS/SaaS cloud service models in a practical project</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Firebase's serverless architecture shows how modern cloud platforms reduce development complexity</a:t>
            </a:r>
            <a:endParaRPr lang="en-US" sz="1250" dirty="0"/>
          </a:p>
        </p:txBody>
      </p:sp>
      <p:sp>
        <p:nvSpPr>
          <p:cNvPr id="9" name="Shape 7"/>
          <p:cNvSpPr/>
          <p:nvPr/>
        </p:nvSpPr>
        <p:spPr>
          <a:xfrm>
            <a:off x="6583680" y="1005840"/>
            <a:ext cx="2194560" cy="1188720"/>
          </a:xfrm>
          <a:prstGeom prst="rect">
            <a:avLst/>
          </a:prstGeom>
          <a:solidFill>
            <a:srgbClr val="0F2744"/>
          </a:solidFill>
          <a:ln w="19050">
            <a:solidFill>
              <a:srgbClr val="3B82F6"/>
            </a:solidFill>
            <a:prstDash val="solid"/>
          </a:ln>
        </p:spPr>
        <p:txBody>
          <a:bodyPr/>
          <a:lstStyle/>
          <a:p>
            <a:endParaRPr lang="en-IN"/>
          </a:p>
        </p:txBody>
      </p:sp>
      <p:sp>
        <p:nvSpPr>
          <p:cNvPr id="10" name="Text 8"/>
          <p:cNvSpPr/>
          <p:nvPr/>
        </p:nvSpPr>
        <p:spPr>
          <a:xfrm>
            <a:off x="6583680" y="1097280"/>
            <a:ext cx="2194560" cy="594360"/>
          </a:xfrm>
          <a:prstGeom prst="rect">
            <a:avLst/>
          </a:prstGeom>
          <a:noFill/>
          <a:ln/>
        </p:spPr>
        <p:txBody>
          <a:bodyPr wrap="square" lIns="0" tIns="0" rIns="0" bIns="0" rtlCol="0" anchor="ctr"/>
          <a:lstStyle/>
          <a:p>
            <a:pPr marL="0" indent="0" algn="ctr">
              <a:buNone/>
            </a:pPr>
            <a:r>
              <a:rPr lang="en-US" sz="3200" b="1" dirty="0">
                <a:solidFill>
                  <a:srgbClr val="60A5FA"/>
                </a:solidFill>
                <a:latin typeface="Calibri" pitchFamily="34" charset="0"/>
                <a:ea typeface="Calibri" pitchFamily="34" charset="-122"/>
                <a:cs typeface="Calibri" pitchFamily="34" charset="-120"/>
              </a:rPr>
              <a:t>4</a:t>
            </a:r>
            <a:endParaRPr lang="en-US" sz="3200" dirty="0"/>
          </a:p>
        </p:txBody>
      </p:sp>
      <p:sp>
        <p:nvSpPr>
          <p:cNvPr id="11" name="Text 9"/>
          <p:cNvSpPr/>
          <p:nvPr/>
        </p:nvSpPr>
        <p:spPr>
          <a:xfrm>
            <a:off x="6583680" y="1664208"/>
            <a:ext cx="2194560" cy="438912"/>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Firebase</a:t>
            </a:r>
            <a:endParaRPr lang="en-US" sz="1000" dirty="0"/>
          </a:p>
          <a:p>
            <a:pPr marL="0" indent="0" algn="ctr">
              <a:buNone/>
            </a:pPr>
            <a:r>
              <a:rPr lang="en-US" sz="1000" dirty="0">
                <a:solidFill>
                  <a:srgbClr val="94A3B8"/>
                </a:solidFill>
                <a:latin typeface="Calibri" pitchFamily="34" charset="0"/>
                <a:ea typeface="Calibri" pitchFamily="34" charset="-122"/>
                <a:cs typeface="Calibri" pitchFamily="34" charset="-120"/>
              </a:rPr>
              <a:t>Services Used</a:t>
            </a:r>
            <a:endParaRPr lang="en-US" sz="1000" dirty="0"/>
          </a:p>
        </p:txBody>
      </p:sp>
      <p:sp>
        <p:nvSpPr>
          <p:cNvPr id="12" name="Shape 10"/>
          <p:cNvSpPr/>
          <p:nvPr/>
        </p:nvSpPr>
        <p:spPr>
          <a:xfrm>
            <a:off x="6583680" y="2331720"/>
            <a:ext cx="2194560" cy="1188720"/>
          </a:xfrm>
          <a:prstGeom prst="rect">
            <a:avLst/>
          </a:prstGeom>
          <a:solidFill>
            <a:srgbClr val="0F2744"/>
          </a:solidFill>
          <a:ln w="19050">
            <a:solidFill>
              <a:srgbClr val="3B82F6"/>
            </a:solidFill>
            <a:prstDash val="solid"/>
          </a:ln>
        </p:spPr>
        <p:txBody>
          <a:bodyPr/>
          <a:lstStyle/>
          <a:p>
            <a:endParaRPr lang="en-IN"/>
          </a:p>
        </p:txBody>
      </p:sp>
      <p:sp>
        <p:nvSpPr>
          <p:cNvPr id="13" name="Text 11"/>
          <p:cNvSpPr/>
          <p:nvPr/>
        </p:nvSpPr>
        <p:spPr>
          <a:xfrm>
            <a:off x="6583680" y="2423160"/>
            <a:ext cx="2194560" cy="594360"/>
          </a:xfrm>
          <a:prstGeom prst="rect">
            <a:avLst/>
          </a:prstGeom>
          <a:noFill/>
          <a:ln/>
        </p:spPr>
        <p:txBody>
          <a:bodyPr wrap="square" lIns="0" tIns="0" rIns="0" bIns="0" rtlCol="0" anchor="ctr"/>
          <a:lstStyle/>
          <a:p>
            <a:pPr marL="0" indent="0" algn="ctr">
              <a:buNone/>
            </a:pPr>
            <a:r>
              <a:rPr lang="en-US" sz="3200" b="1" dirty="0">
                <a:solidFill>
                  <a:srgbClr val="60A5FA"/>
                </a:solidFill>
                <a:latin typeface="Calibri" pitchFamily="34" charset="0"/>
                <a:ea typeface="Calibri" pitchFamily="34" charset="-122"/>
                <a:cs typeface="Calibri" pitchFamily="34" charset="-120"/>
              </a:rPr>
              <a:t>6</a:t>
            </a:r>
            <a:endParaRPr lang="en-US" sz="3200" dirty="0"/>
          </a:p>
        </p:txBody>
      </p:sp>
      <p:sp>
        <p:nvSpPr>
          <p:cNvPr id="14" name="Text 12"/>
          <p:cNvSpPr/>
          <p:nvPr/>
        </p:nvSpPr>
        <p:spPr>
          <a:xfrm>
            <a:off x="6583680" y="2990088"/>
            <a:ext cx="2194560" cy="438912"/>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Core App</a:t>
            </a:r>
            <a:endParaRPr lang="en-US" sz="1000" dirty="0"/>
          </a:p>
          <a:p>
            <a:pPr marL="0" indent="0" algn="ctr">
              <a:buNone/>
            </a:pPr>
            <a:r>
              <a:rPr lang="en-US" sz="1000" dirty="0">
                <a:solidFill>
                  <a:srgbClr val="94A3B8"/>
                </a:solidFill>
                <a:latin typeface="Calibri" pitchFamily="34" charset="0"/>
                <a:ea typeface="Calibri" pitchFamily="34" charset="-122"/>
                <a:cs typeface="Calibri" pitchFamily="34" charset="-120"/>
              </a:rPr>
              <a:t>Modules</a:t>
            </a:r>
            <a:endParaRPr lang="en-US" sz="1000" dirty="0"/>
          </a:p>
        </p:txBody>
      </p:sp>
      <p:sp>
        <p:nvSpPr>
          <p:cNvPr id="15" name="Shape 13"/>
          <p:cNvSpPr/>
          <p:nvPr/>
        </p:nvSpPr>
        <p:spPr>
          <a:xfrm>
            <a:off x="6583680" y="3657600"/>
            <a:ext cx="2194560" cy="1188720"/>
          </a:xfrm>
          <a:prstGeom prst="rect">
            <a:avLst/>
          </a:prstGeom>
          <a:solidFill>
            <a:srgbClr val="0F2744"/>
          </a:solidFill>
          <a:ln w="19050">
            <a:solidFill>
              <a:srgbClr val="3B82F6"/>
            </a:solidFill>
            <a:prstDash val="solid"/>
          </a:ln>
        </p:spPr>
        <p:txBody>
          <a:bodyPr/>
          <a:lstStyle/>
          <a:p>
            <a:endParaRPr lang="en-IN"/>
          </a:p>
        </p:txBody>
      </p:sp>
      <p:sp>
        <p:nvSpPr>
          <p:cNvPr id="16" name="Text 14"/>
          <p:cNvSpPr/>
          <p:nvPr/>
        </p:nvSpPr>
        <p:spPr>
          <a:xfrm>
            <a:off x="4064000" y="1308100"/>
            <a:ext cx="914400" cy="914400"/>
          </a:xfrm>
          <a:prstGeom prst="rect">
            <a:avLst/>
          </a:prstGeom>
          <a:noFill/>
          <a:ln/>
        </p:spPr>
        <p:txBody>
          <a:bodyPr wrap="square" lIns="0" tIns="0" rIns="0" bIns="0" rtlCol="0" anchor="ctr"/>
          <a:lstStyle/>
          <a:p>
            <a:pPr marL="0" indent="0" algn="ctr">
              <a:buNone/>
            </a:pPr>
            <a:r>
              <a:rPr lang="en-US" sz="3200" b="1" dirty="0">
                <a:solidFill>
                  <a:srgbClr val="60A5FA"/>
                </a:solidFill>
                <a:latin typeface="Calibri" pitchFamily="34" charset="0"/>
                <a:ea typeface="Calibri" pitchFamily="34" charset="-122"/>
                <a:cs typeface="Calibri" pitchFamily="34" charset="-120"/>
              </a:rPr>
              <a:t>100%</a:t>
            </a:r>
            <a:endParaRPr lang="en-US" sz="3200" dirty="0"/>
          </a:p>
        </p:txBody>
      </p:sp>
      <p:sp>
        <p:nvSpPr>
          <p:cNvPr id="17" name="Text 15"/>
          <p:cNvSpPr/>
          <p:nvPr/>
        </p:nvSpPr>
        <p:spPr>
          <a:xfrm>
            <a:off x="6583680" y="4315968"/>
            <a:ext cx="2194560" cy="438912"/>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Cloud-Hosted</a:t>
            </a:r>
            <a:endParaRPr lang="en-US" sz="1000" dirty="0"/>
          </a:p>
          <a:p>
            <a:pPr marL="0" indent="0" algn="ctr">
              <a:buNone/>
            </a:pPr>
            <a:r>
              <a:rPr lang="en-US" sz="1000" dirty="0">
                <a:solidFill>
                  <a:srgbClr val="94A3B8"/>
                </a:solidFill>
                <a:latin typeface="Calibri" pitchFamily="34" charset="0"/>
                <a:ea typeface="Calibri" pitchFamily="34" charset="-122"/>
                <a:cs typeface="Calibri" pitchFamily="34" charset="-120"/>
              </a:rPr>
              <a:t>&amp; Serverless</a:t>
            </a:r>
            <a:endParaRPr lang="en-US" sz="1000" dirty="0"/>
          </a:p>
        </p:txBody>
      </p:sp>
      <p:sp>
        <p:nvSpPr>
          <p:cNvPr id="18" name="Text 16"/>
          <p:cNvSpPr/>
          <p:nvPr/>
        </p:nvSpPr>
        <p:spPr>
          <a:xfrm>
            <a:off x="457200" y="4617720"/>
            <a:ext cx="5943600" cy="320040"/>
          </a:xfrm>
          <a:prstGeom prst="rect">
            <a:avLst/>
          </a:prstGeom>
          <a:noFill/>
          <a:ln/>
        </p:spPr>
        <p:txBody>
          <a:bodyPr wrap="square" lIns="0" tIns="0" rIns="0" bIns="0" rtlCol="0" anchor="ctr"/>
          <a:lstStyle/>
          <a:p>
            <a:pPr marL="0" indent="0">
              <a:buNone/>
            </a:pPr>
            <a:r>
              <a:rPr lang="en-US" sz="1300" b="1" i="1" dirty="0">
                <a:solidFill>
                  <a:srgbClr val="60A5FA"/>
                </a:solidFill>
                <a:latin typeface="Calibri" pitchFamily="34" charset="0"/>
                <a:ea typeface="Calibri" pitchFamily="34" charset="-122"/>
                <a:cs typeface="Calibri" pitchFamily="34" charset="-120"/>
              </a:rPr>
              <a:t>Thank You! 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7C418B4-F92D-4481-8420-020B5149C371}">
  <we:reference id="wa200010001" version="1.0.0.1" store="en-US" storeType="OMEX"/>
  <we:alternateReferences>
    <we:reference id="wa200010001"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79</TotalTime>
  <Words>2114</Words>
  <Application>Microsoft Office PowerPoint</Application>
  <PresentationFormat>On-screen Show (16:9)</PresentationFormat>
  <Paragraphs>310</Paragraphs>
  <Slides>17</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Cloud-Based Personal Finance Management System</dc:title>
  <dc:subject>PptxGenJS Presentation</dc:subject>
  <dc:creator>Cloud Computing Mini Project</dc:creator>
  <cp:lastModifiedBy>GADUPUDI RAKESH</cp:lastModifiedBy>
  <cp:revision>4</cp:revision>
  <dcterms:created xsi:type="dcterms:W3CDTF">2026-03-29T06:51:31Z</dcterms:created>
  <dcterms:modified xsi:type="dcterms:W3CDTF">2026-04-01T09:10:28Z</dcterms:modified>
</cp:coreProperties>
</file>